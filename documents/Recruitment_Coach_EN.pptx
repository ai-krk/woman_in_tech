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B62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50" d="100"/>
          <a:sy n="150" d="100"/>
        </p:scale>
        <p:origin x="654" y="13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Your Recruitment Coach</a:t>
            </a:r>
          </a:p>
          <a:p>
            <a:endParaRPr/>
          </a:p>
          <a:p>
            <a:r>
              <a:t>Timing: 0–1 minutes</a:t>
            </a:r>
          </a:p>
          <a:p>
            <a:endParaRPr/>
          </a:p>
          <a:p>
            <a:r>
              <a:t>Facilitator cue: Welcome</a:t>
            </a:r>
          </a:p>
          <a:p>
            <a:endParaRPr/>
          </a:p>
          <a:p>
            <a:r>
              <a:t>SAY</a:t>
            </a:r>
          </a:p>
          <a:p>
            <a:r>
              <a:t>Welcome. Today you will build a small recruitment coach using fictional examples. Some of you write code and some do not. Both are good starting points. Each of you will work on your own laptop and make small changes that you can explain. You can ask a neighbour or a helper for support. Your notebook will connect directly to Gemini through its API. The code will carry the messages, run permitted local tools and show us the result. You will leave with a changed notebook and a clearer understanding of what a model decides and what an application actually executes.</a:t>
            </a:r>
          </a:p>
          <a:p>
            <a:endParaRPr/>
          </a:p>
          <a:p>
            <a:r>
              <a:t>DO</a:t>
            </a:r>
          </a:p>
          <a:p>
            <a:r>
              <a:t>Open the prepared guided notebook. Ask for a show of hands from people new to notebooks. Confirm helpers and that each participant has her own extracted workshop folder.</a:t>
            </a:r>
          </a:p>
          <a:p>
            <a:endParaRPr/>
          </a:p>
          <a:p>
            <a:r>
              <a:t>ASK</a:t>
            </a:r>
          </a:p>
          <a:p>
            <a:r>
              <a:t>Who is running a notebook for the first time?</a:t>
            </a:r>
          </a:p>
          <a:p>
            <a:endParaRPr/>
          </a:p>
          <a:p>
            <a:r>
              <a:t>EXPECTED ANSWER</a:t>
            </a:r>
          </a:p>
          <a:p>
            <a:r>
              <a:t>Use the guided notebook by default. Copy-along is an optional preference, not an extra assignment.</a:t>
            </a:r>
          </a:p>
          <a:p>
            <a:endParaRPr/>
          </a:p>
          <a:p>
            <a:r>
              <a:t>RECOVERY</a:t>
            </a:r>
          </a:p>
          <a:p>
            <a:r>
              <a:t>Ask a helper to support the learner on her own device. If Python works, continue local exercises. Otherwise use the worksheet and projected example while setup is resolved.</a:t>
            </a:r>
          </a:p>
          <a:p>
            <a:endParaRPr/>
          </a:p>
          <a:p>
            <a:r>
              <a:t>Source: original fictional workshop example and teaching instructions.</a:t>
            </a:r>
          </a:p>
          <a:p>
            <a:endParaRPr/>
          </a:p>
          <a:p>
            <a:r>
              <a:t>Cover image: existing AI-generated illustration, not a photograph of this event.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The preparation draft</a:t>
            </a:r>
          </a:p>
          <a:p>
            <a:endParaRPr/>
          </a:p>
          <a:p>
            <a:r>
              <a:t>Timing: 1–4 minutes</a:t>
            </a:r>
          </a:p>
          <a:p>
            <a:endParaRPr/>
          </a:p>
          <a:p>
            <a:r>
              <a:t>Facilitator cue: Demonstration</a:t>
            </a:r>
          </a:p>
          <a:p>
            <a:endParaRPr/>
          </a:p>
          <a:p>
            <a:r>
              <a:t>SAY</a:t>
            </a:r>
          </a:p>
          <a:p>
            <a:r>
              <a:t>Here is a completed example from the coach. I will show the trace as well as the paragraph. Notice the role lookup, the evidence records and the question. The model can choose the order of tool calls. Our Python functions return the actual records. Now look at a request about SQL. Our fictional evidence bank has no SQL experience. A helpful draft should say that and suggest practice. It should not turn a requirement into a qualification. The goal is preparation support, not a guarantee of getting a job.</a:t>
            </a:r>
          </a:p>
          <a:p>
            <a:endParaRPr/>
          </a:p>
          <a:p>
            <a:r>
              <a:t>DO</a:t>
            </a:r>
          </a:p>
          <a:p>
            <a:r>
              <a:t>Use a rehearsed live run on your own approved account. Display a returned record next to a draft claim. Keep an authored fallback visibly labelled.</a:t>
            </a:r>
          </a:p>
          <a:p>
            <a:endParaRPr/>
          </a:p>
          <a:p>
            <a:r>
              <a:t>ASK</a:t>
            </a:r>
          </a:p>
          <a:p>
            <a:r>
              <a:t>Which detail can you verify against the record?</a:t>
            </a:r>
          </a:p>
          <a:p>
            <a:endParaRPr/>
          </a:p>
          <a:p>
            <a:r>
              <a:t>EXPECTED ANSWER</a:t>
            </a:r>
          </a:p>
          <a:p>
            <a:r>
              <a:t>Compare actions and results, including any invented numbers or responsibilities.</a:t>
            </a:r>
          </a:p>
          <a:p>
            <a:endParaRPr/>
          </a:p>
          <a:p>
            <a:r>
              <a:t>RECOVERY</a:t>
            </a:r>
          </a:p>
          <a:p>
            <a:r>
              <a:t>Show the authored example in SOLUTION_EXAMPLES_EN.md or C24. Explicitly say that no model is running.</a:t>
            </a:r>
          </a:p>
          <a:p>
            <a:endParaRPr/>
          </a:p>
          <a:p>
            <a:r>
              <a:t>Source: original fictional workshop example and teaching instructions.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Your laptop, your agent</a:t>
            </a:r>
          </a:p>
          <a:p>
            <a:endParaRPr/>
          </a:p>
          <a:p>
            <a:r>
              <a:t>Timing: 4–5 minutes</a:t>
            </a:r>
          </a:p>
          <a:p>
            <a:endParaRPr/>
          </a:p>
          <a:p>
            <a:r>
              <a:t>Facilitator cue: Room agreement</a:t>
            </a:r>
          </a:p>
          <a:p>
            <a:endParaRPr/>
          </a:p>
          <a:p>
            <a:r>
              <a:t>SAY</a:t>
            </a:r>
          </a:p>
          <a:p>
            <a:r>
              <a:t>Each of you runs and changes the notebook on her own laptop. Predict the output before running a cell, then check it yourself. You can ask a neighbour or a helper for support while keeping control of your own keyboard. Use the supplied fictional records. Keep real CVs, contact details, employer information and client documents out of the notebook. Enter a key only into the hidden prompt. Use your own approved account and keep control of the connection. We will not ask you to send keys to us or to upgrade to a paid account.</a:t>
            </a:r>
          </a:p>
          <a:p>
            <a:endParaRPr/>
          </a:p>
          <a:p>
            <a:r>
              <a:t>DO</a:t>
            </a:r>
          </a:p>
          <a:p>
            <a:r>
              <a:t>Identify helpers and the help signal. Confirm that every participant has the extracted workshop folder.</a:t>
            </a:r>
          </a:p>
          <a:p>
            <a:endParaRPr/>
          </a:p>
          <a:p>
            <a:r>
              <a:t>ASK</a:t>
            </a:r>
          </a:p>
          <a:p>
            <a:r>
              <a:t>What should never appear in a screenshot sent for help?</a:t>
            </a:r>
          </a:p>
          <a:p>
            <a:endParaRPr/>
          </a:p>
          <a:p>
            <a:r>
              <a:t>EXPECTED ANSWER</a:t>
            </a:r>
          </a:p>
          <a:p>
            <a:r>
              <a:t>An API key or personal/confidential data.</a:t>
            </a:r>
          </a:p>
          <a:p>
            <a:endParaRPr/>
          </a:p>
          <a:p>
            <a:r>
              <a:t>RECOVERY</a:t>
            </a:r>
          </a:p>
          <a:p>
            <a:r>
              <a:t>Use local exercises or C24 simulation on the same laptop if API access fails. If Python is unavailable, use the worksheet and projected example while a helper assists.</a:t>
            </a:r>
          </a:p>
          <a:p>
            <a:endParaRPr/>
          </a:p>
          <a:p>
            <a:r>
              <a:t>Source: original fictional workshop example and teaching instructions.</a:t>
            </a:r>
          </a:p>
          <a:p>
            <a:endParaRPr/>
          </a:p>
          <a:p>
            <a:r>
              <a:t>ILLUSTRATION</a:t>
            </a:r>
          </a:p>
          <a:p>
            <a:r>
              <a:t>AI-generated fictional learner illustration, not an event photograph.</a:t>
            </a:r>
          </a:p>
          <a:p>
            <a:endParaRPr/>
          </a:p>
          <a:p>
            <a:r>
              <a:t>ACCESS UPDATE</a:t>
            </a:r>
          </a:p>
          <a:p>
            <a:r>
              <a:t>Only enable live calls after the organizer has confirmed the account/project and teaching arrangement. Individual private keys do not establish an exemption from Google's EEA, UK and Switzerland API-client Paid Services terms. Participants must not enable billing themselves. Use an AI Studio authorization key (auth key), not a legacy standard key. Otherwise continue local exercises and the clearly labelled simulation. Key and terms documentation rechecked 17 September 2026.</a:t>
            </a:r>
          </a:p>
          <a:p>
            <a:r>
              <a:t>https://ai.google.dev/gemini-api/docs/api-key</a:t>
            </a:r>
          </a:p>
          <a:p>
            <a:r>
              <a:t>https://ai.google.dev/gemini-api/terms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A short history of the ideas</a:t>
            </a:r>
          </a:p>
          <a:p>
            <a:endParaRPr/>
          </a:p>
          <a:p>
            <a:r>
              <a:t>Timing: 5–7 minutes</a:t>
            </a:r>
          </a:p>
          <a:p>
            <a:endParaRPr/>
          </a:p>
          <a:p>
            <a:r>
              <a:t>Facilitator cue: Theory / History</a:t>
            </a:r>
          </a:p>
          <a:p>
            <a:endParaRPr/>
          </a:p>
          <a:p>
            <a:r>
              <a:t>SAY</a:t>
            </a:r>
          </a:p>
          <a:p>
            <a:r>
              <a:t>AI research has a much longer history than today's chat applications. The Dartmouth proposal dates from August 1955 and planned a summer project for 1956. It did not introduce modern language models. The 2017 Transformer paper introduced an influential architecture built around attention. In 2020, the RAG paper combined a generator with retrieved documents. Retrieval itself was already an older idea. ReAct appeared as a preprint in October 2022 and at ICLR in 2023, combining language-model steps with actions and observations. Software-agent research existed decades earlier, as the 1995 Wooldridge and Jennings survey illustrates. Our notebook combines several of these ideas in a small, inspectable example.</a:t>
            </a:r>
          </a:p>
          <a:p>
            <a:endParaRPr/>
          </a:p>
          <a:p>
            <a:r>
              <a:t>DO</a:t>
            </a:r>
          </a:p>
          <a:p>
            <a:r>
              <a:t>Spend about twenty seconds on each row. Explain RAG as looking up useful material before drafting. Keep the 1995 reference in spoken context rather than adding more dates.</a:t>
            </a:r>
          </a:p>
          <a:p>
            <a:endParaRPr/>
          </a:p>
          <a:p>
            <a:r>
              <a:t>ASK</a:t>
            </a:r>
          </a:p>
          <a:p>
            <a:r>
              <a:t>Which idea helps an assistant use a document that was never part of its training?</a:t>
            </a:r>
          </a:p>
          <a:p>
            <a:endParaRPr/>
          </a:p>
          <a:p>
            <a:r>
              <a:t>EXPECTED ANSWER</a:t>
            </a:r>
          </a:p>
          <a:p>
            <a:r>
              <a:t>Retrieval supplies that document in the current context. It does not automatically retrain the model.</a:t>
            </a:r>
          </a:p>
          <a:p>
            <a:endParaRPr/>
          </a:p>
          <a:p>
            <a:r>
              <a:t>RECOVERY</a:t>
            </a:r>
          </a:p>
          <a:p>
            <a:r>
              <a:t>Keep only the distinction between learned model knowledge, supplied evidence and tools if the group is new to the terminology.</a:t>
            </a:r>
          </a:p>
          <a:p>
            <a:endParaRPr/>
          </a:p>
          <a:p>
            <a:r>
              <a:t>SOURCES</a:t>
            </a:r>
          </a:p>
          <a:p>
            <a:r>
              <a:t>https://www-formal.stanford.edu/jmc/history/dartmouth/dartmouth.html</a:t>
            </a:r>
          </a:p>
          <a:p>
            <a:r>
              <a:t>https://www.cs.ox.ac.uk/people/michael.wooldridge/pubs/ker95/ker95-html.html</a:t>
            </a:r>
          </a:p>
          <a:p>
            <a:r>
              <a:t>https://arxiv.org/abs/1706.03762</a:t>
            </a:r>
          </a:p>
          <a:p>
            <a:r>
              <a:t>https://arxiv.org/abs/2005.11401</a:t>
            </a:r>
          </a:p>
          <a:p>
            <a:r>
              <a:t>https://arxiv.org/abs/2210.03629</a:t>
            </a:r>
          </a:p>
          <a:p>
            <a:endParaRPr/>
          </a:p>
          <a:p>
            <a:r>
              <a:t>Theory references checked 16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Training and using a model</a:t>
            </a:r>
          </a:p>
          <a:p>
            <a:endParaRPr/>
          </a:p>
          <a:p>
            <a:r>
              <a:t>Timing: 7–10 minutes</a:t>
            </a:r>
          </a:p>
          <a:p>
            <a:endParaRPr/>
          </a:p>
          <a:p>
            <a:r>
              <a:t>Facilitator cue: Theory / Learning and inference</a:t>
            </a:r>
          </a:p>
          <a:p>
            <a:endParaRPr/>
          </a:p>
          <a:p>
            <a:r>
              <a:t>SAY</a:t>
            </a:r>
          </a:p>
          <a:p>
            <a:r>
              <a:t>Think of model weights as a large collection of learned numerical settings. During pre-training, an autoregressive language model learns from prediction errors on token sequences. Repeated updates capture patterns that can support many tasks. Post-training can use instruction examples and feedback to improve how the model responds. The Gemini technical report gives one historical example of supervised and preference-based methods, not a specification of every current model. Inference is the stage we use today: we send a request and the trained model produces a response. Editing our STAR recipe changes the instructions sent with that request. It does not run a training job. Adding a CV to a conversation also does not itself change the weights during that request. Provider retention or later training policies are a separate question, which is why we still use fictional data.</a:t>
            </a:r>
          </a:p>
          <a:p>
            <a:endParaRPr/>
          </a:p>
          <a:p>
            <a:r>
              <a:t>DO</a:t>
            </a:r>
          </a:p>
          <a:p>
            <a:r>
              <a:t>Ask learners to vote: changing one sentence in a prompt is training or inference? Then explain the distinction.</a:t>
            </a:r>
          </a:p>
          <a:p>
            <a:endParaRPr/>
          </a:p>
          <a:p>
            <a:r>
              <a:t>ASK</a:t>
            </a:r>
          </a:p>
          <a:p>
            <a:r>
              <a:t>If I tell the coach to use shorter sentences, have I trained a new model?</a:t>
            </a:r>
          </a:p>
          <a:p>
            <a:endParaRPr/>
          </a:p>
          <a:p>
            <a:r>
              <a:t>EXPECTED ANSWER</a:t>
            </a:r>
          </a:p>
          <a:p>
            <a:r>
              <a:t>No. You changed the context for inference. Fine-tuning would require a separate training process.</a:t>
            </a:r>
          </a:p>
          <a:p>
            <a:endParaRPr/>
          </a:p>
          <a:p>
            <a:r>
              <a:t>RECOVERY</a:t>
            </a:r>
          </a:p>
          <a:p>
            <a:r>
              <a:t>Use only two terms if needed: training changes learned settings; using the model applies them.</a:t>
            </a:r>
          </a:p>
          <a:p>
            <a:endParaRPr/>
          </a:p>
          <a:p>
            <a:r>
              <a:t>SOURCES</a:t>
            </a:r>
          </a:p>
          <a:p>
            <a:r>
              <a:t>https://developers.google.com/machine-learning/crash-course/llm/tuning</a:t>
            </a:r>
          </a:p>
          <a:p>
            <a:r>
              <a:t>https://arxiv.org/abs/2312.11805</a:t>
            </a:r>
          </a:p>
          <a:p>
            <a:endParaRPr/>
          </a:p>
          <a:p>
            <a:r>
              <a:t>Theory references checked 16 September 2026.</a:t>
            </a:r>
          </a:p>
          <a:p>
            <a:endParaRPr/>
          </a:p>
          <a:p>
            <a:r>
              <a:t>ILLUSTRATION</a:t>
            </a:r>
          </a:p>
          <a:p>
            <a:r>
              <a:t>Original AI-generated educational illustration. It is not an event photograph or evidence of model execution. Conceptual comparison: training adjusts model weights; this workshop's inference calls use fixed weights with prompt and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How a model generates an answer</a:t>
            </a:r>
          </a:p>
          <a:p>
            <a:endParaRPr/>
          </a:p>
          <a:p>
            <a:r>
              <a:t>Timing: 10–13 minutes</a:t>
            </a:r>
          </a:p>
          <a:p>
            <a:endParaRPr/>
          </a:p>
          <a:p>
            <a:r>
              <a:t>Facilitator cue: Theory / Tokens and context</a:t>
            </a:r>
          </a:p>
          <a:p>
            <a:endParaRPr/>
          </a:p>
          <a:p>
            <a:r>
              <a:t>SAY</a:t>
            </a:r>
          </a:p>
          <a:p>
            <a:r>
              <a:t>This is a simplified view of an autoregressive chat model. Tokens are pieces of text, and a word can span several tokens. Attention combines information from different positions in the available context. The model computes next-token scores, and decoding selects a token. Repeating the process produces a sentence or a longer answer. Selection settings can affect variation, but they do not certify factual accuracy. The model can learn useful patterns for explanation, coding and problem solving. That capability is different from checking each statement against a reliable source. Imagine the prompt: For interview practice, I need. Ask for two possible continuations. Both may sound natural. Now ask which continuation proves anything about someone's work experience. Neither does without evidence. Our agent will add relevant records to the context and we will still review the claims.</a:t>
            </a:r>
          </a:p>
          <a:p>
            <a:endParaRPr/>
          </a:p>
          <a:p>
            <a:r>
              <a:t>DO</a:t>
            </a:r>
          </a:p>
          <a:p>
            <a:r>
              <a:t>Take two short suggested continuations from the room. This is a language demonstration, not an exact Gemini tokenization or probability display.</a:t>
            </a:r>
          </a:p>
          <a:p>
            <a:endParaRPr/>
          </a:p>
          <a:p>
            <a:r>
              <a:t>ASK</a:t>
            </a:r>
          </a:p>
          <a:p>
            <a:r>
              <a:t>Does choosing the most likely next token guarantee a true sentence?</a:t>
            </a:r>
          </a:p>
          <a:p>
            <a:endParaRPr/>
          </a:p>
          <a:p>
            <a:r>
              <a:t>EXPECTED ANSWER</a:t>
            </a:r>
          </a:p>
          <a:p>
            <a:r>
              <a:t>No. Likelihood in context and factual support are different checks.</a:t>
            </a:r>
          </a:p>
          <a:p>
            <a:endParaRPr/>
          </a:p>
          <a:p>
            <a:r>
              <a:t>RECOVERY</a:t>
            </a:r>
          </a:p>
          <a:p>
            <a:r>
              <a:t>Avoid attention equations. Keep the example and the repeated next-token process.</a:t>
            </a:r>
          </a:p>
          <a:p>
            <a:endParaRPr/>
          </a:p>
          <a:p>
            <a:r>
              <a:t>SOURCES</a:t>
            </a:r>
          </a:p>
          <a:p>
            <a:r>
              <a:t>https://developers.google.com/machine-learning/crash-course/llm/transformers</a:t>
            </a:r>
          </a:p>
          <a:p>
            <a:r>
              <a:t>https://arxiv.org/abs/1706.03762</a:t>
            </a:r>
          </a:p>
          <a:p>
            <a:r>
              <a:t>https://deepmind.google/blog/facts-grounding-a-new-benchmark-for-evaluating-the-factuality-of-large-language-models/</a:t>
            </a:r>
          </a:p>
          <a:p>
            <a:endParaRPr/>
          </a:p>
          <a:p>
            <a:r>
              <a:t>Theory references checked 16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Different ways to describe models</a:t>
            </a:r>
          </a:p>
          <a:p>
            <a:endParaRPr/>
          </a:p>
          <a:p>
            <a:r>
              <a:t>Timing: 13–15 minutes</a:t>
            </a:r>
          </a:p>
          <a:p>
            <a:endParaRPr/>
          </a:p>
          <a:p>
            <a:r>
              <a:t>Facilitator cue: Theory / Model types</a:t>
            </a:r>
          </a:p>
          <a:p>
            <a:endParaRPr/>
          </a:p>
          <a:p>
            <a:r>
              <a:t>SAY</a:t>
            </a:r>
          </a:p>
          <a:p>
            <a:r>
              <a:t>There is no single list of mutually exclusive model types. Start with the task. A generator produces content. A classifier assigns a category. An embedding model produces numbers that help compare or retrieve similar material. Next ask about modality: text, images, audio or a combination. Multimodal describes supported data, not permission to act. Finally, distinguish a base model from one adapted for instructions or a particular task. These labels can apply to the same model. In our workshop, a hosted model generates text and structured tool requests. The surrounding Python application controls which requests become actions. We do not need to train a model or download its weights to use its API.</a:t>
            </a:r>
          </a:p>
          <a:p>
            <a:endParaRPr/>
          </a:p>
          <a:p>
            <a:r>
              <a:t>DO</a:t>
            </a:r>
          </a:p>
          <a:p>
            <a:r>
              <a:t>Give the example: finding similar job descriptions uses similarity search, whereas drafting an answer uses generation.</a:t>
            </a:r>
          </a:p>
          <a:p>
            <a:endParaRPr/>
          </a:p>
          <a:p>
            <a:r>
              <a:t>ASK</a:t>
            </a:r>
          </a:p>
          <a:p>
            <a:r>
              <a:t>Does a model accepting images automatically make it an agent?</a:t>
            </a:r>
          </a:p>
          <a:p>
            <a:endParaRPr/>
          </a:p>
          <a:p>
            <a:r>
              <a:t>EXPECTED ANSWER</a:t>
            </a:r>
          </a:p>
          <a:p>
            <a:r>
              <a:t>No. Modality and application behaviour are different dimensions.</a:t>
            </a:r>
          </a:p>
          <a:p>
            <a:endParaRPr/>
          </a:p>
          <a:p>
            <a:r>
              <a:t>SOURCES</a:t>
            </a:r>
          </a:p>
          <a:p>
            <a:r>
              <a:t>https://developers.google.com/machine-learning/crash-course/llm/transformers</a:t>
            </a:r>
          </a:p>
          <a:p>
            <a:r>
              <a:t>https://developers.google.com/machine-learning/crash-course/llm/tuning</a:t>
            </a:r>
          </a:p>
          <a:p>
            <a:r>
              <a:t>https://ai.google.dev/gemini-api/docs/embeddings</a:t>
            </a:r>
          </a:p>
          <a:p>
            <a:r>
              <a:t>https://arxiv.org/abs/2312.11805</a:t>
            </a:r>
          </a:p>
          <a:p>
            <a:endParaRPr/>
          </a:p>
          <a:p>
            <a:r>
              <a:t>Theory references checked 16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Model, tool and skill</a:t>
            </a:r>
          </a:p>
          <a:p>
            <a:endParaRPr/>
          </a:p>
          <a:p>
            <a:r>
              <a:t>Timing: 15–17 minutes</a:t>
            </a:r>
          </a:p>
          <a:p>
            <a:endParaRPr/>
          </a:p>
          <a:p>
            <a:r>
              <a:t>Facilitator cue: Core concepts</a:t>
            </a:r>
          </a:p>
          <a:p>
            <a:endParaRPr/>
          </a:p>
          <a:p>
            <a:r>
              <a:t>SAY</a:t>
            </a:r>
          </a:p>
          <a:p>
            <a:r>
              <a:t>These words describe different parts of the system. Gemini is the language model. A tool is ordinary Python with a narrow job. A skill recipe tells the model how to approach a task and judge its result. Our dictionary of recipes is a teaching format, separate from installed plugin formats and model training. The agent loop connects these parts. A chat interface can also contain an agent, so screen appearance does not tell us whether a system can act. Ask instead what it can call, what results it receives and when it stops.</a:t>
            </a:r>
          </a:p>
          <a:p>
            <a:endParaRPr/>
          </a:p>
          <a:p>
            <a:r>
              <a:t>DO</a:t>
            </a:r>
          </a:p>
          <a:p>
            <a:r>
              <a:t>Point to C06–C09 functions, C10 recipes and C14 loop without reading all the code.</a:t>
            </a:r>
          </a:p>
          <a:p>
            <a:endParaRPr/>
          </a:p>
          <a:p>
            <a:r>
              <a:t>ASK</a:t>
            </a:r>
          </a:p>
          <a:p>
            <a:r>
              <a:t>Does changing a recipe retrain Gemini?</a:t>
            </a:r>
          </a:p>
          <a:p>
            <a:endParaRPr/>
          </a:p>
          <a:p>
            <a:r>
              <a:t>EXPECTED ANSWER</a:t>
            </a:r>
          </a:p>
          <a:p>
            <a:r>
              <a:t>No. It changes instructions sent at inference time.</a:t>
            </a:r>
          </a:p>
          <a:p>
            <a:endParaRPr/>
          </a:p>
          <a:p>
            <a:r>
              <a:t>SOURCES</a:t>
            </a:r>
          </a:p>
          <a:p>
            <a:r>
              <a:t>https://ai.google.dev/gemini-api/docs/function-calling</a:t>
            </a:r>
          </a:p>
          <a:p>
            <a:r>
              <a:t>https://agentskills.io/specification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Workflows and agent architectures</a:t>
            </a:r>
          </a:p>
          <a:p>
            <a:endParaRPr/>
          </a:p>
          <a:p>
            <a:r>
              <a:t>Timing: 17–20 minutes</a:t>
            </a:r>
          </a:p>
          <a:p>
            <a:endParaRPr/>
          </a:p>
          <a:p>
            <a:r>
              <a:t>Facilitator cue: Theory / System patterns</a:t>
            </a:r>
          </a:p>
          <a:p>
            <a:endParaRPr/>
          </a:p>
          <a:p>
            <a:r>
              <a:t>SAY</a:t>
            </a:r>
          </a:p>
          <a:p>
            <a:r>
              <a:t>Imagine the same interview-preparation goal implemented three ways. A fixed workflow always looks up a role, retrieves evidence and drafts an answer in that order. In a single-agent loop, the model selects a permitted next action from the current context. Multiple agents can divide separable tasks, such as analysing requirements and reviewing evidence, then combine results. That adds coordination and opportunities for errors to propagate. Two agents agreeing is not independent evidence, especially when they use the same model or source. Our lab uses one bounded loop because its behaviour is easier to inspect. The application enforces permissions and stop conditions. In a system with consequential actions, such as sending an application, an explicit human approval step should sit at the action boundary. Our workshop has no sending tool.</a:t>
            </a:r>
          </a:p>
          <a:p>
            <a:endParaRPr/>
          </a:p>
          <a:p>
            <a:r>
              <a:t>DO</a:t>
            </a:r>
          </a:p>
          <a:p>
            <a:r>
              <a:t>Ask whether a three-step deterministic script needs an agent. Accept no as a good design choice.</a:t>
            </a:r>
          </a:p>
          <a:p>
            <a:endParaRPr/>
          </a:p>
          <a:p>
            <a:r>
              <a:t>ASK</a:t>
            </a:r>
          </a:p>
          <a:p>
            <a:r>
              <a:t>How many agents does our dictionary of three skills create?</a:t>
            </a:r>
          </a:p>
          <a:p>
            <a:endParaRPr/>
          </a:p>
          <a:p>
            <a:r>
              <a:t>EXPECTED ANSWER</a:t>
            </a:r>
          </a:p>
          <a:p>
            <a:r>
              <a:t>One agent loop. Three instruction recipes do not create three autonomous agents.</a:t>
            </a:r>
          </a:p>
          <a:p>
            <a:endParaRPr/>
          </a:p>
          <a:p>
            <a:r>
              <a:t>RECOVERY</a:t>
            </a:r>
          </a:p>
          <a:p>
            <a:r>
              <a:t>Keep the distinction between code-defined order and model-selected next action. Treat multi-agent as context, not a lab requirement.</a:t>
            </a:r>
          </a:p>
          <a:p>
            <a:endParaRPr/>
          </a:p>
          <a:p>
            <a:r>
              <a:t>SOURCES</a:t>
            </a:r>
          </a:p>
          <a:p>
            <a:r>
              <a:t>https://www.anthropic.com/engineering/building-effective-agents</a:t>
            </a:r>
          </a:p>
          <a:p>
            <a:r>
              <a:t>https://www.anthropic.com/engineering/multi-agent-research-system</a:t>
            </a:r>
          </a:p>
          <a:p>
            <a:endParaRPr/>
          </a:p>
          <a:p>
            <a:r>
              <a:t>Theory references checked 16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The automatic model/tool loop</a:t>
            </a:r>
          </a:p>
          <a:p>
            <a:endParaRPr/>
          </a:p>
          <a:p>
            <a:r>
              <a:t>Timing: 20–22 minutes</a:t>
            </a:r>
          </a:p>
          <a:p>
            <a:endParaRPr/>
          </a:p>
          <a:p>
            <a:r>
              <a:t>Facilitator cue: API transport</a:t>
            </a:r>
          </a:p>
          <a:p>
            <a:endParaRPr/>
          </a:p>
          <a:p>
            <a:r>
              <a:t>SAY</a:t>
            </a:r>
          </a:p>
          <a:p>
            <a:r>
              <a:t>The API transports messages between our notebook and Gemini. We do not copy JSON through a separate chat. Gemini returns a structured request for a named function with arguments. That request is data. Our code checks it and executes only a permitted function. The next model request contains the tool result and conversation context. In stateless mode the application carries that context itself. Our helper preserves all returned steps, including opaque fields, but the learner-facing trace shows only observable actions and results. It does not reveal private model reasoning.</a:t>
            </a:r>
          </a:p>
          <a:p>
            <a:endParaRPr/>
          </a:p>
          <a:p>
            <a:r>
              <a:t>DO</a:t>
            </a:r>
          </a:p>
          <a:p>
            <a:r>
              <a:t>Walk through a single call from the demo. Keep the direction and responsibility clear.</a:t>
            </a:r>
          </a:p>
          <a:p>
            <a:endParaRPr/>
          </a:p>
          <a:p>
            <a:r>
              <a:t>ASK</a:t>
            </a:r>
          </a:p>
          <a:p>
            <a:r>
              <a:t>Who actually executes get_evidence?</a:t>
            </a:r>
          </a:p>
          <a:p>
            <a:endParaRPr/>
          </a:p>
          <a:p>
            <a:r>
              <a:t>EXPECTED ANSWER</a:t>
            </a:r>
          </a:p>
          <a:p>
            <a:r>
              <a:t>Python in the notebook, after local validation.</a:t>
            </a:r>
          </a:p>
          <a:p>
            <a:endParaRPr/>
          </a:p>
          <a:p>
            <a:r>
              <a:t>SOURCES</a:t>
            </a:r>
          </a:p>
          <a:p>
            <a:r>
              <a:t>https://ai.google.dev/gemini-api/docs/function-calling</a:t>
            </a:r>
          </a:p>
          <a:p>
            <a:r>
              <a:t>https://ai.google.dev/gemini-api/docs/interactions-overview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11: Hallucinations: plausible but unsupported</a:t>
            </a:r>
          </a:p>
          <a:p>
            <a:endParaRPr/>
          </a:p>
          <a:p>
            <a:r>
              <a:t>Timing: 22–25 minutes</a:t>
            </a:r>
          </a:p>
          <a:p>
            <a:endParaRPr/>
          </a:p>
          <a:p>
            <a:r>
              <a:t>Facilitator cue: Theory / Factual reliability</a:t>
            </a:r>
          </a:p>
          <a:p>
            <a:endParaRPr/>
          </a:p>
          <a:p>
            <a:r>
              <a:t>SAY</a:t>
            </a:r>
          </a:p>
          <a:p>
            <a:r>
              <a:t>A hallucination is a false or unsupported claim that may sound convincing. This example is authored for the workshop, not a measured live Gemini output. The record supports coordinating an event. It does not support the thirty percent improvement. Generation can favour a plausible pattern even when the required fact is missing. Ambiguous questions, missing evidence and failures to use available context can all matter. Asking the model to avoid invention is useful guidance but cannot certify the result. We reduce the risk by supplying relevant evidence, allowing an honest missing-information response and checking each factual claim. Retrieval or RAG can help provide evidence, but a retrieved document can be wrong or misread. In our coach, remove the invented metric and ask for a real measured result only if the candidate has one.</a:t>
            </a:r>
          </a:p>
          <a:p>
            <a:endParaRPr/>
          </a:p>
          <a:p>
            <a:r>
              <a:t>DO</a:t>
            </a:r>
          </a:p>
          <a:p>
            <a:r>
              <a:t>Give learners twenty seconds to identify the unsupported phrase. Ask them to propose a faithful rewrite. Point to event-1 as the later lab connection.</a:t>
            </a:r>
          </a:p>
          <a:p>
            <a:endParaRPr/>
          </a:p>
          <a:p>
            <a:r>
              <a:t>ASK</a:t>
            </a:r>
          </a:p>
          <a:p>
            <a:r>
              <a:t>What would make the 30% claim acceptable?</a:t>
            </a:r>
          </a:p>
          <a:p>
            <a:endParaRPr/>
          </a:p>
          <a:p>
            <a:r>
              <a:t>EXPECTED ANSWER</a:t>
            </a:r>
          </a:p>
          <a:p>
            <a:r>
              <a:t>Reliable evidence of that measured result and confirmation that it describes the candidate's actual contribution. Better wording alone is insufficient.</a:t>
            </a:r>
          </a:p>
          <a:p>
            <a:endParaRPr/>
          </a:p>
          <a:p>
            <a:r>
              <a:t>RECOVERY</a:t>
            </a:r>
          </a:p>
          <a:p>
            <a:r>
              <a:t>A faithful example is: I coordinated the volunteer schedule and sent it before the event.</a:t>
            </a:r>
          </a:p>
          <a:p>
            <a:endParaRPr/>
          </a:p>
          <a:p>
            <a:r>
              <a:t>SOURCES</a:t>
            </a:r>
          </a:p>
          <a:p>
            <a:r>
              <a:t>https://nvlpubs.nist.gov/nistpubs/ai/NIST.AI.600-1.pdf</a:t>
            </a:r>
          </a:p>
          <a:p>
            <a:r>
              <a:t>https://deepmind.google/blog/facts-grounding-a-new-benchmark-for-evaluating-the-factuality-of-large-language-models/</a:t>
            </a:r>
          </a:p>
          <a:p>
            <a:r>
              <a:t>https://arxiv.org/abs/2005.11401</a:t>
            </a:r>
          </a:p>
          <a:p>
            <a:endParaRPr/>
          </a:p>
          <a:p>
            <a:r>
              <a:t>Theory references checked 16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12: Other limits that affect useful agents</a:t>
            </a:r>
          </a:p>
          <a:p>
            <a:endParaRPr/>
          </a:p>
          <a:p>
            <a:r>
              <a:t>Timing: 25–28 minutes</a:t>
            </a:r>
          </a:p>
          <a:p>
            <a:endParaRPr/>
          </a:p>
          <a:p>
            <a:r>
              <a:t>Facilitator cue: Theory / Safety and reliability</a:t>
            </a:r>
          </a:p>
          <a:p>
            <a:endParaRPr/>
          </a:p>
          <a:p>
            <a:r>
              <a:t>SAY</a:t>
            </a:r>
          </a:p>
          <a:p>
            <a:r>
              <a:t>Hallucination is one risk among several. A model can lack recent or relevant information, and a context window is not a permanent memory of everything a user has ever said. Bias can affect how examples or people are described. Personal data can leave the laptop when we call a hosted API. Prompt injection is different from an ordinary factual error: untrusted text attempts to redirect the system. For example, a role note might tell the coach to ignore its rules and send a message. The application should treat that note as data and still restrict available actions. Tools also fail for ordinary reasons such as invalid arguments or network errors. Our code therefore validates calls and sets limits. None of these controls proves universal safety. We will inspect a concrete local boundary test later.</a:t>
            </a:r>
          </a:p>
          <a:p>
            <a:endParaRPr/>
          </a:p>
          <a:p>
            <a:r>
              <a:t>DO</a:t>
            </a:r>
          </a:p>
          <a:p>
            <a:r>
              <a:t>Ask the room to classify a note saying ignore previous instructions as an injection attempt rather than a factual claim.</a:t>
            </a:r>
          </a:p>
          <a:p>
            <a:endParaRPr/>
          </a:p>
          <a:p>
            <a:r>
              <a:t>ASK</a:t>
            </a:r>
          </a:p>
          <a:p>
            <a:r>
              <a:t>If we need interview practice, should the coach have permission to email a recruiter?</a:t>
            </a:r>
          </a:p>
          <a:p>
            <a:endParaRPr/>
          </a:p>
          <a:p>
            <a:r>
              <a:t>EXPECTED ANSWER</a:t>
            </a:r>
          </a:p>
          <a:p>
            <a:r>
              <a:t>No. The workshop goal does not require that permission.</a:t>
            </a:r>
          </a:p>
          <a:p>
            <a:endParaRPr/>
          </a:p>
          <a:p>
            <a:r>
              <a:t>RECOVERY</a:t>
            </a:r>
          </a:p>
          <a:p>
            <a:r>
              <a:t>Use one risk example if discussion runs long, then return to the 30-minute start of the notebook.</a:t>
            </a:r>
          </a:p>
          <a:p>
            <a:endParaRPr/>
          </a:p>
          <a:p>
            <a:r>
              <a:t>SOURCES</a:t>
            </a:r>
          </a:p>
          <a:p>
            <a:r>
              <a:t>https://nvlpubs.nist.gov/nistpubs/ai/NIST.AI.600-1.pdf</a:t>
            </a:r>
          </a:p>
          <a:p>
            <a:r>
              <a:t>https://genai.owasp.org/llmrisk/llm01-prompt-injection/</a:t>
            </a:r>
          </a:p>
          <a:p>
            <a:r>
              <a:t>https://www.anthropic.com/engineering/building-effective-agents</a:t>
            </a:r>
          </a:p>
          <a:p>
            <a:endParaRPr/>
          </a:p>
          <a:p>
            <a:r>
              <a:t>Theory references checked 16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13: Free API access and practical limits</a:t>
            </a:r>
          </a:p>
          <a:p>
            <a:endParaRPr/>
          </a:p>
          <a:p>
            <a:r>
              <a:t>Timing: 28–30 minutes</a:t>
            </a:r>
          </a:p>
          <a:p>
            <a:endParaRPr/>
          </a:p>
          <a:p>
            <a:r>
              <a:t>Facilitator cue: Current API facts</a:t>
            </a:r>
          </a:p>
          <a:p>
            <a:endParaRPr/>
          </a:p>
          <a:p>
            <a:r>
              <a:t>SAY</a:t>
            </a:r>
          </a:p>
          <a:p>
            <a:r>
              <a:t>Google currently offers free API access for selected models. That does not promise unlimited calls or guaranteed classroom capacity. Several keys in one project share its quota. Each learner uses her own approved project, with access tested before class. Our code adds a small per-run cap to prevent accidental loops. We set store=False to avoid saved Interaction resources, but that setting does not mean all provider processing or security logging stops. For this workshop we use fictional data, and the organizer must approve the account and teaching arrangement.</a:t>
            </a:r>
          </a:p>
          <a:p>
            <a:endParaRPr/>
          </a:p>
          <a:p>
            <a:r>
              <a:t>DO</a:t>
            </a:r>
          </a:p>
          <a:p>
            <a:r>
              <a:t>Keep this to two minutes. Refer detailed terms and live-readiness questions to the organizer checklist.</a:t>
            </a:r>
          </a:p>
          <a:p>
            <a:endParaRPr/>
          </a:p>
          <a:p>
            <a:r>
              <a:t>ASK</a:t>
            </a:r>
          </a:p>
          <a:p>
            <a:r>
              <a:t>Would creating another key in the same project increase its quota?</a:t>
            </a:r>
          </a:p>
          <a:p>
            <a:endParaRPr/>
          </a:p>
          <a:p>
            <a:r>
              <a:t>EXPECTED ANSWER</a:t>
            </a:r>
          </a:p>
          <a:p>
            <a:r>
              <a:t>No.</a:t>
            </a:r>
          </a:p>
          <a:p>
            <a:endParaRPr/>
          </a:p>
          <a:p>
            <a:r>
              <a:t>SOURCES</a:t>
            </a:r>
          </a:p>
          <a:p>
            <a:r>
              <a:t>https://ai.google.dev/gemini-api/docs/pricing</a:t>
            </a:r>
          </a:p>
          <a:p>
            <a:r>
              <a:t>https://ai.google.dev/gemini-api/docs/rate-limits</a:t>
            </a:r>
          </a:p>
          <a:p>
            <a:r>
              <a:t>https://ai.google.dev/gemini-api/docs/interactions-overview</a:t>
            </a:r>
          </a:p>
          <a:p>
            <a:r>
              <a:t>https://ai.google.dev/gemini-api/terms</a:t>
            </a:r>
          </a:p>
          <a:p>
            <a:endParaRPr/>
          </a:p>
          <a:p>
            <a:r>
              <a:t>ACCESS UPDATE</a:t>
            </a:r>
          </a:p>
          <a:p>
            <a:r>
              <a:t>Only enable live calls after the organizer has confirmed the account/project and teaching arrangement. Individual private keys do not establish an exemption from Google's EEA, UK and Switzerland API-client Paid Services terms. Participants must not enable billing themselves. Use an AI Studio authorization key (auth key), not a legacy standard key. Otherwise continue local exercises and the clearly labelled simulation. Key and terms documentation rechecked 17 September 2026.</a:t>
            </a:r>
          </a:p>
          <a:p>
            <a:r>
              <a:t>https://ai.google.dev/gemini-api/docs/api-key</a:t>
            </a:r>
          </a:p>
          <a:p>
            <a:r>
              <a:t>https://ai.google.dev/gemini-api/terms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14: The notebook controls</a:t>
            </a:r>
          </a:p>
          <a:p>
            <a:endParaRPr/>
          </a:p>
          <a:p>
            <a:r>
              <a:t>Timing: 30–34 minutes</a:t>
            </a:r>
          </a:p>
          <a:p>
            <a:endParaRPr/>
          </a:p>
          <a:p>
            <a:r>
              <a:t>Facilitator cue: S0 / C01</a:t>
            </a:r>
          </a:p>
          <a:p>
            <a:endParaRPr/>
          </a:p>
          <a:p>
            <a:r>
              <a:t>SAY</a:t>
            </a:r>
          </a:p>
          <a:p>
            <a:r>
              <a:t>A notebook contains text cells and code cells. Select the workshop environment at the top right, then run C01. Read the reported kernel path and package status. If a name is unknown later, a preceding cell may not have run, or the kernel may have restarted. That is an execution-order issue. The guided notebook already contains short code cells. If you prefer copying each piece yourself, use the matching numbered copy cards and blank notebook, but do not feel that you need to do both.</a:t>
            </a:r>
          </a:p>
          <a:p>
            <a:endParaRPr/>
          </a:p>
          <a:p>
            <a:r>
              <a:t>DO</a:t>
            </a:r>
          </a:p>
          <a:p>
            <a:r>
              <a:t>Show Select Kernel, a code cell and its output. Keep the font large enough for the back of the room.</a:t>
            </a:r>
          </a:p>
          <a:p>
            <a:endParaRPr/>
          </a:p>
          <a:p>
            <a:r>
              <a:t>ASK</a:t>
            </a:r>
          </a:p>
          <a:p>
            <a:r>
              <a:t>What does a restarted kernel forget?</a:t>
            </a:r>
          </a:p>
          <a:p>
            <a:endParaRPr/>
          </a:p>
          <a:p>
            <a:r>
              <a:t>EXPECTED ANSWER</a:t>
            </a:r>
          </a:p>
          <a:p>
            <a:r>
              <a:t>Variables, function definitions and the active client.</a:t>
            </a:r>
          </a:p>
          <a:p>
            <a:endParaRPr/>
          </a:p>
          <a:p>
            <a:r>
              <a:t>RECOVERY</a:t>
            </a:r>
          </a:p>
          <a:p>
            <a:r>
              <a:t>Use a clean guided notebook with the same helper file. Do not copy old output into code.</a:t>
            </a:r>
          </a:p>
          <a:p>
            <a:endParaRPr/>
          </a:p>
          <a:p>
            <a:r>
              <a:t>SOURCES</a:t>
            </a:r>
          </a:p>
          <a:p>
            <a:r>
              <a:t>https://code.visualstudio.com/docs/datascience/jupyter-notebooks</a:t>
            </a:r>
          </a:p>
          <a:p>
            <a:r>
              <a:t>https://code.visualstudio.com/docs/datascience/jupyter-kernel-management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15: The first API response</a:t>
            </a:r>
          </a:p>
          <a:p>
            <a:endParaRPr/>
          </a:p>
          <a:p>
            <a:r>
              <a:t>Timing: 34–40 minutes</a:t>
            </a:r>
          </a:p>
          <a:p>
            <a:endParaRPr/>
          </a:p>
          <a:p>
            <a:r>
              <a:t>Facilitator cue: S0 / C02–C03</a:t>
            </a:r>
          </a:p>
          <a:p>
            <a:endParaRPr/>
          </a:p>
          <a:p>
            <a:r>
              <a:t>SAY</a:t>
            </a:r>
          </a:p>
          <a:p>
            <a:r>
              <a:t>Connect using your own key through the hidden prompt. A client object alone does not prove access. In C03, enable the live flag and type RUN. This first exercise sends one short interview-practice request. It has no tools, so it is ordinary model prompting. We will add tool use next. If the response is blocked by a quota or access problem, do not keep rerunning. Ask a helper and continue the local functions. A successful request is a useful readiness check, not a guarantee that every later call will succeed.</a:t>
            </a:r>
          </a:p>
          <a:p>
            <a:endParaRPr/>
          </a:p>
          <a:p>
            <a:r>
              <a:t>DO</a:t>
            </a:r>
          </a:p>
          <a:p>
            <a:r>
              <a:t>Use the actual guarded C02/C03 cells, not an unguarded copy of this excerpt. Ask participants to distinguish the local setup status from live success.</a:t>
            </a:r>
          </a:p>
          <a:p>
            <a:endParaRPr/>
          </a:p>
          <a:p>
            <a:r>
              <a:t>ASK</a:t>
            </a:r>
          </a:p>
          <a:p>
            <a:r>
              <a:t>What part of an agent is missing from this first response?</a:t>
            </a:r>
          </a:p>
          <a:p>
            <a:endParaRPr/>
          </a:p>
          <a:p>
            <a:r>
              <a:t>EXPECTED ANSWER</a:t>
            </a:r>
          </a:p>
          <a:p>
            <a:r>
              <a:t>Tool use and a model/tool loop.</a:t>
            </a:r>
          </a:p>
          <a:p>
            <a:endParaRPr/>
          </a:p>
          <a:p>
            <a:r>
              <a:t>RECOVERY</a:t>
            </a:r>
          </a:p>
          <a:p>
            <a:r>
              <a:t>Leave live flags off and continue C04. Reserve C24 simulation for the agent section.</a:t>
            </a:r>
          </a:p>
          <a:p>
            <a:endParaRPr/>
          </a:p>
          <a:p>
            <a:r>
              <a:t>SOURCES</a:t>
            </a:r>
          </a:p>
          <a:p>
            <a:r>
              <a:t>https://ai.google.dev/gemini-api/docs/api-key</a:t>
            </a:r>
          </a:p>
          <a:p>
            <a:r>
              <a:t>https://ai.google.dev/gemini-api/docs/interactions-overview</a:t>
            </a:r>
          </a:p>
          <a:p>
            <a:endParaRPr/>
          </a:p>
          <a:p>
            <a:r>
              <a:t>ACCESS UPDATE</a:t>
            </a:r>
          </a:p>
          <a:p>
            <a:r>
              <a:t>Only enable live calls after the organizer has confirmed the account/project and teaching arrangement. Individual private keys do not establish an exemption from Google's EEA, UK and Switzerland API-client Paid Services terms. Participants must not enable billing themselves. Use an AI Studio authorization key (auth key), not a legacy standard key. Otherwise continue local exercises and the clearly labelled simulation. Key and terms documentation rechecked 17 September 2026.</a:t>
            </a:r>
          </a:p>
          <a:p>
            <a:r>
              <a:t>https://ai.google.dev/gemini-api/docs/api-key</a:t>
            </a:r>
          </a:p>
          <a:p>
            <a:r>
              <a:t>https://ai.google.dev/gemini-api/terms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16: Tool one: role lookup</a:t>
            </a:r>
          </a:p>
          <a:p>
            <a:endParaRPr/>
          </a:p>
          <a:p>
            <a:r>
              <a:t>Timing: 40–45 minutes</a:t>
            </a:r>
          </a:p>
          <a:p>
            <a:endParaRPr/>
          </a:p>
          <a:p>
            <a:r>
              <a:t>Facilitator cue: S1 / C04–C06</a:t>
            </a:r>
          </a:p>
          <a:p>
            <a:endParaRPr/>
          </a:p>
          <a:p>
            <a:r>
              <a:t>SAY</a:t>
            </a:r>
          </a:p>
          <a:p>
            <a:r>
              <a:t>Read the two role cards in C04. Both include communication, so that is a useful shared starting focus. Change the role and predict the displayed title and requirements. Then read the short get_role function. It returns a supplied card, or a clear unsupported status. This function does not interpret any job advert you find online. Calling it a role lookup is more accurate than claiming it understands every vacancy. You have a small component whose normal and failure behaviour you can inspect.</a:t>
            </a:r>
          </a:p>
          <a:p>
            <a:endParaRPr/>
          </a:p>
          <a:p>
            <a:r>
              <a:t>DO</a:t>
            </a:r>
          </a:p>
          <a:p>
            <a:r>
              <a:t>Run C04–C06 in order, including the fictional evidence setup C05. Give one minute for the unknown-role test.</a:t>
            </a:r>
          </a:p>
          <a:p>
            <a:endParaRPr/>
          </a:p>
          <a:p>
            <a:r>
              <a:t>ASK</a:t>
            </a:r>
          </a:p>
          <a:p>
            <a:r>
              <a:t>Did this lookup need a language model?</a:t>
            </a:r>
          </a:p>
          <a:p>
            <a:endParaRPr/>
          </a:p>
          <a:p>
            <a:r>
              <a:t>EXPECTED ANSWER</a:t>
            </a:r>
          </a:p>
          <a:p>
            <a:r>
              <a:t>No. It is ordinary Python over supplied data.</a:t>
            </a:r>
          </a:p>
          <a:p>
            <a:endParaRPr/>
          </a:p>
          <a:p>
            <a:r>
              <a:t>RECOVERY</a:t>
            </a:r>
          </a:p>
          <a:p>
            <a:r>
              <a:t>Restore a supported role ID. Keep arbitrary new roles as an extension.</a:t>
            </a:r>
          </a:p>
          <a:p>
            <a:endParaRPr/>
          </a:p>
          <a:p>
            <a:r>
              <a:t>Source: original fictional workshop example and teaching instructions.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17: Tool two: evidence and STAR</a:t>
            </a:r>
          </a:p>
          <a:p>
            <a:endParaRPr/>
          </a:p>
          <a:p>
            <a:r>
              <a:t>Timing: 45–51 minutes</a:t>
            </a:r>
          </a:p>
          <a:p>
            <a:endParaRPr/>
          </a:p>
          <a:p>
            <a:r>
              <a:t>Facilitator cue: S1 / C07</a:t>
            </a:r>
          </a:p>
          <a:p>
            <a:endParaRPr/>
          </a:p>
          <a:p>
            <a:r>
              <a:t>SAY</a:t>
            </a:r>
          </a:p>
          <a:p>
            <a:r>
              <a:t>STAR helps organize an example into Situation, Task, Action and Result. Examples can come from study or volunteering as well as paid work. Our records are fictional. Run the communication lookup, then SQL. SQL appears in one role, but the evidence bank contains no SQL experience. That missing result is useful information. The model can ask for more evidence or suggest a learning exercise; it must not invent experience to make the paragraph impressive. Find one claim in the demo and point to the exact source field that supports it.</a:t>
            </a:r>
          </a:p>
          <a:p>
            <a:endParaRPr/>
          </a:p>
          <a:p>
            <a:r>
              <a:t>DO</a:t>
            </a:r>
          </a:p>
          <a:p>
            <a:r>
              <a:t>Ask each participant to identify the action and result in event-1. Run the found and missing cases in individual notebooks.</a:t>
            </a:r>
          </a:p>
          <a:p>
            <a:endParaRPr/>
          </a:p>
          <a:p>
            <a:r>
              <a:t>ASK</a:t>
            </a:r>
          </a:p>
          <a:p>
            <a:r>
              <a:t>Can an evidence ID alone make an invented number trustworthy?</a:t>
            </a:r>
          </a:p>
          <a:p>
            <a:endParaRPr/>
          </a:p>
          <a:p>
            <a:r>
              <a:t>EXPECTED ANSWER</a:t>
            </a:r>
          </a:p>
          <a:p>
            <a:r>
              <a:t>No. The sentence itself must match the record.</a:t>
            </a:r>
          </a:p>
          <a:p>
            <a:endParaRPr/>
          </a:p>
          <a:p>
            <a:r>
              <a:t>SOURCES</a:t>
            </a:r>
          </a:p>
          <a:p>
            <a:r>
              <a:t>https://www.ox.ac.uk/careers/what-we-offer/news/dear-jonathan-i-have-an-interview-in-2-days-time-and-since-its-the-first-interview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18: Tool three: a practice question</a:t>
            </a:r>
          </a:p>
          <a:p>
            <a:endParaRPr/>
          </a:p>
          <a:p>
            <a:r>
              <a:t>Timing: 51–55 minutes</a:t>
            </a:r>
          </a:p>
          <a:p>
            <a:endParaRPr/>
          </a:p>
          <a:p>
            <a:r>
              <a:t>Facilitator cue: S2 / C08–C09</a:t>
            </a:r>
          </a:p>
          <a:p>
            <a:endParaRPr/>
          </a:p>
          <a:p>
            <a:r>
              <a:t>SAY</a:t>
            </a:r>
          </a:p>
          <a:p>
            <a:r>
              <a:t>The question tool returns a curated prompt. Change friendly to direct and compare the introduction. This gives us a predictable component whose output we can test. Later the model decides when it needs the question and can put it into a preparation draft. The question is practice material, not a prediction of an HSBC interview. Before the break, each participant should be able to name one input and output for one of the three tools.</a:t>
            </a:r>
          </a:p>
          <a:p>
            <a:endParaRPr/>
          </a:p>
          <a:p>
            <a:r>
              <a:t>DO</a:t>
            </a:r>
          </a:p>
          <a:p>
            <a:r>
              <a:t>Run C08 and C09. Check progress quickly, then begin the break at minute 55.</a:t>
            </a:r>
          </a:p>
          <a:p>
            <a:endParaRPr/>
          </a:p>
          <a:p>
            <a:r>
              <a:t>ASK</a:t>
            </a:r>
          </a:p>
          <a:p>
            <a:r>
              <a:t>What changes when tone changes?</a:t>
            </a:r>
          </a:p>
          <a:p>
            <a:endParaRPr/>
          </a:p>
          <a:p>
            <a:r>
              <a:t>EXPECTED ANSWER</a:t>
            </a:r>
          </a:p>
          <a:p>
            <a:r>
              <a:t>The prepared introduction, while the underlying question stays the same.</a:t>
            </a:r>
          </a:p>
          <a:p>
            <a:endParaRPr/>
          </a:p>
          <a:p>
            <a:r>
              <a:t>RECOVERY</a:t>
            </a:r>
          </a:p>
          <a:p>
            <a:r>
              <a:t>Skip extra examples, not the break.</a:t>
            </a:r>
          </a:p>
          <a:p>
            <a:endParaRPr/>
          </a:p>
          <a:p>
            <a:r>
              <a:t>Source: original fictional workshop example and teaching instructions.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19: Five-minute break</a:t>
            </a:r>
          </a:p>
          <a:p>
            <a:endParaRPr/>
          </a:p>
          <a:p>
            <a:r>
              <a:t>Timing: 55–60 minutes</a:t>
            </a:r>
          </a:p>
          <a:p>
            <a:endParaRPr/>
          </a:p>
          <a:p>
            <a:r>
              <a:t>Facilitator cue: Pause</a:t>
            </a:r>
          </a:p>
          <a:p>
            <a:endParaRPr/>
          </a:p>
          <a:p>
            <a:r>
              <a:t>SAY</a:t>
            </a:r>
          </a:p>
          <a:p>
            <a:r>
              <a:t>Take five minutes. Stand up or look away from the screen if comfortable. Helpers can bring blocked notebooks to the next checkpoint. We will start the skills and tool registration together when we return.</a:t>
            </a:r>
          </a:p>
          <a:p>
            <a:endParaRPr/>
          </a:p>
          <a:p>
            <a:r>
              <a:t>DO</a:t>
            </a:r>
          </a:p>
          <a:p>
            <a:r>
              <a:t>Show the restart time. Prepare C10–C13.</a:t>
            </a:r>
          </a:p>
          <a:p>
            <a:endParaRPr/>
          </a:p>
          <a:p>
            <a:r>
              <a:t>RECOVERY</a:t>
            </a:r>
          </a:p>
          <a:p>
            <a:r>
              <a:t>Preserve a real pause. Avoid turning the break into extra required content.</a:t>
            </a:r>
          </a:p>
          <a:p>
            <a:endParaRPr/>
          </a:p>
          <a:p>
            <a:r>
              <a:t>Source: original fictional workshop example and teaching instructions.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20: Reusable coaching skills</a:t>
            </a:r>
          </a:p>
          <a:p>
            <a:endParaRPr/>
          </a:p>
          <a:p>
            <a:r>
              <a:t>Timing: 60–65 minutes</a:t>
            </a:r>
          </a:p>
          <a:p>
            <a:endParaRPr/>
          </a:p>
          <a:p>
            <a:r>
              <a:t>Facilitator cue: S3 / C10–C11</a:t>
            </a:r>
          </a:p>
          <a:p>
            <a:endParaRPr/>
          </a:p>
          <a:p>
            <a:r>
              <a:t>SAY</a:t>
            </a:r>
          </a:p>
          <a:p>
            <a:r>
              <a:t>Now we give the model a set of coaching instructions. The role recipe asks it to inspect the card. The STAR recipe asks it to look up evidence before drafting. The interview recipe asks for one practice question. Read them in C10 and change one sentence, while preserving the rule against invented experience. C11 combines the selected recipes with the general boundaries. The model sees those instructions with each request. A recipe is not executable permission: our separate registry decides what the program may actually run.</a:t>
            </a:r>
          </a:p>
          <a:p>
            <a:endParaRPr/>
          </a:p>
          <a:p>
            <a:r>
              <a:t>DO</a:t>
            </a:r>
          </a:p>
          <a:p>
            <a:r>
              <a:t>Give participants two minutes to edit a recipe and run C11. Check the printed instructions contain the change.</a:t>
            </a:r>
          </a:p>
          <a:p>
            <a:endParaRPr/>
          </a:p>
          <a:p>
            <a:r>
              <a:t>ASK</a:t>
            </a:r>
          </a:p>
          <a:p>
            <a:r>
              <a:t>Which part would stop an unregistered email action?</a:t>
            </a:r>
          </a:p>
          <a:p>
            <a:endParaRPr/>
          </a:p>
          <a:p>
            <a:r>
              <a:t>EXPECTED ANSWER</a:t>
            </a:r>
          </a:p>
          <a:p>
            <a:r>
              <a:t>The application registry and validator, independently of the recipe.</a:t>
            </a:r>
          </a:p>
          <a:p>
            <a:endParaRPr/>
          </a:p>
          <a:p>
            <a:r>
              <a:t>RECOVERY</a:t>
            </a:r>
          </a:p>
          <a:p>
            <a:r>
              <a:t>Use the supplied recipe unchanged if a learner needs more time for the loop.</a:t>
            </a:r>
          </a:p>
          <a:p>
            <a:endParaRPr/>
          </a:p>
          <a:p>
            <a:r>
              <a:t>SOURCES</a:t>
            </a:r>
          </a:p>
          <a:p>
            <a:r>
              <a:t>https://agentskills.io/specification</a:t>
            </a:r>
          </a:p>
          <a:p>
            <a:r>
              <a:t>https://ai.google.dev/gemini-api/docs/function-calling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21: The tool permission boundary</a:t>
            </a:r>
          </a:p>
          <a:p>
            <a:endParaRPr/>
          </a:p>
          <a:p>
            <a:r>
              <a:t>Timing: 65–70 minutes</a:t>
            </a:r>
          </a:p>
          <a:p>
            <a:endParaRPr/>
          </a:p>
          <a:p>
            <a:r>
              <a:t>Facilitator cue: S3 / C12–C13</a:t>
            </a:r>
          </a:p>
          <a:p>
            <a:endParaRPr/>
          </a:p>
          <a:p>
            <a:r>
              <a:t>SAY</a:t>
            </a:r>
          </a:p>
          <a:p>
            <a:r>
              <a:t>C12 registers each function with a short description and allowed arguments. A JSON schema tells the model what it can request. The local validator checks the request again, so we do not rely on the model following the schema. C13 demonstrates a permitted lookup and a rejected email action. These are ordinary local tests. They do not prove that the model can never be tricked. They show that the application has a boundary even if the model proposes something inappropriate.</a:t>
            </a:r>
          </a:p>
          <a:p>
            <a:endParaRPr/>
          </a:p>
          <a:p>
            <a:r>
              <a:t>DO</a:t>
            </a:r>
          </a:p>
          <a:p>
            <a:r>
              <a:t>Run C12/C13. Point to the Python function reference in the registry.</a:t>
            </a:r>
          </a:p>
          <a:p>
            <a:endParaRPr/>
          </a:p>
          <a:p>
            <a:r>
              <a:t>ASK</a:t>
            </a:r>
          </a:p>
          <a:p>
            <a:r>
              <a:t>What if the model invents a new tool name?</a:t>
            </a:r>
          </a:p>
          <a:p>
            <a:endParaRPr/>
          </a:p>
          <a:p>
            <a:r>
              <a:t>EXPECTED ANSWER</a:t>
            </a:r>
          </a:p>
          <a:p>
            <a:r>
              <a:t>execute_safe rejects it.</a:t>
            </a:r>
          </a:p>
          <a:p>
            <a:endParaRPr/>
          </a:p>
          <a:p>
            <a:r>
              <a:t>RECOVERY</a:t>
            </a:r>
          </a:p>
          <a:p>
            <a:r>
              <a:t>Keep all three tools read-only. Do not add broad file or shell tools during class.</a:t>
            </a:r>
          </a:p>
          <a:p>
            <a:endParaRPr/>
          </a:p>
          <a:p>
            <a:r>
              <a:t>SOURCES</a:t>
            </a:r>
          </a:p>
          <a:p>
            <a:r>
              <a:t>https://ai.google.dev/gemini-api/docs/function-calling</a:t>
            </a:r>
          </a:p>
          <a:p>
            <a:r>
              <a:t>https://genai.owasp.org/llmrisk/llm01-prompt-injection/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22: The loop in your notebook</a:t>
            </a:r>
          </a:p>
          <a:p>
            <a:endParaRPr/>
          </a:p>
          <a:p>
            <a:r>
              <a:t>Timing: 70–77 minutes</a:t>
            </a:r>
          </a:p>
          <a:p>
            <a:endParaRPr/>
          </a:p>
          <a:p>
            <a:r>
              <a:t>Facilitator cue: S4 / C14–C15</a:t>
            </a:r>
          </a:p>
          <a:p>
            <a:endParaRPr/>
          </a:p>
          <a:p>
            <a:r>
              <a:t>SAY</a:t>
            </a:r>
          </a:p>
          <a:p>
            <a:r>
              <a:t>Read the C14 loop from top to bottom. First the session asks Gemini. If there is a connection problem, it stops. Otherwise it records the returned steps and collects function calls. If there are none, it treats the text as a draft to review. If there are calls and budget remains, Python executes them and adds each result to the next request. We cap a run at five model requests and six tool attempts. The order is not hard-coded. Gemini chooses which tool to request, possibly several in one response.</a:t>
            </a:r>
          </a:p>
          <a:p>
            <a:endParaRPr/>
          </a:p>
          <a:p>
            <a:r>
              <a:t>DO</a:t>
            </a:r>
          </a:p>
          <a:p>
            <a:r>
              <a:t>Run the definition cell. Invite a volunteer to point out the stopping branch. Generate the request in C15.</a:t>
            </a:r>
          </a:p>
          <a:p>
            <a:endParaRPr/>
          </a:p>
          <a:p>
            <a:r>
              <a:t>ASK</a:t>
            </a:r>
          </a:p>
          <a:p>
            <a:r>
              <a:t>Why might tool-call count differ from model-request count?</a:t>
            </a:r>
          </a:p>
          <a:p>
            <a:endParaRPr/>
          </a:p>
          <a:p>
            <a:r>
              <a:t>EXPECTED ANSWER</a:t>
            </a:r>
          </a:p>
          <a:p>
            <a:r>
              <a:t>One model response can request multiple tools, and a final response can request none.</a:t>
            </a:r>
          </a:p>
          <a:p>
            <a:endParaRPr/>
          </a:p>
          <a:p>
            <a:r>
              <a:t>RECOVERY</a:t>
            </a:r>
          </a:p>
          <a:p>
            <a:r>
              <a:t>Treat the loop as prepared wiring. Participants need to explain its flow, not type it from memory.</a:t>
            </a:r>
          </a:p>
          <a:p>
            <a:endParaRPr/>
          </a:p>
          <a:p>
            <a:r>
              <a:t>SOURCES</a:t>
            </a:r>
          </a:p>
          <a:p>
            <a:r>
              <a:t>https://ai.google.dev/gemini-api/docs/function-calling</a:t>
            </a:r>
          </a:p>
          <a:p>
            <a:r>
              <a:t>https://ai.google.dev/gemini-api/docs/interactions-overview</a:t>
            </a:r>
          </a:p>
          <a:p>
            <a:endParaRPr/>
          </a:p>
          <a:p>
            <a:r>
              <a:t>ILLUSTRATION</a:t>
            </a:r>
          </a:p>
          <a:p>
            <a:r>
              <a:t>Original AI-generated educational illustration. It is not an event photograph or evidence of model execution. Conceptual bounded agent loop. Goal and context reach Gemini. Requested tool calls pass through Python validation before an allowed local tool runs. Tool results return to the model. A draft goes to human review. Limits: five model requests and six tool attempts; stop on error or limit.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23: A live run and its trace</a:t>
            </a:r>
          </a:p>
          <a:p>
            <a:endParaRPr/>
          </a:p>
          <a:p>
            <a:r>
              <a:t>Timing: 77–85 minutes</a:t>
            </a:r>
          </a:p>
          <a:p>
            <a:endParaRPr/>
          </a:p>
          <a:p>
            <a:r>
              <a:t>Facilitator cue: S4 / C16–C17</a:t>
            </a:r>
          </a:p>
          <a:p>
            <a:endParaRPr/>
          </a:p>
          <a:p>
            <a:r>
              <a:t>SAY</a:t>
            </a:r>
          </a:p>
          <a:p>
            <a:r>
              <a:t>Run C16 only when you want to use your quota. The notebook sends and receives the messages automatically. The trace appears when the bounded run ends. Inspect the tools before the paragraph. Did the model look up the role and evidence? Did it request a question? A different order can be fine, but missing information matters. Now compare each factual claim in the draft with the returned record. If it adds a metric or responsibility, mark that as unsupported. A stopped run is also useful evidence about the system.</a:t>
            </a:r>
          </a:p>
          <a:p>
            <a:endParaRPr/>
          </a:p>
          <a:p>
            <a:r>
              <a:t>DO</a:t>
            </a:r>
          </a:p>
          <a:p>
            <a:r>
              <a:t>Allow a few minutes for one bounded run. Use C17 to name the tools that actually ran. Do not promise every run ends successfully.</a:t>
            </a:r>
          </a:p>
          <a:p>
            <a:endParaRPr/>
          </a:p>
          <a:p>
            <a:r>
              <a:t>ASK</a:t>
            </a:r>
          </a:p>
          <a:p>
            <a:r>
              <a:t>What does draft_needs_review mean?</a:t>
            </a:r>
          </a:p>
          <a:p>
            <a:endParaRPr/>
          </a:p>
          <a:p>
            <a:r>
              <a:t>EXPECTED ANSWER</a:t>
            </a:r>
          </a:p>
          <a:p>
            <a:r>
              <a:t>A text draft exists; factual quality is still unverified.</a:t>
            </a:r>
          </a:p>
          <a:p>
            <a:endParaRPr/>
          </a:p>
          <a:p>
            <a:r>
              <a:t>RECOVERY</a:t>
            </a:r>
          </a:p>
          <a:p>
            <a:r>
              <a:t>For 429 or access failure, stop retries and use C24 with SIMULATION visibly labelled. Do not replace the live result silently.</a:t>
            </a:r>
          </a:p>
          <a:p>
            <a:endParaRPr/>
          </a:p>
          <a:p>
            <a:r>
              <a:t>Source: original fictional workshop example and teaching instructions.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24: A test with a clear meaning</a:t>
            </a:r>
          </a:p>
          <a:p>
            <a:endParaRPr/>
          </a:p>
          <a:p>
            <a:r>
              <a:t>Timing: 85–95 minutes</a:t>
            </a:r>
          </a:p>
          <a:p>
            <a:endParaRPr/>
          </a:p>
          <a:p>
            <a:r>
              <a:t>Facilitator cue: S5 / C18–C20</a:t>
            </a:r>
          </a:p>
          <a:p>
            <a:endParaRPr/>
          </a:p>
          <a:p>
            <a:r>
              <a:t>SAY</a:t>
            </a:r>
          </a:p>
          <a:p>
            <a:r>
              <a:t>Run the six local checks in C18. Each asks a specific question about our supplied data or permissions. In C19 change missing to found and run it. The assertion should fail because we deliberately set the wrong expectation. Explain the failure, then restore missing. Finally, C20 shows hostile instructions inside a quoted role note and tests an email request. We are not sending that note to a model in this local check. We have tested the tool boundary, not universal prompt-injection resistance. An optional live comparison can be part of your challenge.</a:t>
            </a:r>
          </a:p>
          <a:p>
            <a:endParaRPr/>
          </a:p>
          <a:p>
            <a:r>
              <a:t>DO</a:t>
            </a:r>
          </a:p>
          <a:p>
            <a:r>
              <a:t>Reserve time for predict, fail and restore. Ask learners to name something the test cannot establish.</a:t>
            </a:r>
          </a:p>
          <a:p>
            <a:endParaRPr/>
          </a:p>
          <a:p>
            <a:r>
              <a:t>ASK</a:t>
            </a:r>
          </a:p>
          <a:p>
            <a:r>
              <a:t>Does this assertion detect an invented 30% improvement in a model draft?</a:t>
            </a:r>
          </a:p>
          <a:p>
            <a:endParaRPr/>
          </a:p>
          <a:p>
            <a:r>
              <a:t>EXPECTED ANSWER</a:t>
            </a:r>
          </a:p>
          <a:p>
            <a:r>
              <a:t>No. It checks the local lookup status only.</a:t>
            </a:r>
          </a:p>
          <a:p>
            <a:endParaRPr/>
          </a:p>
          <a:p>
            <a:r>
              <a:t>RECOVERY</a:t>
            </a:r>
          </a:p>
          <a:p>
            <a:r>
              <a:t>Restore the supplied expected value before continuing. Keep live attack comparison optional.</a:t>
            </a:r>
          </a:p>
          <a:p>
            <a:endParaRPr/>
          </a:p>
          <a:p>
            <a:r>
              <a:t>SOURCES</a:t>
            </a:r>
          </a:p>
          <a:p>
            <a:r>
              <a:t>https://genai.owasp.org/llmrisk/llm01-prompt-injection/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25: Your own version</a:t>
            </a:r>
          </a:p>
          <a:p>
            <a:endParaRPr/>
          </a:p>
          <a:p>
            <a:r>
              <a:t>Timing: 95–98 minutes</a:t>
            </a:r>
          </a:p>
          <a:p>
            <a:endParaRPr/>
          </a:p>
          <a:p>
            <a:r>
              <a:t>Facilitator cue: S6 / C21–C23</a:t>
            </a:r>
          </a:p>
          <a:p>
            <a:endParaRPr/>
          </a:p>
          <a:p>
            <a:r>
              <a:t>SAY</a:t>
            </a:r>
          </a:p>
          <a:p>
            <a:r>
              <a:t>Choose a challenge that matches your experience and interests. The beginner route changes configuration and a coaching recipe. The sample chooses SQL so we can see an honest gap. You may keep communication or planning instead. The advanced route adds a tone to the existing question tool and refreshes its schema and local allowed values. Both routes end with a change you can explain, an observable result and a test. If the API is unavailable, show your local tool result and label the simulation. It cannot judge whether your new recipe changed model behaviour.</a:t>
            </a:r>
          </a:p>
          <a:p>
            <a:endParaRPr/>
          </a:p>
          <a:p>
            <a:r>
              <a:t>DO</a:t>
            </a:r>
          </a:p>
          <a:p>
            <a:r>
              <a:t>Point to C21 for beginner work and C22 for the optional advanced change. Ask each participant to note her intended change before editing.</a:t>
            </a:r>
          </a:p>
          <a:p>
            <a:endParaRPr/>
          </a:p>
          <a:p>
            <a:r>
              <a:t>ASK</a:t>
            </a:r>
          </a:p>
          <a:p>
            <a:r>
              <a:t>What observable result would convince you the local change worked?</a:t>
            </a:r>
          </a:p>
          <a:p>
            <a:endParaRPr/>
          </a:p>
          <a:p>
            <a:r>
              <a:t>EXPECTED ANSWER</a:t>
            </a:r>
          </a:p>
          <a:p>
            <a:r>
              <a:t>For example, a changed question prefix and a passing allowed-tone check.</a:t>
            </a:r>
          </a:p>
          <a:p>
            <a:endParaRPr/>
          </a:p>
          <a:p>
            <a:r>
              <a:t>RECOVERY</a:t>
            </a:r>
          </a:p>
          <a:p>
            <a:r>
              <a:t>Steer infrastructure work back to the beginner route.</a:t>
            </a:r>
          </a:p>
          <a:p>
            <a:endParaRPr/>
          </a:p>
          <a:p>
            <a:r>
              <a:t>Source: original fictional workshop example and teaching instructions.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26: Time to build and check</a:t>
            </a:r>
          </a:p>
          <a:p>
            <a:endParaRPr/>
          </a:p>
          <a:p>
            <a:r>
              <a:t>Timing: 98–108 minutes</a:t>
            </a:r>
          </a:p>
          <a:p>
            <a:endParaRPr/>
          </a:p>
          <a:p>
            <a:r>
              <a:t>Facilitator cue: S6 / Individual work</a:t>
            </a:r>
          </a:p>
          <a:p>
            <a:endParaRPr/>
          </a:p>
          <a:p>
            <a:r>
              <a:t>SAY</a:t>
            </a:r>
          </a:p>
          <a:p>
            <a:r>
              <a:t>You have ten minutes to complete your change. Write down what you expect before running the cell, then check the result yourself. You may invite a neighbour to comment, but keep your own notebook and keyboard. A changed model paragraph alone does not prove that your edit caused the difference, because generation can vary. Use a deterministic tool check when possible and judge the draft separately. I will call the final five minutes. At that point, stop adding features and prepare a short demonstration. A useful failure is welcome.</a:t>
            </a:r>
          </a:p>
          <a:p>
            <a:endParaRPr/>
          </a:p>
          <a:p>
            <a:r>
              <a:t>DO</a:t>
            </a:r>
          </a:p>
          <a:p>
            <a:r>
              <a:t>At minute 101 check that participants have changed something. At 103 ask them to freeze features and test. Prioritize learners without a visible result.</a:t>
            </a:r>
          </a:p>
          <a:p>
            <a:endParaRPr/>
          </a:p>
          <a:p>
            <a:r>
              <a:t>ASK</a:t>
            </a:r>
          </a:p>
          <a:p>
            <a:r>
              <a:t>Show the input you changed and the output or behaviour you expected.</a:t>
            </a:r>
          </a:p>
          <a:p>
            <a:endParaRPr/>
          </a:p>
          <a:p>
            <a:r>
              <a:t>EXPECTED ANSWER</a:t>
            </a:r>
          </a:p>
          <a:p>
            <a:r>
              <a:t>A specific before/after comparison, plus a remaining limitation.</a:t>
            </a:r>
          </a:p>
          <a:p>
            <a:endParaRPr/>
          </a:p>
          <a:p>
            <a:r>
              <a:t>RECOVERY</a:t>
            </a:r>
          </a:p>
          <a:p>
            <a:r>
              <a:t>Use local functions and the worksheet if the model path is blocked. Preserve ownership time.</a:t>
            </a:r>
          </a:p>
          <a:p>
            <a:endParaRPr/>
          </a:p>
          <a:p>
            <a:r>
              <a:t>Source: original fictional workshop example and teaching instructions.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27: What changed in your coach?</a:t>
            </a:r>
          </a:p>
          <a:p>
            <a:endParaRPr/>
          </a:p>
          <a:p>
            <a:r>
              <a:t>Timing: 108–112 minutes</a:t>
            </a:r>
          </a:p>
          <a:p>
            <a:endParaRPr/>
          </a:p>
          <a:p>
            <a:r>
              <a:t>Facilitator cue: Short demonstrations</a:t>
            </a:r>
          </a:p>
          <a:p>
            <a:endParaRPr/>
          </a:p>
          <a:p>
            <a:r>
              <a:t>SAY</a:t>
            </a:r>
          </a:p>
          <a:p>
            <a:r>
              <a:t>Let us hear two short demonstrations from volunteers. Tell us what you changed, show the relevant output and explain one test. Please say whether the result came from live Gemini, local Python or the authored simulation. We are not ranking participants or judging who typed fastest. We want to see how a small design choice changes a tool or a coaching workflow.</a:t>
            </a:r>
          </a:p>
          <a:p>
            <a:endParaRPr/>
          </a:p>
          <a:p>
            <a:r>
              <a:t>DO</a:t>
            </a:r>
          </a:p>
          <a:p>
            <a:r>
              <a:t>Invite different experience levels. Keep comments supportive and specific.</a:t>
            </a:r>
          </a:p>
          <a:p>
            <a:endParaRPr/>
          </a:p>
          <a:p>
            <a:r>
              <a:t>RECOVERY</a:t>
            </a:r>
          </a:p>
          <a:p>
            <a:r>
              <a:t>If behind, take one demonstration and preserve the exit ticket and saving time.</a:t>
            </a:r>
          </a:p>
          <a:p>
            <a:endParaRPr/>
          </a:p>
          <a:p>
            <a:r>
              <a:t>Source: original fictional workshop example and teaching instructions.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28: Your individual exit ticket</a:t>
            </a:r>
          </a:p>
          <a:p>
            <a:endParaRPr/>
          </a:p>
          <a:p>
            <a:r>
              <a:t>Timing: 112–115 minutes</a:t>
            </a:r>
          </a:p>
          <a:p>
            <a:endParaRPr/>
          </a:p>
          <a:p>
            <a:r>
              <a:t>Facilitator cue: Reflection</a:t>
            </a:r>
          </a:p>
          <a:p>
            <a:endParaRPr/>
          </a:p>
          <a:p>
            <a:r>
              <a:t>SAY</a:t>
            </a:r>
          </a:p>
          <a:p>
            <a:r>
              <a:t>Take a minute to answer these individually in the worksheet or your own notes. Keep the answers concrete. For example, say that you would check whether a claimed result exists in event-1, rather than only saying that AI sometimes makes mistakes. The aim is to leave with a habit you can use in another application: understand the allowed actions and verify the evidence behind the output.</a:t>
            </a:r>
          </a:p>
          <a:p>
            <a:endParaRPr/>
          </a:p>
          <a:p>
            <a:r>
              <a:t>DO</a:t>
            </a:r>
          </a:p>
          <a:p>
            <a:r>
              <a:t>Collect only through an approved method, or let participants retain their notes. No real CVs or keys.</a:t>
            </a:r>
          </a:p>
          <a:p>
            <a:endParaRPr/>
          </a:p>
          <a:p>
            <a:r>
              <a:t>EXPECTED ANSWER</a:t>
            </a:r>
          </a:p>
          <a:p>
            <a:r>
              <a:t>The model requests tools and writes drafts. Python validates and runs functions. The learner checks facts, boundaries and usefulness.</a:t>
            </a:r>
          </a:p>
          <a:p>
            <a:endParaRPr/>
          </a:p>
          <a:p>
            <a:r>
              <a:t>Source: original fictional workshop example and teaching instructions.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29: Your saved practice kit</a:t>
            </a:r>
          </a:p>
          <a:p>
            <a:endParaRPr/>
          </a:p>
          <a:p>
            <a:r>
              <a:t>Timing: 115–120 minutes</a:t>
            </a:r>
          </a:p>
          <a:p>
            <a:endParaRPr/>
          </a:p>
          <a:p>
            <a:r>
              <a:t>Facilitator cue: C25–C26 / Save</a:t>
            </a:r>
          </a:p>
          <a:p>
            <a:endParaRPr/>
          </a:p>
          <a:p>
            <a:r>
              <a:t>SAY</a:t>
            </a:r>
          </a:p>
          <a:p>
            <a:r>
              <a:t>Save the notebook now. If you want a separate Markdown note, opt into C25. The save action belongs to you and is not a tool the model can call. C26 closes the client. Also edit any earlier CONNECT or RUN_LIVE assignment you changed back to False before saving. Resetting a variable in memory does not rewrite the notebook source. Restart the kernel, clear outputs and check for secrets before sharing a copy. You can keep learning by adding another fictional example, improving a recipe or writing another focused test.</a:t>
            </a:r>
          </a:p>
          <a:p>
            <a:endParaRPr/>
          </a:p>
          <a:p>
            <a:r>
              <a:t>DO</a:t>
            </a:r>
          </a:p>
          <a:p>
            <a:r>
              <a:t>Protect this five-minute buffer. Confirm each participant can locate her saved file and knows the account key stays private.</a:t>
            </a:r>
          </a:p>
          <a:p>
            <a:endParaRPr/>
          </a:p>
          <a:p>
            <a:r>
              <a:t>RECOVERY</a:t>
            </a:r>
          </a:p>
          <a:p>
            <a:r>
              <a:t>If note export fails, save the notebook and retain the worksheet. Do not debug optional extensions now.</a:t>
            </a:r>
          </a:p>
          <a:p>
            <a:endParaRPr/>
          </a:p>
          <a:p>
            <a:r>
              <a:t>Source: original fictional workshop example and teaching instructions.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30: Sources for the core ideas</a:t>
            </a:r>
          </a:p>
          <a:p>
            <a:endParaRPr/>
          </a:p>
          <a:p>
            <a:r>
              <a:t>Timing: Reference appendix, outside the 120-minute schedule</a:t>
            </a:r>
          </a:p>
          <a:p>
            <a:endParaRPr/>
          </a:p>
          <a:p>
            <a:r>
              <a:t>Facilitator cue: Reference appendix</a:t>
            </a:r>
          </a:p>
          <a:p>
            <a:endParaRPr/>
          </a:p>
          <a:p>
            <a:r>
              <a:t>SAY</a:t>
            </a:r>
          </a:p>
          <a:p>
            <a:r>
              <a:t>This reference appendix is outside the 120-minute plan. The reading pack explains which claim each source supports and includes version and date context. It distinguishes local tests from model evaluations and formal Agent Skills from our simplified recipes. Read the official current documentation before extending the code.</a:t>
            </a:r>
          </a:p>
          <a:p>
            <a:endParaRPr/>
          </a:p>
          <a:p>
            <a:r>
              <a:t>SOURCES</a:t>
            </a:r>
          </a:p>
          <a:p>
            <a:r>
              <a:t>https://arxiv.org/abs/1706.03762</a:t>
            </a:r>
          </a:p>
          <a:p>
            <a:r>
              <a:t>https://arxiv.org/abs/2005.11401</a:t>
            </a:r>
          </a:p>
          <a:p>
            <a:r>
              <a:t>https://arxiv.org/abs/2210.03629</a:t>
            </a:r>
          </a:p>
          <a:p>
            <a:r>
              <a:t>https://developers.google.com/machine-learning/crash-course/llm/transformers</a:t>
            </a:r>
          </a:p>
          <a:p>
            <a:r>
              <a:t>https://nvlpubs.nist.gov/nistpubs/ai/NIST.AI.600-1.pdf</a:t>
            </a:r>
          </a:p>
          <a:p>
            <a:r>
              <a:t>https://genai.owasp.org/llmrisk/llm01-prompt-injection/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31: Further development</a:t>
            </a:r>
          </a:p>
          <a:p>
            <a:endParaRPr/>
          </a:p>
          <a:p>
            <a:r>
              <a:t>Timing: Reference appendix, outside the 120-minute schedule</a:t>
            </a:r>
          </a:p>
          <a:p>
            <a:endParaRPr/>
          </a:p>
          <a:p>
            <a:r>
              <a:t>Facilitator cue: Reference appendix</a:t>
            </a:r>
          </a:p>
          <a:p>
            <a:endParaRPr/>
          </a:p>
          <a:p>
            <a:r>
              <a:t>SAY</a:t>
            </a:r>
          </a:p>
          <a:p>
            <a:r>
              <a:t>These are follow-up projects, not required work today. Keep the system small enough to understand. If you add a new role or tone, update both descriptions and local validation. If you add a data source, decide what the application may read and what it should refuse. Deployment changes who uses the application and how credentials and data are handled. Google has specific Paid Services requirements for API clients made available to users in the EEA, UK and Switzerland. Do not treat this personal workshop prototype as a ready-to-deploy recruitment product.</a:t>
            </a:r>
          </a:p>
          <a:p>
            <a:endParaRPr/>
          </a:p>
          <a:p>
            <a:r>
              <a:t>SOURCES</a:t>
            </a:r>
          </a:p>
          <a:p>
            <a:r>
              <a:t>https://ai.google.dev/gemini-api/terms</a:t>
            </a:r>
          </a:p>
          <a:p>
            <a:r>
              <a:t>https://ai.google.dev/gemini-api/docs/api-key</a:t>
            </a:r>
          </a:p>
          <a:p>
            <a:r>
              <a:t>https://agentskills.io/specification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A5BDD-969C-0B7C-1663-6751497E5C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C3B6BE-E4F2-A258-5499-F4309AE42C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A805EA-EDA6-31F3-C860-3DA4F64E36B7}"/>
              </a:ext>
            </a:extLst>
          </p:cNvPr>
          <p:cNvSpPr>
            <a:spLocks noGrp="1"/>
          </p:cNvSpPr>
          <p:nvPr>
            <p:ph type="body" idx="1"/>
          </p:nvPr>
        </p:nvSpPr>
        <p:spPr/>
        <p:txBody>
          <a:bodyPr/>
          <a:lstStyle/>
          <a:p>
            <a:r>
              <a:t>Slide 31: Further development</a:t>
            </a:r>
          </a:p>
          <a:p>
            <a:endParaRPr/>
          </a:p>
          <a:p>
            <a:r>
              <a:t>Timing: Reference appendix, outside the 120-minute schedule</a:t>
            </a:r>
          </a:p>
          <a:p>
            <a:endParaRPr/>
          </a:p>
          <a:p>
            <a:r>
              <a:t>Facilitator cue: Reference appendix</a:t>
            </a:r>
          </a:p>
          <a:p>
            <a:endParaRPr/>
          </a:p>
          <a:p>
            <a:r>
              <a:t>SAY</a:t>
            </a:r>
          </a:p>
          <a:p>
            <a:r>
              <a:t>These are follow-up projects, not required work today. Keep the system small enough to understand. If you add a new role or tone, update both descriptions and local validation. If you add a data source, decide what the application may read and what it should refuse. Deployment changes who uses the application and how credentials and data are handled. Google has specific Paid Services requirements for API clients made available to users in the EEA, UK and Switzerland. Do not treat this personal workshop prototype as a ready-to-deploy recruitment product.</a:t>
            </a:r>
          </a:p>
          <a:p>
            <a:endParaRPr/>
          </a:p>
          <a:p>
            <a:r>
              <a:t>SOURCES</a:t>
            </a:r>
          </a:p>
          <a:p>
            <a:r>
              <a:t>https://ai.google.dev/gemini-api/terms</a:t>
            </a:r>
          </a:p>
          <a:p>
            <a:r>
              <a:t>https://ai.google.dev/gemini-api/docs/api-key</a:t>
            </a:r>
          </a:p>
          <a:p>
            <a:r>
              <a:t>https://agentskills.io/specification</a:t>
            </a:r>
          </a:p>
        </p:txBody>
      </p:sp>
      <p:sp>
        <p:nvSpPr>
          <p:cNvPr id="4" name="Slide Number Placeholder 3">
            <a:extLst>
              <a:ext uri="{FF2B5EF4-FFF2-40B4-BE49-F238E27FC236}">
                <a16:creationId xmlns:a16="http://schemas.microsoft.com/office/drawing/2014/main" id="{EF84E01B-141E-ABE7-3400-348C92AA499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663980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6CB2EB-AFA2-B6AE-780D-98F6976B9C54}"/>
              </a:ext>
            </a:extLst>
          </p:cNvPr>
          <p:cNvSpPr txBox="1"/>
          <p:nvPr>
            <p:extLst>
              <p:ext uri="{1162E1C5-73C7-4A58-AE30-91384D911F3F}">
                <p184:classification xmlns:p184="http://schemas.microsoft.com/office/powerpoint/2018/4/main" val="ftr"/>
              </p:ext>
            </p:extLst>
          </p:nvPr>
        </p:nvSpPr>
        <p:spPr>
          <a:xfrm>
            <a:off x="5886450" y="6642100"/>
            <a:ext cx="444500" cy="152400"/>
          </a:xfrm>
          <a:prstGeom prst="rect">
            <a:avLst/>
          </a:prstGeom>
        </p:spPr>
        <p:txBody>
          <a:bodyPr horzOverflow="overflow" lIns="0" tIns="0" rIns="0" bIns="0">
            <a:spAutoFit/>
          </a:bodyPr>
          <a:lstStyle/>
          <a:p>
            <a:pPr algn="l"/>
            <a:r>
              <a:rPr lang="en-GB" sz="1000">
                <a:solidFill>
                  <a:srgbClr val="000000">
                    <a:alpha val="50000"/>
                  </a:srgbClr>
                </a:solidFill>
                <a:latin typeface="Aptos" panose="020B0004020202020204" pitchFamily="34" charset="0"/>
              </a:rPr>
              <a:t>PUBLIC</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png"/><Relationship Id="rId7" Type="http://schemas.openxmlformats.org/officeDocument/2006/relationships/image" Target="../media/image10.jpe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p:blipFill>
        <p:spPr>
          <a:xfrm>
            <a:off x="6743700" y="876300"/>
            <a:ext cx="4762500" cy="4762500"/>
          </a:xfrm>
          <a:prstGeom prst="rect">
            <a:avLst/>
          </a:prstGeom>
        </p:spPr>
      </p:pic>
      <p:sp>
        <p:nvSpPr>
          <p:cNvPr id="2" name="cover-title">
            <a:extLst>
              <a:ext uri="{FF2B5EF4-FFF2-40B4-BE49-F238E27FC236}">
                <a16:creationId xmlns:a16="http://schemas.microsoft.com/office/drawing/2014/main" id="{E3BEF9EF-1B4F-4866-B73A-5A14AE5BF7D8}"/>
              </a:ext>
            </a:extLst>
          </p:cNvPr>
          <p:cNvSpPr>
            <a:spLocks noGrp="1"/>
          </p:cNvSpPr>
          <p:nvPr/>
        </p:nvSpPr>
        <p:spPr>
          <a:xfrm>
            <a:off x="335360" y="1726539"/>
            <a:ext cx="5556609" cy="2663180"/>
          </a:xfrm>
          <a:prstGeom prst="rect">
            <a:avLst/>
          </a:prstGeom>
          <a:noFill/>
          <a:ln w="0">
            <a:noFill/>
          </a:ln>
        </p:spPr>
        <p:txBody>
          <a:bodyPr>
            <a:noAutofit/>
          </a:bodyPr>
          <a:lstStyle/>
          <a:p>
            <a:pPr>
              <a:buNone/>
              <a:defRPr sz="4950" b="1">
                <a:solidFill>
                  <a:srgbClr val="172D3B"/>
                </a:solidFill>
                <a:latin typeface="Arial"/>
                <a:ea typeface="Arial"/>
                <a:cs typeface="Arial"/>
              </a:defRPr>
            </a:pPr>
            <a:r>
              <a:rPr sz="4950" b="1" dirty="0">
                <a:solidFill>
                  <a:srgbClr val="172D3B"/>
                </a:solidFill>
                <a:latin typeface="Arial"/>
                <a:ea typeface="Arial"/>
                <a:cs typeface="Arial"/>
              </a:rPr>
              <a:t>Your </a:t>
            </a:r>
            <a:endParaRPr lang="pl-PL" sz="4950" b="1" dirty="0">
              <a:solidFill>
                <a:srgbClr val="172D3B"/>
              </a:solidFill>
              <a:latin typeface="Arial"/>
              <a:ea typeface="Arial"/>
              <a:cs typeface="Arial"/>
            </a:endParaRPr>
          </a:p>
          <a:p>
            <a:pPr>
              <a:buNone/>
              <a:defRPr sz="4950" b="1">
                <a:solidFill>
                  <a:srgbClr val="172D3B"/>
                </a:solidFill>
                <a:latin typeface="Arial"/>
                <a:ea typeface="Arial"/>
                <a:cs typeface="Arial"/>
              </a:defRPr>
            </a:pPr>
            <a:r>
              <a:rPr sz="4950" b="1" dirty="0">
                <a:solidFill>
                  <a:srgbClr val="172D3B"/>
                </a:solidFill>
                <a:latin typeface="Arial"/>
                <a:ea typeface="Arial"/>
                <a:cs typeface="Arial"/>
              </a:rPr>
              <a:t>Recruitment</a:t>
            </a:r>
          </a:p>
          <a:p>
            <a:pPr>
              <a:buNone/>
              <a:defRPr sz="4950" b="1">
                <a:solidFill>
                  <a:srgbClr val="172D3B"/>
                </a:solidFill>
                <a:latin typeface="Arial"/>
                <a:ea typeface="Arial"/>
                <a:cs typeface="Arial"/>
              </a:defRPr>
            </a:pPr>
            <a:r>
              <a:rPr sz="4950" b="1" dirty="0">
                <a:solidFill>
                  <a:srgbClr val="172D3B"/>
                </a:solidFill>
                <a:latin typeface="Arial"/>
                <a:ea typeface="Arial"/>
                <a:cs typeface="Arial"/>
              </a:rPr>
              <a:t>Coach</a:t>
            </a:r>
          </a:p>
        </p:txBody>
      </p:sp>
      <p:sp>
        <p:nvSpPr>
          <p:cNvPr id="3" name="cover-subtitle">
            <a:extLst>
              <a:ext uri="{FF2B5EF4-FFF2-40B4-BE49-F238E27FC236}">
                <a16:creationId xmlns:a16="http://schemas.microsoft.com/office/drawing/2014/main" id="{59519739-BDC3-4AE4-97F3-838B81858AC2}"/>
              </a:ext>
            </a:extLst>
          </p:cNvPr>
          <p:cNvSpPr>
            <a:spLocks noGrp="1"/>
          </p:cNvSpPr>
          <p:nvPr/>
        </p:nvSpPr>
        <p:spPr>
          <a:xfrm>
            <a:off x="335360" y="4941168"/>
            <a:ext cx="5043686" cy="1066800"/>
          </a:xfrm>
          <a:prstGeom prst="rect">
            <a:avLst/>
          </a:prstGeom>
          <a:noFill/>
          <a:ln w="0">
            <a:noFill/>
          </a:ln>
        </p:spPr>
        <p:txBody>
          <a:bodyPr>
            <a:noAutofit/>
          </a:bodyPr>
          <a:lstStyle/>
          <a:p>
            <a:pPr>
              <a:defRPr sz="2325" b="0">
                <a:solidFill>
                  <a:srgbClr val="4B626B"/>
                </a:solidFill>
                <a:latin typeface="Arial"/>
                <a:ea typeface="Arial"/>
                <a:cs typeface="Arial"/>
              </a:defRPr>
            </a:pPr>
            <a:r>
              <a:rPr sz="2325" b="0" dirty="0">
                <a:solidFill>
                  <a:srgbClr val="4B626B"/>
                </a:solidFill>
                <a:latin typeface="Arial"/>
                <a:ea typeface="Arial"/>
                <a:cs typeface="Arial"/>
              </a:rPr>
              <a:t>Women in Tech Insight</a:t>
            </a:r>
            <a:endParaRPr lang="pl-PL" sz="2325" b="0" dirty="0">
              <a:solidFill>
                <a:srgbClr val="4B626B"/>
              </a:solidFill>
              <a:latin typeface="Arial"/>
              <a:ea typeface="Arial"/>
              <a:cs typeface="Arial"/>
            </a:endParaRPr>
          </a:p>
          <a:p>
            <a:pPr>
              <a:defRPr sz="2325" b="0">
                <a:solidFill>
                  <a:srgbClr val="4B626B"/>
                </a:solidFill>
                <a:latin typeface="Arial"/>
                <a:ea typeface="Arial"/>
                <a:cs typeface="Arial"/>
              </a:defRPr>
            </a:pPr>
            <a:r>
              <a:rPr lang="pl-PL" sz="2325" dirty="0">
                <a:solidFill>
                  <a:srgbClr val="4B626B"/>
                </a:solidFill>
                <a:latin typeface="Arial"/>
                <a:ea typeface="Arial"/>
                <a:cs typeface="Arial"/>
              </a:rPr>
              <a:t>25/09/2026 HSBC, Kraków</a:t>
            </a:r>
          </a:p>
          <a:p>
            <a:pPr>
              <a:buNone/>
              <a:defRPr sz="2325" b="0">
                <a:solidFill>
                  <a:srgbClr val="4B626B"/>
                </a:solidFill>
                <a:latin typeface="Arial"/>
                <a:ea typeface="Arial"/>
                <a:cs typeface="Arial"/>
              </a:defRPr>
            </a:pPr>
            <a:endParaRPr sz="2325" b="0" dirty="0">
              <a:solidFill>
                <a:srgbClr val="4B626B"/>
              </a:solidFill>
              <a:latin typeface="Arial"/>
              <a:ea typeface="Arial"/>
              <a:cs typeface="Arial"/>
            </a:endParaRPr>
          </a:p>
        </p:txBody>
      </p:sp>
      <p:sp>
        <p:nvSpPr>
          <p:cNvPr id="5" name="footer">
            <a:extLst>
              <a:ext uri="{FF2B5EF4-FFF2-40B4-BE49-F238E27FC236}">
                <a16:creationId xmlns:a16="http://schemas.microsoft.com/office/drawing/2014/main" id="{0A6588DC-547C-4A26-B9B6-86CC1ACD0D6F}"/>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endParaRPr sz="1575" b="0" dirty="0">
              <a:solidFill>
                <a:srgbClr val="4B626B"/>
              </a:solidFill>
              <a:latin typeface="Arial"/>
              <a:ea typeface="Arial"/>
              <a:cs typeface="Arial"/>
            </a:endParaRPr>
          </a:p>
        </p:txBody>
      </p:sp>
      <p:pic>
        <p:nvPicPr>
          <p:cNvPr id="8" name="Picture 7">
            <a:extLst>
              <a:ext uri="{FF2B5EF4-FFF2-40B4-BE49-F238E27FC236}">
                <a16:creationId xmlns:a16="http://schemas.microsoft.com/office/drawing/2014/main" id="{56D7B983-EB6F-678D-7248-AFB4CAAC05A0}"/>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8356" y="-303616"/>
            <a:ext cx="3468978" cy="1824425"/>
          </a:xfrm>
          <a:prstGeom prst="rect">
            <a:avLst/>
          </a:prstGeom>
        </p:spPr>
      </p:pic>
      <p:sp>
        <p:nvSpPr>
          <p:cNvPr id="9" name="Text 8">
            <a:extLst>
              <a:ext uri="{FF2B5EF4-FFF2-40B4-BE49-F238E27FC236}">
                <a16:creationId xmlns:a16="http://schemas.microsoft.com/office/drawing/2014/main" id="{A1F82BFC-8290-E8B5-7618-8EB1020310E5}"/>
              </a:ext>
            </a:extLst>
          </p:cNvPr>
          <p:cNvSpPr/>
          <p:nvPr/>
        </p:nvSpPr>
        <p:spPr>
          <a:xfrm>
            <a:off x="407368" y="5877272"/>
            <a:ext cx="7645142" cy="37213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l-PL" sz="1600" noProof="0" dirty="0">
                <a:solidFill>
                  <a:schemeClr val="accent4">
                    <a:lumMod val="50000"/>
                  </a:schemeClr>
                </a:solidFill>
                <a:latin typeface="Arial" panose="020B0604020202020204" pitchFamily="34" charset="0"/>
                <a:cs typeface="Arial" panose="020B0604020202020204" pitchFamily="34" charset="0"/>
              </a:rPr>
              <a:t>Paulina Gajda-Walach </a:t>
            </a:r>
            <a:r>
              <a:rPr lang="pl-PL" sz="1600" dirty="0">
                <a:solidFill>
                  <a:schemeClr val="accent4">
                    <a:lumMod val="50000"/>
                  </a:schemeClr>
                </a:solidFill>
                <a:latin typeface="Arial" panose="020B0604020202020204" pitchFamily="34" charset="0"/>
                <a:cs typeface="Arial" panose="020B0604020202020204" pitchFamily="34" charset="0"/>
              </a:rPr>
              <a:t>• </a:t>
            </a:r>
            <a:r>
              <a:rPr lang="pl-PL" sz="1600" noProof="0" dirty="0">
                <a:solidFill>
                  <a:schemeClr val="accent4">
                    <a:lumMod val="50000"/>
                  </a:schemeClr>
                </a:solidFill>
                <a:latin typeface="Arial" panose="020B0604020202020204" pitchFamily="34" charset="0"/>
                <a:cs typeface="Arial" panose="020B0604020202020204" pitchFamily="34" charset="0"/>
              </a:rPr>
              <a:t>Justyna Gajdek</a:t>
            </a:r>
            <a:r>
              <a:rPr lang="pl-PL" sz="1600" dirty="0">
                <a:solidFill>
                  <a:schemeClr val="accent4">
                    <a:lumMod val="50000"/>
                  </a:schemeClr>
                </a:solidFill>
                <a:latin typeface="Arial" panose="020B0604020202020204" pitchFamily="34" charset="0"/>
                <a:cs typeface="Arial" panose="020B0604020202020204" pitchFamily="34" charset="0"/>
              </a:rPr>
              <a:t> • AnnaGrygierczyk</a:t>
            </a:r>
            <a:endParaRPr lang="pl-PL" sz="1600" noProof="0" dirty="0">
              <a:solidFill>
                <a:schemeClr val="accent4">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0772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A1DA1D4C-2CA7-4B5D-B09F-F5B91EC47177}"/>
              </a:ext>
            </a:extLst>
          </p:cNvPr>
          <p:cNvSpPr>
            <a:spLocks noGrp="1"/>
          </p:cNvSpPr>
          <p:nvPr/>
        </p:nvSpPr>
        <p:spPr>
          <a:xfrm>
            <a:off x="609600" y="182662"/>
            <a:ext cx="10820400" cy="621579"/>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The preparation draft</a:t>
            </a:r>
          </a:p>
        </p:txBody>
      </p:sp>
      <p:sp>
        <p:nvSpPr>
          <p:cNvPr id="2" name="lead">
            <a:extLst>
              <a:ext uri="{FF2B5EF4-FFF2-40B4-BE49-F238E27FC236}">
                <a16:creationId xmlns:a16="http://schemas.microsoft.com/office/drawing/2014/main" id="{583F8D9D-31D1-4770-A958-0F34F2CC6F9A}"/>
              </a:ext>
            </a:extLst>
          </p:cNvPr>
          <p:cNvSpPr>
            <a:spLocks noGrp="1"/>
          </p:cNvSpPr>
          <p:nvPr/>
        </p:nvSpPr>
        <p:spPr>
          <a:xfrm>
            <a:off x="685800" y="1543050"/>
            <a:ext cx="10572750" cy="647700"/>
          </a:xfrm>
          <a:prstGeom prst="rect">
            <a:avLst/>
          </a:prstGeom>
          <a:noFill/>
          <a:ln w="0">
            <a:noFill/>
          </a:ln>
        </p:spPr>
        <p:txBody>
          <a:bodyPr>
            <a:noAutofit/>
          </a:bodyPr>
          <a:lstStyle/>
          <a:p>
            <a:pPr>
              <a:buNone/>
              <a:defRPr sz="2625" b="1">
                <a:solidFill>
                  <a:srgbClr val="006D77"/>
                </a:solidFill>
                <a:latin typeface="Arial"/>
                <a:ea typeface="Arial"/>
                <a:cs typeface="Arial"/>
              </a:defRPr>
            </a:pPr>
            <a:r>
              <a:rPr sz="2625" b="1" dirty="0">
                <a:solidFill>
                  <a:srgbClr val="006D77"/>
                </a:solidFill>
                <a:latin typeface="Arial"/>
                <a:ea typeface="Arial"/>
                <a:cs typeface="Arial"/>
              </a:rPr>
              <a:t>A result we can </a:t>
            </a:r>
            <a:r>
              <a:rPr lang="pl-PL" sz="2625" b="1" dirty="0">
                <a:solidFill>
                  <a:srgbClr val="006D77"/>
                </a:solidFill>
                <a:latin typeface="Arial"/>
                <a:ea typeface="Arial"/>
                <a:cs typeface="Arial"/>
              </a:rPr>
              <a:t>verified</a:t>
            </a:r>
            <a:endParaRPr sz="2625" b="1" dirty="0">
              <a:solidFill>
                <a:srgbClr val="006D77"/>
              </a:solidFill>
              <a:latin typeface="Arial"/>
              <a:ea typeface="Arial"/>
              <a:cs typeface="Arial"/>
            </a:endParaRPr>
          </a:p>
        </p:txBody>
      </p:sp>
      <p:sp>
        <p:nvSpPr>
          <p:cNvPr id="3" name="line-0">
            <a:extLst>
              <a:ext uri="{FF2B5EF4-FFF2-40B4-BE49-F238E27FC236}">
                <a16:creationId xmlns:a16="http://schemas.microsoft.com/office/drawing/2014/main" id="{A002592D-49C5-42DA-B52B-9F82268A992A}"/>
              </a:ext>
            </a:extLst>
          </p:cNvPr>
          <p:cNvSpPr>
            <a:spLocks noGrp="1"/>
          </p:cNvSpPr>
          <p:nvPr/>
        </p:nvSpPr>
        <p:spPr>
          <a:xfrm>
            <a:off x="685800" y="2305050"/>
            <a:ext cx="10572750" cy="752475"/>
          </a:xfrm>
          <a:prstGeom prst="rect">
            <a:avLst/>
          </a:prstGeom>
          <a:noFill/>
          <a:ln w="0">
            <a:noFill/>
          </a:ln>
        </p:spPr>
        <p:txBody>
          <a:bodyPr>
            <a:noAutofit/>
          </a:bodyPr>
          <a:lstStyle/>
          <a:p>
            <a:pPr>
              <a:buNone/>
              <a:defRPr sz="2475" b="1">
                <a:solidFill>
                  <a:srgbClr val="172D3B"/>
                </a:solidFill>
                <a:latin typeface="Arial"/>
                <a:ea typeface="Arial"/>
                <a:cs typeface="Arial"/>
              </a:defRPr>
            </a:pPr>
            <a:r>
              <a:rPr sz="2475" dirty="0">
                <a:solidFill>
                  <a:srgbClr val="172D3B"/>
                </a:solidFill>
                <a:latin typeface="Arial"/>
                <a:ea typeface="Arial"/>
                <a:cs typeface="Arial"/>
              </a:rPr>
              <a:t>A selected role and practice focus</a:t>
            </a:r>
          </a:p>
        </p:txBody>
      </p:sp>
      <p:sp>
        <p:nvSpPr>
          <p:cNvPr id="4" name="line-1">
            <a:extLst>
              <a:ext uri="{FF2B5EF4-FFF2-40B4-BE49-F238E27FC236}">
                <a16:creationId xmlns:a16="http://schemas.microsoft.com/office/drawing/2014/main" id="{52B376D5-DBDE-48A6-9F02-ADE613DEA4D2}"/>
              </a:ext>
            </a:extLst>
          </p:cNvPr>
          <p:cNvSpPr>
            <a:spLocks noGrp="1"/>
          </p:cNvSpPr>
          <p:nvPr/>
        </p:nvSpPr>
        <p:spPr>
          <a:xfrm>
            <a:off x="685800" y="312420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dirty="0">
                <a:solidFill>
                  <a:srgbClr val="172D3B"/>
                </a:solidFill>
                <a:latin typeface="Arial"/>
                <a:ea typeface="Arial"/>
                <a:cs typeface="Arial"/>
              </a:rPr>
              <a:t>A STAR</a:t>
            </a:r>
            <a:r>
              <a:rPr lang="en-GB" sz="2475" dirty="0">
                <a:solidFill>
                  <a:srgbClr val="172D3B"/>
                </a:solidFill>
                <a:latin typeface="Arial"/>
              </a:rPr>
              <a:t>(Situation, Task, Action, Result)</a:t>
            </a:r>
            <a:r>
              <a:rPr sz="2475" b="0" dirty="0">
                <a:solidFill>
                  <a:srgbClr val="172D3B"/>
                </a:solidFill>
                <a:latin typeface="Arial"/>
                <a:ea typeface="Arial"/>
                <a:cs typeface="Arial"/>
              </a:rPr>
              <a:t> outline grounded in supplied experience</a:t>
            </a:r>
          </a:p>
        </p:txBody>
      </p:sp>
      <p:sp>
        <p:nvSpPr>
          <p:cNvPr id="5" name="line-2">
            <a:extLst>
              <a:ext uri="{FF2B5EF4-FFF2-40B4-BE49-F238E27FC236}">
                <a16:creationId xmlns:a16="http://schemas.microsoft.com/office/drawing/2014/main" id="{7F40620A-BCE4-4FC1-80EA-70973EA37818}"/>
              </a:ext>
            </a:extLst>
          </p:cNvPr>
          <p:cNvSpPr>
            <a:spLocks noGrp="1"/>
          </p:cNvSpPr>
          <p:nvPr/>
        </p:nvSpPr>
        <p:spPr>
          <a:xfrm>
            <a:off x="694234" y="4052254"/>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dirty="0">
                <a:solidFill>
                  <a:srgbClr val="172D3B"/>
                </a:solidFill>
                <a:latin typeface="Arial"/>
                <a:ea typeface="Arial"/>
                <a:cs typeface="Arial"/>
              </a:rPr>
              <a:t>An honest gap when evidence is missing</a:t>
            </a:r>
          </a:p>
        </p:txBody>
      </p:sp>
      <p:sp>
        <p:nvSpPr>
          <p:cNvPr id="6" name="bottom-note">
            <a:extLst>
              <a:ext uri="{FF2B5EF4-FFF2-40B4-BE49-F238E27FC236}">
                <a16:creationId xmlns:a16="http://schemas.microsoft.com/office/drawing/2014/main" id="{7C8C11CA-9EDF-4239-8954-3B23AB83B6CF}"/>
              </a:ext>
            </a:extLst>
          </p:cNvPr>
          <p:cNvSpPr>
            <a:spLocks noGrp="1"/>
          </p:cNvSpPr>
          <p:nvPr/>
        </p:nvSpPr>
        <p:spPr>
          <a:xfrm>
            <a:off x="638175" y="5732785"/>
            <a:ext cx="10668000" cy="665187"/>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dirty="0">
                <a:solidFill>
                  <a:srgbClr val="006D77"/>
                </a:solidFill>
                <a:latin typeface="Arial"/>
                <a:ea typeface="Arial"/>
                <a:cs typeface="Arial"/>
              </a:rPr>
              <a:t>Fictional examples. Human review remains essential.</a:t>
            </a:r>
          </a:p>
        </p:txBody>
      </p:sp>
      <p:sp>
        <p:nvSpPr>
          <p:cNvPr id="7" name="footer">
            <a:extLst>
              <a:ext uri="{FF2B5EF4-FFF2-40B4-BE49-F238E27FC236}">
                <a16:creationId xmlns:a16="http://schemas.microsoft.com/office/drawing/2014/main" id="{D740F8F2-FF81-4752-AE92-D9CB0F41CAF5}"/>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2</a:t>
            </a:r>
          </a:p>
        </p:txBody>
      </p:sp>
      <p:sp>
        <p:nvSpPr>
          <p:cNvPr id="10" name="Rectangle 9">
            <a:extLst>
              <a:ext uri="{FF2B5EF4-FFF2-40B4-BE49-F238E27FC236}">
                <a16:creationId xmlns:a16="http://schemas.microsoft.com/office/drawing/2014/main" id="{C085513D-E59C-1EA8-47AE-27B9253CDF64}"/>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12" name="Rectangle 11">
            <a:extLst>
              <a:ext uri="{FF2B5EF4-FFF2-40B4-BE49-F238E27FC236}">
                <a16:creationId xmlns:a16="http://schemas.microsoft.com/office/drawing/2014/main" id="{F5649D77-3604-9BF1-B60B-A81AC5CD163E}"/>
              </a:ext>
            </a:extLst>
          </p:cNvPr>
          <p:cNvSpPr/>
          <p:nvPr/>
        </p:nvSpPr>
        <p:spPr>
          <a:xfrm>
            <a:off x="342298" y="5593016"/>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828248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E31CD507-BAD0-47B8-A367-60EBC42A626C}"/>
              </a:ext>
            </a:extLst>
          </p:cNvPr>
          <p:cNvSpPr>
            <a:spLocks noGrp="1"/>
          </p:cNvSpPr>
          <p:nvPr/>
        </p:nvSpPr>
        <p:spPr>
          <a:xfrm>
            <a:off x="615950" y="222504"/>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Your laptop, your agent</a:t>
            </a:r>
            <a:r>
              <a:rPr lang="pl-PL" sz="3600" b="1" dirty="0">
                <a:solidFill>
                  <a:srgbClr val="172D3B"/>
                </a:solidFill>
                <a:latin typeface="Arial"/>
                <a:ea typeface="Arial"/>
                <a:cs typeface="Arial"/>
              </a:rPr>
              <a:t> – our guildlines</a:t>
            </a:r>
            <a:endParaRPr sz="3600" b="1" dirty="0">
              <a:solidFill>
                <a:srgbClr val="172D3B"/>
              </a:solidFill>
              <a:latin typeface="Arial"/>
              <a:ea typeface="Arial"/>
              <a:cs typeface="Arial"/>
            </a:endParaRPr>
          </a:p>
        </p:txBody>
      </p:sp>
      <p:sp>
        <p:nvSpPr>
          <p:cNvPr id="2" name="line-0">
            <a:extLst>
              <a:ext uri="{FF2B5EF4-FFF2-40B4-BE49-F238E27FC236}">
                <a16:creationId xmlns:a16="http://schemas.microsoft.com/office/drawing/2014/main" id="{AC0CC3A5-7C4C-4993-819B-A474FA93EA55}"/>
              </a:ext>
            </a:extLst>
          </p:cNvPr>
          <p:cNvSpPr>
            <a:spLocks noGrp="1"/>
          </p:cNvSpPr>
          <p:nvPr/>
        </p:nvSpPr>
        <p:spPr>
          <a:xfrm>
            <a:off x="642144" y="1588666"/>
            <a:ext cx="5095875" cy="762000"/>
          </a:xfrm>
          <a:prstGeom prst="rect">
            <a:avLst/>
          </a:prstGeom>
          <a:noFill/>
          <a:ln w="0">
            <a:noFill/>
          </a:ln>
        </p:spPr>
        <p:txBody>
          <a:bodyPr>
            <a:noAutofit/>
          </a:bodyPr>
          <a:lstStyle/>
          <a:p>
            <a:pPr>
              <a:buNone/>
              <a:defRPr sz="2475" b="1">
                <a:solidFill>
                  <a:srgbClr val="172D3B"/>
                </a:solidFill>
                <a:latin typeface="Arial"/>
                <a:ea typeface="Arial"/>
                <a:cs typeface="Arial"/>
              </a:defRPr>
            </a:pPr>
            <a:r>
              <a:rPr lang="pl-PL" sz="2475" b="1" dirty="0">
                <a:solidFill>
                  <a:srgbClr val="172D3B"/>
                </a:solidFill>
                <a:latin typeface="Arial"/>
                <a:ea typeface="Arial"/>
                <a:cs typeface="Arial"/>
              </a:rPr>
              <a:t>More than 25</a:t>
            </a:r>
            <a:r>
              <a:rPr sz="2475" b="1" dirty="0">
                <a:solidFill>
                  <a:srgbClr val="172D3B"/>
                </a:solidFill>
                <a:latin typeface="Arial"/>
                <a:ea typeface="Arial"/>
                <a:cs typeface="Arial"/>
              </a:rPr>
              <a:t> participants, each on her own laptop</a:t>
            </a:r>
          </a:p>
        </p:txBody>
      </p:sp>
      <p:sp>
        <p:nvSpPr>
          <p:cNvPr id="3" name="line-1">
            <a:extLst>
              <a:ext uri="{FF2B5EF4-FFF2-40B4-BE49-F238E27FC236}">
                <a16:creationId xmlns:a16="http://schemas.microsoft.com/office/drawing/2014/main" id="{3E851D32-1FC7-4C7E-BBF7-875DD195716A}"/>
              </a:ext>
            </a:extLst>
          </p:cNvPr>
          <p:cNvSpPr>
            <a:spLocks noGrp="1"/>
          </p:cNvSpPr>
          <p:nvPr/>
        </p:nvSpPr>
        <p:spPr>
          <a:xfrm>
            <a:off x="642144" y="2407816"/>
            <a:ext cx="5095875" cy="762000"/>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dirty="0">
                <a:solidFill>
                  <a:srgbClr val="172D3B"/>
                </a:solidFill>
                <a:latin typeface="Arial"/>
                <a:ea typeface="Arial"/>
                <a:cs typeface="Arial"/>
              </a:rPr>
              <a:t>Fictional data throughout the workshop</a:t>
            </a:r>
          </a:p>
        </p:txBody>
      </p:sp>
      <p:sp>
        <p:nvSpPr>
          <p:cNvPr id="4" name="line-2">
            <a:extLst>
              <a:ext uri="{FF2B5EF4-FFF2-40B4-BE49-F238E27FC236}">
                <a16:creationId xmlns:a16="http://schemas.microsoft.com/office/drawing/2014/main" id="{7024B2A7-5E96-4DCB-8019-361C9B28EF39}"/>
              </a:ext>
            </a:extLst>
          </p:cNvPr>
          <p:cNvSpPr>
            <a:spLocks noGrp="1"/>
          </p:cNvSpPr>
          <p:nvPr/>
        </p:nvSpPr>
        <p:spPr>
          <a:xfrm>
            <a:off x="642144" y="3226966"/>
            <a:ext cx="5095875" cy="762000"/>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dirty="0">
                <a:solidFill>
                  <a:srgbClr val="172D3B"/>
                </a:solidFill>
                <a:latin typeface="Arial"/>
                <a:ea typeface="Arial"/>
                <a:cs typeface="Arial"/>
              </a:rPr>
              <a:t>Private keys stay on their owner's laptop</a:t>
            </a:r>
          </a:p>
        </p:txBody>
      </p:sp>
      <p:sp>
        <p:nvSpPr>
          <p:cNvPr id="5" name="line-3">
            <a:extLst>
              <a:ext uri="{FF2B5EF4-FFF2-40B4-BE49-F238E27FC236}">
                <a16:creationId xmlns:a16="http://schemas.microsoft.com/office/drawing/2014/main" id="{BFF12745-D789-48D2-8906-95A85661F37C}"/>
              </a:ext>
            </a:extLst>
          </p:cNvPr>
          <p:cNvSpPr>
            <a:spLocks noGrp="1"/>
          </p:cNvSpPr>
          <p:nvPr/>
        </p:nvSpPr>
        <p:spPr>
          <a:xfrm>
            <a:off x="642144" y="4046116"/>
            <a:ext cx="5095875" cy="762000"/>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Your own notebook, with optional peer help</a:t>
            </a:r>
          </a:p>
        </p:txBody>
      </p:sp>
      <p:sp>
        <p:nvSpPr>
          <p:cNvPr id="6" name="bottom-note">
            <a:extLst>
              <a:ext uri="{FF2B5EF4-FFF2-40B4-BE49-F238E27FC236}">
                <a16:creationId xmlns:a16="http://schemas.microsoft.com/office/drawing/2014/main" id="{12B84EF0-68EC-43DD-A049-A0D0F9A4AC1C}"/>
              </a:ext>
            </a:extLst>
          </p:cNvPr>
          <p:cNvSpPr>
            <a:spLocks noGrp="1"/>
          </p:cNvSpPr>
          <p:nvPr/>
        </p:nvSpPr>
        <p:spPr>
          <a:xfrm>
            <a:off x="615950" y="5682996"/>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dirty="0">
                <a:solidFill>
                  <a:srgbClr val="006D77"/>
                </a:solidFill>
                <a:latin typeface="Arial"/>
                <a:ea typeface="Arial"/>
                <a:cs typeface="Arial"/>
              </a:rPr>
              <a:t>No applications, candidate rankings or external messages</a:t>
            </a:r>
          </a:p>
        </p:txBody>
      </p:sp>
      <p:sp>
        <p:nvSpPr>
          <p:cNvPr id="7" name="footer">
            <a:extLst>
              <a:ext uri="{FF2B5EF4-FFF2-40B4-BE49-F238E27FC236}">
                <a16:creationId xmlns:a16="http://schemas.microsoft.com/office/drawing/2014/main" id="{961F22D6-9A4A-4F5D-BA28-ECAD42113901}"/>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3</a:t>
            </a:r>
          </a:p>
        </p:txBody>
      </p:sp>
      <p:pic>
        <p:nvPicPr>
          <p:cNvPr id="17" name="Picture 16"/>
          <p:cNvPicPr>
            <a:picLocks noChangeAspect="1"/>
          </p:cNvPicPr>
          <p:nvPr/>
        </p:nvPicPr>
        <p:blipFill>
          <a:blip r:embed="rId3"/>
          <a:stretch/>
        </p:blipFill>
        <p:spPr>
          <a:xfrm>
            <a:off x="6248400" y="1619250"/>
            <a:ext cx="5029200" cy="3771900"/>
          </a:xfrm>
          <a:prstGeom prst="rect">
            <a:avLst/>
          </a:prstGeom>
        </p:spPr>
      </p:pic>
      <p:sp>
        <p:nvSpPr>
          <p:cNvPr id="10" name="Rectangle 9">
            <a:extLst>
              <a:ext uri="{FF2B5EF4-FFF2-40B4-BE49-F238E27FC236}">
                <a16:creationId xmlns:a16="http://schemas.microsoft.com/office/drawing/2014/main" id="{9EF268C4-95AD-8CC4-23C1-7D3C77F702C0}"/>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12" name="Rectangle 11">
            <a:extLst>
              <a:ext uri="{FF2B5EF4-FFF2-40B4-BE49-F238E27FC236}">
                <a16:creationId xmlns:a16="http://schemas.microsoft.com/office/drawing/2014/main" id="{5BB33653-4C5F-1158-3911-9CEAF772039A}"/>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930732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8DD0D2A8-B134-4B41-8942-2D8CE5B7748A}"/>
              </a:ext>
            </a:extLst>
          </p:cNvPr>
          <p:cNvSpPr>
            <a:spLocks noGrp="1"/>
          </p:cNvSpPr>
          <p:nvPr/>
        </p:nvSpPr>
        <p:spPr>
          <a:xfrm>
            <a:off x="623094" y="266700"/>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A short history of the ideas</a:t>
            </a:r>
          </a:p>
        </p:txBody>
      </p:sp>
      <p:graphicFrame>
        <p:nvGraphicFramePr>
          <p:cNvPr id="8" name="Table 7"/>
          <p:cNvGraphicFramePr/>
          <p:nvPr>
            <p:extLst>
              <p:ext uri="{D42A27DB-BD31-4B8C-83A1-F6EECF244321}">
                <p14:modId xmlns:p14="http://schemas.microsoft.com/office/powerpoint/2010/main" val="3310212595"/>
              </p:ext>
            </p:extLst>
          </p:nvPr>
        </p:nvGraphicFramePr>
        <p:xfrm>
          <a:off x="623094" y="1047145"/>
          <a:ext cx="10820400" cy="4549140"/>
        </p:xfrm>
        <a:graphic>
          <a:graphicData uri="http://schemas.openxmlformats.org/drawingml/2006/table">
            <a:tbl>
              <a:tblPr/>
              <a:tblGrid>
                <a:gridCol w="1666875">
                  <a:extLst>
                    <a:ext uri="{9D8B030D-6E8A-4147-A177-3AD203B41FA5}">
                      <a16:colId xmlns:a16="http://schemas.microsoft.com/office/drawing/2014/main" val="20000"/>
                    </a:ext>
                  </a:extLst>
                </a:gridCol>
                <a:gridCol w="9153525">
                  <a:extLst>
                    <a:ext uri="{9D8B030D-6E8A-4147-A177-3AD203B41FA5}">
                      <a16:colId xmlns:a16="http://schemas.microsoft.com/office/drawing/2014/main" val="20001"/>
                    </a:ext>
                  </a:extLst>
                </a:gridCol>
              </a:tblGrid>
              <a:tr h="704850">
                <a:tc>
                  <a:txBody>
                    <a:bodyPr/>
                    <a:lstStyle/>
                    <a:p>
                      <a:r>
                        <a:rPr sz="2025" b="1">
                          <a:solidFill>
                            <a:srgbClr val="172D3B"/>
                          </a:solidFill>
                          <a:latin typeface="Arial"/>
                          <a:ea typeface="Arial"/>
                          <a:cs typeface="Arial"/>
                        </a:rPr>
                        <a:t>Year</a:t>
                      </a:r>
                    </a:p>
                  </a:txBody>
                  <a:tcPr>
                    <a:solidFill>
                      <a:srgbClr val="DCECEB"/>
                    </a:solidFill>
                  </a:tcPr>
                </a:tc>
                <a:tc>
                  <a:txBody>
                    <a:bodyPr/>
                    <a:lstStyle/>
                    <a:p>
                      <a:r>
                        <a:rPr sz="2025" b="1">
                          <a:solidFill>
                            <a:srgbClr val="172D3B"/>
                          </a:solidFill>
                          <a:latin typeface="Arial"/>
                          <a:ea typeface="Arial"/>
                          <a:cs typeface="Arial"/>
                        </a:rPr>
                        <a:t>Selected milestone</a:t>
                      </a:r>
                    </a:p>
                  </a:txBody>
                  <a:tcPr>
                    <a:solidFill>
                      <a:srgbClr val="DCECEB"/>
                    </a:solidFill>
                  </a:tcPr>
                </a:tc>
                <a:extLst>
                  <a:ext uri="{0D108BD9-81ED-4DB2-BD59-A6C34878D82A}">
                    <a16:rowId xmlns:a16="http://schemas.microsoft.com/office/drawing/2014/main" val="10000"/>
                  </a:ext>
                </a:extLst>
              </a:tr>
              <a:tr h="704850">
                <a:tc>
                  <a:txBody>
                    <a:bodyPr/>
                    <a:lstStyle/>
                    <a:p>
                      <a:r>
                        <a:rPr sz="2025" b="0">
                          <a:solidFill>
                            <a:srgbClr val="172D3B"/>
                          </a:solidFill>
                          <a:latin typeface="Arial"/>
                          <a:ea typeface="Arial"/>
                          <a:cs typeface="Arial"/>
                        </a:rPr>
                        <a:t>1956</a:t>
                      </a:r>
                    </a:p>
                  </a:txBody>
                  <a:tcPr>
                    <a:solidFill>
                      <a:srgbClr val="FAFAF7"/>
                    </a:solidFill>
                  </a:tcPr>
                </a:tc>
                <a:tc>
                  <a:txBody>
                    <a:bodyPr/>
                    <a:lstStyle/>
                    <a:p>
                      <a:r>
                        <a:rPr sz="2025" b="0">
                          <a:solidFill>
                            <a:srgbClr val="172D3B"/>
                          </a:solidFill>
                          <a:latin typeface="Arial"/>
                          <a:ea typeface="Arial"/>
                          <a:cs typeface="Arial"/>
                        </a:rPr>
                        <a:t>Dartmouth summer project: AI as a research field</a:t>
                      </a:r>
                    </a:p>
                  </a:txBody>
                  <a:tcPr>
                    <a:solidFill>
                      <a:srgbClr val="FAFAF7"/>
                    </a:solidFill>
                  </a:tcPr>
                </a:tc>
                <a:extLst>
                  <a:ext uri="{0D108BD9-81ED-4DB2-BD59-A6C34878D82A}">
                    <a16:rowId xmlns:a16="http://schemas.microsoft.com/office/drawing/2014/main" val="10001"/>
                  </a:ext>
                </a:extLst>
              </a:tr>
              <a:tr h="704850">
                <a:tc>
                  <a:txBody>
                    <a:bodyPr/>
                    <a:lstStyle/>
                    <a:p>
                      <a:r>
                        <a:rPr sz="2025" b="0" dirty="0">
                          <a:solidFill>
                            <a:srgbClr val="172D3B"/>
                          </a:solidFill>
                          <a:latin typeface="Arial"/>
                          <a:ea typeface="Arial"/>
                          <a:cs typeface="Arial"/>
                        </a:rPr>
                        <a:t>2017</a:t>
                      </a:r>
                    </a:p>
                  </a:txBody>
                  <a:tcPr>
                    <a:solidFill>
                      <a:srgbClr val="FAFAF7"/>
                    </a:solidFill>
                  </a:tcPr>
                </a:tc>
                <a:tc>
                  <a:txBody>
                    <a:bodyPr/>
                    <a:lstStyle/>
                    <a:p>
                      <a:r>
                        <a:rPr sz="2025" b="0" dirty="0">
                          <a:solidFill>
                            <a:srgbClr val="172D3B"/>
                          </a:solidFill>
                          <a:latin typeface="Arial"/>
                          <a:ea typeface="Arial"/>
                          <a:cs typeface="Arial"/>
                        </a:rPr>
                        <a:t>Transformer: attention-based sequence modelling</a:t>
                      </a:r>
                    </a:p>
                  </a:txBody>
                  <a:tcPr>
                    <a:solidFill>
                      <a:srgbClr val="FAFAF7"/>
                    </a:solidFill>
                  </a:tcPr>
                </a:tc>
                <a:extLst>
                  <a:ext uri="{0D108BD9-81ED-4DB2-BD59-A6C34878D82A}">
                    <a16:rowId xmlns:a16="http://schemas.microsoft.com/office/drawing/2014/main" val="10002"/>
                  </a:ext>
                </a:extLst>
              </a:tr>
              <a:tr h="704850">
                <a:tc>
                  <a:txBody>
                    <a:bodyPr/>
                    <a:lstStyle/>
                    <a:p>
                      <a:r>
                        <a:rPr sz="2025" b="0" dirty="0">
                          <a:solidFill>
                            <a:srgbClr val="172D3B"/>
                          </a:solidFill>
                          <a:latin typeface="Arial"/>
                          <a:ea typeface="Arial"/>
                          <a:cs typeface="Arial"/>
                        </a:rPr>
                        <a:t>202</a:t>
                      </a:r>
                      <a:r>
                        <a:rPr lang="pl-PL" sz="2025" b="0" dirty="0">
                          <a:solidFill>
                            <a:srgbClr val="172D3B"/>
                          </a:solidFill>
                          <a:latin typeface="Arial"/>
                          <a:ea typeface="Arial"/>
                          <a:cs typeface="Arial"/>
                        </a:rPr>
                        <a:t>2</a:t>
                      </a:r>
                      <a:endParaRPr sz="2025" b="0" dirty="0">
                        <a:solidFill>
                          <a:srgbClr val="172D3B"/>
                        </a:solidFill>
                        <a:latin typeface="Arial"/>
                        <a:ea typeface="Arial"/>
                        <a:cs typeface="Arial"/>
                      </a:endParaRPr>
                    </a:p>
                  </a:txBody>
                  <a:tcPr>
                    <a:solidFill>
                      <a:srgbClr val="FAFAF7"/>
                    </a:solidFill>
                  </a:tcPr>
                </a:tc>
                <a:tc>
                  <a:txBody>
                    <a:bodyPr/>
                    <a:lstStyle/>
                    <a:p>
                      <a:r>
                        <a:rPr lang="pl-PL" sz="2025" b="0" dirty="0">
                          <a:solidFill>
                            <a:srgbClr val="172D3B"/>
                          </a:solidFill>
                          <a:latin typeface="Arial"/>
                          <a:ea typeface="Arial"/>
                          <a:cs typeface="Arial"/>
                        </a:rPr>
                        <a:t>Chatbots – ChatGPT3 text in-text out (brainstorming ideas, general single aswer)</a:t>
                      </a:r>
                      <a:endParaRPr sz="2025" b="0" dirty="0">
                        <a:solidFill>
                          <a:srgbClr val="172D3B"/>
                        </a:solidFill>
                        <a:latin typeface="Arial"/>
                        <a:ea typeface="Arial"/>
                        <a:cs typeface="Arial"/>
                      </a:endParaRPr>
                    </a:p>
                  </a:txBody>
                  <a:tcPr>
                    <a:solidFill>
                      <a:srgbClr val="FAFAF7"/>
                    </a:solidFill>
                  </a:tcPr>
                </a:tc>
                <a:extLst>
                  <a:ext uri="{0D108BD9-81ED-4DB2-BD59-A6C34878D82A}">
                    <a16:rowId xmlns:a16="http://schemas.microsoft.com/office/drawing/2014/main" val="10003"/>
                  </a:ext>
                </a:extLst>
              </a:tr>
              <a:tr h="704850">
                <a:tc>
                  <a:txBody>
                    <a:bodyPr/>
                    <a:lstStyle/>
                    <a:p>
                      <a:r>
                        <a:rPr sz="2025" b="0" dirty="0">
                          <a:solidFill>
                            <a:srgbClr val="172D3B"/>
                          </a:solidFill>
                          <a:latin typeface="Arial"/>
                          <a:ea typeface="Arial"/>
                          <a:cs typeface="Arial"/>
                        </a:rPr>
                        <a:t>202</a:t>
                      </a:r>
                      <a:r>
                        <a:rPr lang="pl-PL" sz="2025" b="0" dirty="0">
                          <a:solidFill>
                            <a:srgbClr val="172D3B"/>
                          </a:solidFill>
                          <a:latin typeface="Arial"/>
                          <a:ea typeface="Arial"/>
                          <a:cs typeface="Arial"/>
                        </a:rPr>
                        <a:t>3</a:t>
                      </a:r>
                      <a:endParaRPr sz="2025" b="0" dirty="0">
                        <a:solidFill>
                          <a:srgbClr val="172D3B"/>
                        </a:solidFill>
                        <a:latin typeface="Arial"/>
                        <a:ea typeface="Arial"/>
                        <a:cs typeface="Arial"/>
                      </a:endParaRPr>
                    </a:p>
                  </a:txBody>
                  <a:tcPr>
                    <a:solidFill>
                      <a:srgbClr val="FAFAF7"/>
                    </a:solidFill>
                  </a:tcPr>
                </a:tc>
                <a:tc>
                  <a:txBody>
                    <a:bodyPr/>
                    <a:lstStyle/>
                    <a:p>
                      <a:r>
                        <a:rPr lang="en-GB" sz="2025" b="0" dirty="0">
                          <a:solidFill>
                            <a:srgbClr val="172D3B"/>
                          </a:solidFill>
                          <a:latin typeface="Arial"/>
                          <a:ea typeface="Arial"/>
                          <a:cs typeface="Arial"/>
                        </a:rPr>
                        <a:t>RAG: generation with retrieved documents</a:t>
                      </a:r>
                      <a:r>
                        <a:rPr lang="pl-PL" sz="2025" b="0" dirty="0">
                          <a:solidFill>
                            <a:srgbClr val="172D3B"/>
                          </a:solidFill>
                          <a:latin typeface="Arial"/>
                          <a:ea typeface="Arial"/>
                          <a:cs typeface="Arial"/>
                        </a:rPr>
                        <a:t> when domain knowlage matters – minimalize hallucinations, domuments db, runbooks etc</a:t>
                      </a:r>
                      <a:endParaRPr lang="en-GB" sz="2025" b="0" dirty="0">
                        <a:solidFill>
                          <a:srgbClr val="172D3B"/>
                        </a:solidFill>
                        <a:latin typeface="Arial"/>
                        <a:ea typeface="Arial"/>
                        <a:cs typeface="Arial"/>
                      </a:endParaRPr>
                    </a:p>
                  </a:txBody>
                  <a:tcPr>
                    <a:solidFill>
                      <a:srgbClr val="FAFAF7"/>
                    </a:solidFill>
                  </a:tcPr>
                </a:tc>
                <a:extLst>
                  <a:ext uri="{0D108BD9-81ED-4DB2-BD59-A6C34878D82A}">
                    <a16:rowId xmlns:a16="http://schemas.microsoft.com/office/drawing/2014/main" val="10004"/>
                  </a:ext>
                </a:extLst>
              </a:tr>
              <a:tr h="704850">
                <a:tc>
                  <a:txBody>
                    <a:bodyPr/>
                    <a:lstStyle/>
                    <a:p>
                      <a:r>
                        <a:rPr lang="pl-PL" sz="2025" b="0" dirty="0">
                          <a:solidFill>
                            <a:srgbClr val="172D3B"/>
                          </a:solidFill>
                          <a:latin typeface="Arial"/>
                          <a:ea typeface="Arial"/>
                          <a:cs typeface="Arial"/>
                        </a:rPr>
                        <a:t>2024-2026 </a:t>
                      </a:r>
                      <a:endParaRPr sz="2025" b="0" dirty="0">
                        <a:solidFill>
                          <a:srgbClr val="172D3B"/>
                        </a:solidFill>
                        <a:latin typeface="Arial"/>
                        <a:ea typeface="Arial"/>
                        <a:cs typeface="Arial"/>
                      </a:endParaRPr>
                    </a:p>
                  </a:txBody>
                  <a:tcPr>
                    <a:solidFill>
                      <a:srgbClr val="FAFAF7"/>
                    </a:solidFill>
                  </a:tcPr>
                </a:tc>
                <a:tc>
                  <a:txBody>
                    <a:bodyPr/>
                    <a:lstStyle/>
                    <a:p>
                      <a:r>
                        <a:rPr lang="pl-PL" sz="2025" b="0" dirty="0">
                          <a:solidFill>
                            <a:srgbClr val="172D3B"/>
                          </a:solidFill>
                          <a:latin typeface="Arial"/>
                          <a:ea typeface="Arial"/>
                          <a:cs typeface="Arial"/>
                        </a:rPr>
                        <a:t>Agents –an autonomous decisions system – computer software base on model AI- makes decision, takes actions, reaches goals; loops, workflows, graphs,- Gemini, ChatGPT-Astra,Claude Opus 4.8</a:t>
                      </a:r>
                      <a:endParaRPr lang="en-GB" sz="2025" b="0" dirty="0">
                        <a:solidFill>
                          <a:srgbClr val="172D3B"/>
                        </a:solidFill>
                        <a:latin typeface="Arial"/>
                        <a:ea typeface="Arial"/>
                        <a:cs typeface="Arial"/>
                      </a:endParaRPr>
                    </a:p>
                  </a:txBody>
                  <a:tcPr>
                    <a:solidFill>
                      <a:srgbClr val="FAFAF7"/>
                    </a:solidFill>
                  </a:tcPr>
                </a:tc>
                <a:extLst>
                  <a:ext uri="{0D108BD9-81ED-4DB2-BD59-A6C34878D82A}">
                    <a16:rowId xmlns:a16="http://schemas.microsoft.com/office/drawing/2014/main" val="419218336"/>
                  </a:ext>
                </a:extLst>
              </a:tr>
            </a:tbl>
          </a:graphicData>
        </a:graphic>
      </p:graphicFrame>
      <p:sp>
        <p:nvSpPr>
          <p:cNvPr id="3" name="bottom-note">
            <a:extLst>
              <a:ext uri="{FF2B5EF4-FFF2-40B4-BE49-F238E27FC236}">
                <a16:creationId xmlns:a16="http://schemas.microsoft.com/office/drawing/2014/main" id="{F3796572-C705-4B59-AC3E-40BFB9CE997B}"/>
              </a:ext>
            </a:extLst>
          </p:cNvPr>
          <p:cNvSpPr>
            <a:spLocks noGrp="1"/>
          </p:cNvSpPr>
          <p:nvPr/>
        </p:nvSpPr>
        <p:spPr>
          <a:xfrm>
            <a:off x="551384" y="5810855"/>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dirty="0">
                <a:solidFill>
                  <a:srgbClr val="006D77"/>
                </a:solidFill>
                <a:latin typeface="Arial"/>
                <a:ea typeface="Arial"/>
                <a:cs typeface="Arial"/>
              </a:rPr>
              <a:t>Agent research predates LLMs. These are milestones, not invention dates.</a:t>
            </a:r>
          </a:p>
        </p:txBody>
      </p:sp>
      <p:sp>
        <p:nvSpPr>
          <p:cNvPr id="4" name="footer">
            <a:extLst>
              <a:ext uri="{FF2B5EF4-FFF2-40B4-BE49-F238E27FC236}">
                <a16:creationId xmlns:a16="http://schemas.microsoft.com/office/drawing/2014/main" id="{A412E0E2-F54D-4904-99BA-6DB193E240BA}"/>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4</a:t>
            </a:r>
          </a:p>
        </p:txBody>
      </p:sp>
      <p:sp>
        <p:nvSpPr>
          <p:cNvPr id="6" name="Rectangle 5">
            <a:extLst>
              <a:ext uri="{FF2B5EF4-FFF2-40B4-BE49-F238E27FC236}">
                <a16:creationId xmlns:a16="http://schemas.microsoft.com/office/drawing/2014/main" id="{2940BA4D-3C8D-F62E-4632-6C32434FE6F3}"/>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9" name="Rectangle 8">
            <a:extLst>
              <a:ext uri="{FF2B5EF4-FFF2-40B4-BE49-F238E27FC236}">
                <a16:creationId xmlns:a16="http://schemas.microsoft.com/office/drawing/2014/main" id="{313F730A-76E2-CF72-DE75-04FE191E036F}"/>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1302192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11E5F464-5AFC-4568-81ED-EB9D6FE1AD78}"/>
              </a:ext>
            </a:extLst>
          </p:cNvPr>
          <p:cNvSpPr>
            <a:spLocks noGrp="1"/>
          </p:cNvSpPr>
          <p:nvPr/>
        </p:nvSpPr>
        <p:spPr>
          <a:xfrm>
            <a:off x="609600" y="222504"/>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Training and using a model</a:t>
            </a:r>
          </a:p>
        </p:txBody>
      </p:sp>
      <p:graphicFrame>
        <p:nvGraphicFramePr>
          <p:cNvPr id="9" name="Table 8"/>
          <p:cNvGraphicFramePr/>
          <p:nvPr/>
        </p:nvGraphicFramePr>
        <p:xfrm>
          <a:off x="685800" y="1752600"/>
          <a:ext cx="7429500" cy="3524252"/>
        </p:xfrm>
        <a:graphic>
          <a:graphicData uri="http://schemas.openxmlformats.org/drawingml/2006/table">
            <a:tbl>
              <a:tblPr/>
              <a:tblGrid>
                <a:gridCol w="1771650">
                  <a:extLst>
                    <a:ext uri="{9D8B030D-6E8A-4147-A177-3AD203B41FA5}">
                      <a16:colId xmlns:a16="http://schemas.microsoft.com/office/drawing/2014/main" val="20000"/>
                    </a:ext>
                  </a:extLst>
                </a:gridCol>
                <a:gridCol w="390525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tblGrid>
              <a:tr h="881063">
                <a:tc>
                  <a:txBody>
                    <a:bodyPr/>
                    <a:lstStyle/>
                    <a:p>
                      <a:r>
                        <a:rPr sz="1800" b="1">
                          <a:solidFill>
                            <a:srgbClr val="172D3B"/>
                          </a:solidFill>
                          <a:latin typeface="Arial"/>
                          <a:ea typeface="Arial"/>
                          <a:cs typeface="Arial"/>
                        </a:rPr>
                        <a:t>Stage</a:t>
                      </a:r>
                    </a:p>
                  </a:txBody>
                  <a:tcPr>
                    <a:solidFill>
                      <a:srgbClr val="DCECEB"/>
                    </a:solidFill>
                  </a:tcPr>
                </a:tc>
                <a:tc>
                  <a:txBody>
                    <a:bodyPr/>
                    <a:lstStyle/>
                    <a:p>
                      <a:r>
                        <a:rPr sz="1800" b="1">
                          <a:solidFill>
                            <a:srgbClr val="172D3B"/>
                          </a:solidFill>
                          <a:latin typeface="Arial"/>
                          <a:ea typeface="Arial"/>
                          <a:cs typeface="Arial"/>
                        </a:rPr>
                        <a:t>What happens</a:t>
                      </a:r>
                    </a:p>
                  </a:txBody>
                  <a:tcPr>
                    <a:solidFill>
                      <a:srgbClr val="DCECEB"/>
                    </a:solidFill>
                  </a:tcPr>
                </a:tc>
                <a:tc>
                  <a:txBody>
                    <a:bodyPr/>
                    <a:lstStyle/>
                    <a:p>
                      <a:r>
                        <a:rPr sz="1800" b="1">
                          <a:solidFill>
                            <a:srgbClr val="172D3B"/>
                          </a:solidFill>
                          <a:latin typeface="Arial"/>
                          <a:ea typeface="Arial"/>
                          <a:cs typeface="Arial"/>
                        </a:rPr>
                        <a:t>Model weights</a:t>
                      </a:r>
                    </a:p>
                  </a:txBody>
                  <a:tcPr>
                    <a:solidFill>
                      <a:srgbClr val="DCECEB"/>
                    </a:solidFill>
                  </a:tcPr>
                </a:tc>
                <a:extLst>
                  <a:ext uri="{0D108BD9-81ED-4DB2-BD59-A6C34878D82A}">
                    <a16:rowId xmlns:a16="http://schemas.microsoft.com/office/drawing/2014/main" val="10000"/>
                  </a:ext>
                </a:extLst>
              </a:tr>
              <a:tr h="881063">
                <a:tc>
                  <a:txBody>
                    <a:bodyPr/>
                    <a:lstStyle/>
                    <a:p>
                      <a:r>
                        <a:rPr sz="1800" b="0">
                          <a:solidFill>
                            <a:srgbClr val="172D3B"/>
                          </a:solidFill>
                          <a:latin typeface="Arial"/>
                          <a:ea typeface="Arial"/>
                          <a:cs typeface="Arial"/>
                        </a:rPr>
                        <a:t>Pre-training</a:t>
                      </a:r>
                    </a:p>
                  </a:txBody>
                  <a:tcPr>
                    <a:solidFill>
                      <a:srgbClr val="FAFAF7"/>
                    </a:solidFill>
                  </a:tcPr>
                </a:tc>
                <a:tc>
                  <a:txBody>
                    <a:bodyPr/>
                    <a:lstStyle/>
                    <a:p>
                      <a:r>
                        <a:rPr sz="1800" b="0">
                          <a:solidFill>
                            <a:srgbClr val="172D3B"/>
                          </a:solidFill>
                          <a:latin typeface="Arial"/>
                          <a:ea typeface="Arial"/>
                          <a:cs typeface="Arial"/>
                        </a:rPr>
                        <a:t>Learn patterns from many examples</a:t>
                      </a:r>
                    </a:p>
                  </a:txBody>
                  <a:tcPr>
                    <a:solidFill>
                      <a:srgbClr val="FAFAF7"/>
                    </a:solidFill>
                  </a:tcPr>
                </a:tc>
                <a:tc>
                  <a:txBody>
                    <a:bodyPr/>
                    <a:lstStyle/>
                    <a:p>
                      <a:r>
                        <a:rPr sz="1800" b="0">
                          <a:solidFill>
                            <a:srgbClr val="172D3B"/>
                          </a:solidFill>
                          <a:latin typeface="Arial"/>
                          <a:ea typeface="Arial"/>
                          <a:cs typeface="Arial"/>
                        </a:rPr>
                        <a:t>Change</a:t>
                      </a:r>
                    </a:p>
                  </a:txBody>
                  <a:tcPr>
                    <a:solidFill>
                      <a:srgbClr val="FAFAF7"/>
                    </a:solidFill>
                  </a:tcPr>
                </a:tc>
                <a:extLst>
                  <a:ext uri="{0D108BD9-81ED-4DB2-BD59-A6C34878D82A}">
                    <a16:rowId xmlns:a16="http://schemas.microsoft.com/office/drawing/2014/main" val="10001"/>
                  </a:ext>
                </a:extLst>
              </a:tr>
              <a:tr h="881063">
                <a:tc>
                  <a:txBody>
                    <a:bodyPr/>
                    <a:lstStyle/>
                    <a:p>
                      <a:r>
                        <a:rPr sz="1800" b="0">
                          <a:solidFill>
                            <a:srgbClr val="172D3B"/>
                          </a:solidFill>
                          <a:latin typeface="Arial"/>
                          <a:ea typeface="Arial"/>
                          <a:cs typeface="Arial"/>
                        </a:rPr>
                        <a:t>Post-training</a:t>
                      </a:r>
                    </a:p>
                  </a:txBody>
                  <a:tcPr>
                    <a:solidFill>
                      <a:srgbClr val="FAFAF7"/>
                    </a:solidFill>
                  </a:tcPr>
                </a:tc>
                <a:tc>
                  <a:txBody>
                    <a:bodyPr/>
                    <a:lstStyle/>
                    <a:p>
                      <a:r>
                        <a:rPr sz="1800" b="0">
                          <a:solidFill>
                            <a:srgbClr val="172D3B"/>
                          </a:solidFill>
                          <a:latin typeface="Arial"/>
                          <a:ea typeface="Arial"/>
                          <a:cs typeface="Arial"/>
                        </a:rPr>
                        <a:t>Improve behaviour with examples or feedback</a:t>
                      </a:r>
                    </a:p>
                  </a:txBody>
                  <a:tcPr>
                    <a:solidFill>
                      <a:srgbClr val="FAFAF7"/>
                    </a:solidFill>
                  </a:tcPr>
                </a:tc>
                <a:tc>
                  <a:txBody>
                    <a:bodyPr/>
                    <a:lstStyle/>
                    <a:p>
                      <a:r>
                        <a:rPr sz="1800" b="0">
                          <a:solidFill>
                            <a:srgbClr val="172D3B"/>
                          </a:solidFill>
                          <a:latin typeface="Arial"/>
                          <a:ea typeface="Arial"/>
                          <a:cs typeface="Arial"/>
                        </a:rPr>
                        <a:t>Change</a:t>
                      </a:r>
                    </a:p>
                  </a:txBody>
                  <a:tcPr>
                    <a:solidFill>
                      <a:srgbClr val="FAFAF7"/>
                    </a:solidFill>
                  </a:tcPr>
                </a:tc>
                <a:extLst>
                  <a:ext uri="{0D108BD9-81ED-4DB2-BD59-A6C34878D82A}">
                    <a16:rowId xmlns:a16="http://schemas.microsoft.com/office/drawing/2014/main" val="10002"/>
                  </a:ext>
                </a:extLst>
              </a:tr>
              <a:tr h="881063">
                <a:tc>
                  <a:txBody>
                    <a:bodyPr/>
                    <a:lstStyle/>
                    <a:p>
                      <a:r>
                        <a:rPr sz="1800" b="0">
                          <a:solidFill>
                            <a:srgbClr val="172D3B"/>
                          </a:solidFill>
                          <a:latin typeface="Arial"/>
                          <a:ea typeface="Arial"/>
                          <a:cs typeface="Arial"/>
                        </a:rPr>
                        <a:t>Inference</a:t>
                      </a:r>
                    </a:p>
                  </a:txBody>
                  <a:tcPr>
                    <a:solidFill>
                      <a:srgbClr val="FAFAF7"/>
                    </a:solidFill>
                  </a:tcPr>
                </a:tc>
                <a:tc>
                  <a:txBody>
                    <a:bodyPr/>
                    <a:lstStyle/>
                    <a:p>
                      <a:r>
                        <a:rPr sz="1800" b="0">
                          <a:solidFill>
                            <a:srgbClr val="172D3B"/>
                          </a:solidFill>
                          <a:latin typeface="Arial"/>
                          <a:ea typeface="Arial"/>
                          <a:cs typeface="Arial"/>
                        </a:rPr>
                        <a:t>Use the current prompt and context</a:t>
                      </a:r>
                    </a:p>
                  </a:txBody>
                  <a:tcPr>
                    <a:solidFill>
                      <a:srgbClr val="FAFAF7"/>
                    </a:solidFill>
                  </a:tcPr>
                </a:tc>
                <a:tc>
                  <a:txBody>
                    <a:bodyPr/>
                    <a:lstStyle/>
                    <a:p>
                      <a:r>
                        <a:rPr sz="1800" b="0">
                          <a:solidFill>
                            <a:srgbClr val="172D3B"/>
                          </a:solidFill>
                          <a:latin typeface="Arial"/>
                          <a:ea typeface="Arial"/>
                          <a:cs typeface="Arial"/>
                        </a:rPr>
                        <a:t>Stay fixed in this lab</a:t>
                      </a:r>
                    </a:p>
                  </a:txBody>
                  <a:tcPr>
                    <a:solidFill>
                      <a:srgbClr val="FAFAF7"/>
                    </a:solidFill>
                  </a:tcPr>
                </a:tc>
                <a:extLst>
                  <a:ext uri="{0D108BD9-81ED-4DB2-BD59-A6C34878D82A}">
                    <a16:rowId xmlns:a16="http://schemas.microsoft.com/office/drawing/2014/main" val="10003"/>
                  </a:ext>
                </a:extLst>
              </a:tr>
            </a:tbl>
          </a:graphicData>
        </a:graphic>
      </p:graphicFrame>
      <p:sp>
        <p:nvSpPr>
          <p:cNvPr id="3" name="bottom-note">
            <a:extLst>
              <a:ext uri="{FF2B5EF4-FFF2-40B4-BE49-F238E27FC236}">
                <a16:creationId xmlns:a16="http://schemas.microsoft.com/office/drawing/2014/main" id="{ADC0F25B-9BA2-4FAB-B196-CDD68D2ED562}"/>
              </a:ext>
            </a:extLst>
          </p:cNvPr>
          <p:cNvSpPr>
            <a:spLocks noGrp="1"/>
          </p:cNvSpPr>
          <p:nvPr/>
        </p:nvSpPr>
        <p:spPr>
          <a:xfrm>
            <a:off x="609600" y="5682996"/>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dirty="0">
                <a:solidFill>
                  <a:srgbClr val="006D77"/>
                </a:solidFill>
                <a:latin typeface="Arial"/>
                <a:ea typeface="Arial"/>
                <a:cs typeface="Arial"/>
              </a:rPr>
              <a:t>Changing a prompt or a skill recipe changes context, not the learned weights.</a:t>
            </a:r>
          </a:p>
        </p:txBody>
      </p:sp>
      <p:sp>
        <p:nvSpPr>
          <p:cNvPr id="4" name="footer">
            <a:extLst>
              <a:ext uri="{FF2B5EF4-FFF2-40B4-BE49-F238E27FC236}">
                <a16:creationId xmlns:a16="http://schemas.microsoft.com/office/drawing/2014/main" id="{90494E83-BD38-4FFA-9653-BED5F73220ED}"/>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5</a:t>
            </a:r>
          </a:p>
        </p:txBody>
      </p:sp>
      <p:pic>
        <p:nvPicPr>
          <p:cNvPr id="12" name="Picture 11"/>
          <p:cNvPicPr>
            <a:picLocks noChangeAspect="1"/>
          </p:cNvPicPr>
          <p:nvPr/>
        </p:nvPicPr>
        <p:blipFill>
          <a:blip r:embed="rId3"/>
          <a:stretch/>
        </p:blipFill>
        <p:spPr>
          <a:xfrm>
            <a:off x="8401050" y="1981200"/>
            <a:ext cx="3105150" cy="3105150"/>
          </a:xfrm>
          <a:prstGeom prst="rect">
            <a:avLst/>
          </a:prstGeom>
        </p:spPr>
      </p:pic>
      <p:sp>
        <p:nvSpPr>
          <p:cNvPr id="6" name="Rectangle 5">
            <a:extLst>
              <a:ext uri="{FF2B5EF4-FFF2-40B4-BE49-F238E27FC236}">
                <a16:creationId xmlns:a16="http://schemas.microsoft.com/office/drawing/2014/main" id="{BAA327FD-FB9D-2EF2-A9E2-7BA4B4EB5143}"/>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8" name="Rectangle 7">
            <a:extLst>
              <a:ext uri="{FF2B5EF4-FFF2-40B4-BE49-F238E27FC236}">
                <a16:creationId xmlns:a16="http://schemas.microsoft.com/office/drawing/2014/main" id="{5DCFFC4E-F0F0-80C0-D9A4-7B79862EEBFC}"/>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1760274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B64B49F7-F439-4920-9011-FDF112D9A90E}"/>
              </a:ext>
            </a:extLst>
          </p:cNvPr>
          <p:cNvSpPr>
            <a:spLocks noGrp="1"/>
          </p:cNvSpPr>
          <p:nvPr/>
        </p:nvSpPr>
        <p:spPr>
          <a:xfrm>
            <a:off x="623392" y="188640"/>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How a model generates an answer</a:t>
            </a:r>
          </a:p>
        </p:txBody>
      </p:sp>
      <p:sp>
        <p:nvSpPr>
          <p:cNvPr id="2" name="line-0">
            <a:extLst>
              <a:ext uri="{FF2B5EF4-FFF2-40B4-BE49-F238E27FC236}">
                <a16:creationId xmlns:a16="http://schemas.microsoft.com/office/drawing/2014/main" id="{75F5181F-D84C-4DCC-BA17-DADB588231B9}"/>
              </a:ext>
            </a:extLst>
          </p:cNvPr>
          <p:cNvSpPr>
            <a:spLocks noGrp="1"/>
          </p:cNvSpPr>
          <p:nvPr/>
        </p:nvSpPr>
        <p:spPr>
          <a:xfrm>
            <a:off x="685800" y="1809750"/>
            <a:ext cx="10572750" cy="752475"/>
          </a:xfrm>
          <a:prstGeom prst="rect">
            <a:avLst/>
          </a:prstGeom>
          <a:noFill/>
          <a:ln w="0">
            <a:noFill/>
          </a:ln>
        </p:spPr>
        <p:txBody>
          <a:bodyPr>
            <a:noAutofit/>
          </a:bodyPr>
          <a:lstStyle/>
          <a:p>
            <a:pPr>
              <a:buNone/>
              <a:defRPr sz="2475" b="1">
                <a:solidFill>
                  <a:srgbClr val="172D3B"/>
                </a:solidFill>
                <a:latin typeface="Arial"/>
                <a:ea typeface="Arial"/>
                <a:cs typeface="Arial"/>
              </a:defRPr>
            </a:pPr>
            <a:r>
              <a:rPr sz="2475" b="1">
                <a:solidFill>
                  <a:srgbClr val="172D3B"/>
                </a:solidFill>
                <a:latin typeface="Arial"/>
                <a:ea typeface="Arial"/>
                <a:cs typeface="Arial"/>
              </a:rPr>
              <a:t>1. Convert text into tokens and numerical representations</a:t>
            </a:r>
          </a:p>
        </p:txBody>
      </p:sp>
      <p:sp>
        <p:nvSpPr>
          <p:cNvPr id="3" name="line-1">
            <a:extLst>
              <a:ext uri="{FF2B5EF4-FFF2-40B4-BE49-F238E27FC236}">
                <a16:creationId xmlns:a16="http://schemas.microsoft.com/office/drawing/2014/main" id="{0D73E765-17BB-42FA-88C5-2025C7D2A4A1}"/>
              </a:ext>
            </a:extLst>
          </p:cNvPr>
          <p:cNvSpPr>
            <a:spLocks noGrp="1"/>
          </p:cNvSpPr>
          <p:nvPr/>
        </p:nvSpPr>
        <p:spPr>
          <a:xfrm>
            <a:off x="685800" y="262890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2. Use attention to combine information from the context</a:t>
            </a:r>
          </a:p>
        </p:txBody>
      </p:sp>
      <p:sp>
        <p:nvSpPr>
          <p:cNvPr id="4" name="line-2">
            <a:extLst>
              <a:ext uri="{FF2B5EF4-FFF2-40B4-BE49-F238E27FC236}">
                <a16:creationId xmlns:a16="http://schemas.microsoft.com/office/drawing/2014/main" id="{FAAB9456-331E-4C1C-94FA-62FD467A969B}"/>
              </a:ext>
            </a:extLst>
          </p:cNvPr>
          <p:cNvSpPr>
            <a:spLocks noGrp="1"/>
          </p:cNvSpPr>
          <p:nvPr/>
        </p:nvSpPr>
        <p:spPr>
          <a:xfrm>
            <a:off x="685800" y="344805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3. Compute probabilities for the next token</a:t>
            </a:r>
          </a:p>
        </p:txBody>
      </p:sp>
      <p:sp>
        <p:nvSpPr>
          <p:cNvPr id="5" name="line-3">
            <a:extLst>
              <a:ext uri="{FF2B5EF4-FFF2-40B4-BE49-F238E27FC236}">
                <a16:creationId xmlns:a16="http://schemas.microsoft.com/office/drawing/2014/main" id="{F6F2689B-6FD7-4520-9B21-32905C5F697D}"/>
              </a:ext>
            </a:extLst>
          </p:cNvPr>
          <p:cNvSpPr>
            <a:spLocks noGrp="1"/>
          </p:cNvSpPr>
          <p:nvPr/>
        </p:nvSpPr>
        <p:spPr>
          <a:xfrm>
            <a:off x="685800" y="426720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4. Select a token, add it to the context and repeat</a:t>
            </a:r>
          </a:p>
        </p:txBody>
      </p:sp>
      <p:sp>
        <p:nvSpPr>
          <p:cNvPr id="6" name="bottom-note">
            <a:extLst>
              <a:ext uri="{FF2B5EF4-FFF2-40B4-BE49-F238E27FC236}">
                <a16:creationId xmlns:a16="http://schemas.microsoft.com/office/drawing/2014/main" id="{F8708569-901B-484E-BC0B-6F305C27C704}"/>
              </a:ext>
            </a:extLst>
          </p:cNvPr>
          <p:cNvSpPr>
            <a:spLocks noGrp="1"/>
          </p:cNvSpPr>
          <p:nvPr/>
        </p:nvSpPr>
        <p:spPr>
          <a:xfrm>
            <a:off x="590550" y="5724525"/>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dirty="0">
                <a:solidFill>
                  <a:srgbClr val="006D77"/>
                </a:solidFill>
                <a:latin typeface="Arial"/>
                <a:ea typeface="Arial"/>
                <a:cs typeface="Arial"/>
              </a:rPr>
              <a:t>A likely continuation can still contain an unsupported claim.</a:t>
            </a:r>
          </a:p>
        </p:txBody>
      </p:sp>
      <p:sp>
        <p:nvSpPr>
          <p:cNvPr id="7" name="footer">
            <a:extLst>
              <a:ext uri="{FF2B5EF4-FFF2-40B4-BE49-F238E27FC236}">
                <a16:creationId xmlns:a16="http://schemas.microsoft.com/office/drawing/2014/main" id="{237EEB3A-B80A-4AE9-9E6E-AADF6F39E9DB}"/>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6</a:t>
            </a:r>
          </a:p>
        </p:txBody>
      </p:sp>
      <p:sp>
        <p:nvSpPr>
          <p:cNvPr id="10" name="Rectangle 9">
            <a:extLst>
              <a:ext uri="{FF2B5EF4-FFF2-40B4-BE49-F238E27FC236}">
                <a16:creationId xmlns:a16="http://schemas.microsoft.com/office/drawing/2014/main" id="{8325F74D-3331-2D6E-D7FB-8C98C00C17D5}"/>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12" name="Rectangle 11">
            <a:extLst>
              <a:ext uri="{FF2B5EF4-FFF2-40B4-BE49-F238E27FC236}">
                <a16:creationId xmlns:a16="http://schemas.microsoft.com/office/drawing/2014/main" id="{7D0DC0C3-73AC-C6EA-AAFE-DB5D79FB4509}"/>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545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18D8452B-19A7-429E-A77A-4C0169908ECA}"/>
              </a:ext>
            </a:extLst>
          </p:cNvPr>
          <p:cNvSpPr>
            <a:spLocks noGrp="1"/>
          </p:cNvSpPr>
          <p:nvPr/>
        </p:nvSpPr>
        <p:spPr>
          <a:xfrm>
            <a:off x="609600" y="180977"/>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Different ways to describe models</a:t>
            </a:r>
          </a:p>
        </p:txBody>
      </p:sp>
      <p:graphicFrame>
        <p:nvGraphicFramePr>
          <p:cNvPr id="8" name="Table 7"/>
          <p:cNvGraphicFramePr/>
          <p:nvPr/>
        </p:nvGraphicFramePr>
        <p:xfrm>
          <a:off x="685800" y="1752600"/>
          <a:ext cx="10820400" cy="3524252"/>
        </p:xfrm>
        <a:graphic>
          <a:graphicData uri="http://schemas.openxmlformats.org/drawingml/2006/table">
            <a:tbl>
              <a:tblPr/>
              <a:tblGrid>
                <a:gridCol w="3048000">
                  <a:extLst>
                    <a:ext uri="{9D8B030D-6E8A-4147-A177-3AD203B41FA5}">
                      <a16:colId xmlns:a16="http://schemas.microsoft.com/office/drawing/2014/main" val="20000"/>
                    </a:ext>
                  </a:extLst>
                </a:gridCol>
                <a:gridCol w="7772400">
                  <a:extLst>
                    <a:ext uri="{9D8B030D-6E8A-4147-A177-3AD203B41FA5}">
                      <a16:colId xmlns:a16="http://schemas.microsoft.com/office/drawing/2014/main" val="20001"/>
                    </a:ext>
                  </a:extLst>
                </a:gridCol>
              </a:tblGrid>
              <a:tr h="881063">
                <a:tc>
                  <a:txBody>
                    <a:bodyPr/>
                    <a:lstStyle/>
                    <a:p>
                      <a:r>
                        <a:rPr sz="2025" b="1">
                          <a:solidFill>
                            <a:srgbClr val="172D3B"/>
                          </a:solidFill>
                          <a:latin typeface="Arial"/>
                          <a:ea typeface="Arial"/>
                          <a:cs typeface="Arial"/>
                        </a:rPr>
                        <a:t>Question</a:t>
                      </a:r>
                    </a:p>
                  </a:txBody>
                  <a:tcPr>
                    <a:solidFill>
                      <a:srgbClr val="DCECEB"/>
                    </a:solidFill>
                  </a:tcPr>
                </a:tc>
                <a:tc>
                  <a:txBody>
                    <a:bodyPr/>
                    <a:lstStyle/>
                    <a:p>
                      <a:r>
                        <a:rPr sz="2025" b="1">
                          <a:solidFill>
                            <a:srgbClr val="172D3B"/>
                          </a:solidFill>
                          <a:latin typeface="Arial"/>
                          <a:ea typeface="Arial"/>
                          <a:cs typeface="Arial"/>
                        </a:rPr>
                        <a:t>Examples</a:t>
                      </a:r>
                    </a:p>
                  </a:txBody>
                  <a:tcPr>
                    <a:solidFill>
                      <a:srgbClr val="DCECEB"/>
                    </a:solidFill>
                  </a:tcPr>
                </a:tc>
                <a:extLst>
                  <a:ext uri="{0D108BD9-81ED-4DB2-BD59-A6C34878D82A}">
                    <a16:rowId xmlns:a16="http://schemas.microsoft.com/office/drawing/2014/main" val="10000"/>
                  </a:ext>
                </a:extLst>
              </a:tr>
              <a:tr h="881063">
                <a:tc>
                  <a:txBody>
                    <a:bodyPr/>
                    <a:lstStyle/>
                    <a:p>
                      <a:r>
                        <a:rPr sz="2025" b="0">
                          <a:solidFill>
                            <a:srgbClr val="172D3B"/>
                          </a:solidFill>
                          <a:latin typeface="Arial"/>
                          <a:ea typeface="Arial"/>
                          <a:cs typeface="Arial"/>
                        </a:rPr>
                        <a:t>What is the task?</a:t>
                      </a:r>
                    </a:p>
                  </a:txBody>
                  <a:tcPr>
                    <a:solidFill>
                      <a:srgbClr val="FAFAF7"/>
                    </a:solidFill>
                  </a:tcPr>
                </a:tc>
                <a:tc>
                  <a:txBody>
                    <a:bodyPr/>
                    <a:lstStyle/>
                    <a:p>
                      <a:r>
                        <a:rPr sz="2025" b="0">
                          <a:solidFill>
                            <a:srgbClr val="172D3B"/>
                          </a:solidFill>
                          <a:latin typeface="Arial"/>
                          <a:ea typeface="Arial"/>
                          <a:cs typeface="Arial"/>
                        </a:rPr>
                        <a:t>Generate content, classify an input, create embeddings</a:t>
                      </a:r>
                    </a:p>
                  </a:txBody>
                  <a:tcPr>
                    <a:solidFill>
                      <a:srgbClr val="FAFAF7"/>
                    </a:solidFill>
                  </a:tcPr>
                </a:tc>
                <a:extLst>
                  <a:ext uri="{0D108BD9-81ED-4DB2-BD59-A6C34878D82A}">
                    <a16:rowId xmlns:a16="http://schemas.microsoft.com/office/drawing/2014/main" val="10001"/>
                  </a:ext>
                </a:extLst>
              </a:tr>
              <a:tr h="881063">
                <a:tc>
                  <a:txBody>
                    <a:bodyPr/>
                    <a:lstStyle/>
                    <a:p>
                      <a:r>
                        <a:rPr sz="2025" b="0">
                          <a:solidFill>
                            <a:srgbClr val="172D3B"/>
                          </a:solidFill>
                          <a:latin typeface="Arial"/>
                          <a:ea typeface="Arial"/>
                          <a:cs typeface="Arial"/>
                        </a:rPr>
                        <a:t>What data can it use?</a:t>
                      </a:r>
                    </a:p>
                  </a:txBody>
                  <a:tcPr>
                    <a:solidFill>
                      <a:srgbClr val="FAFAF7"/>
                    </a:solidFill>
                  </a:tcPr>
                </a:tc>
                <a:tc>
                  <a:txBody>
                    <a:bodyPr/>
                    <a:lstStyle/>
                    <a:p>
                      <a:r>
                        <a:rPr sz="2025" b="0">
                          <a:solidFill>
                            <a:srgbClr val="172D3B"/>
                          </a:solidFill>
                          <a:latin typeface="Arial"/>
                          <a:ea typeface="Arial"/>
                          <a:cs typeface="Arial"/>
                        </a:rPr>
                        <a:t>Text, images, audio, or several modalities</a:t>
                      </a:r>
                    </a:p>
                  </a:txBody>
                  <a:tcPr>
                    <a:solidFill>
                      <a:srgbClr val="FAFAF7"/>
                    </a:solidFill>
                  </a:tcPr>
                </a:tc>
                <a:extLst>
                  <a:ext uri="{0D108BD9-81ED-4DB2-BD59-A6C34878D82A}">
                    <a16:rowId xmlns:a16="http://schemas.microsoft.com/office/drawing/2014/main" val="10002"/>
                  </a:ext>
                </a:extLst>
              </a:tr>
              <a:tr h="881063">
                <a:tc>
                  <a:txBody>
                    <a:bodyPr/>
                    <a:lstStyle/>
                    <a:p>
                      <a:r>
                        <a:rPr sz="2025" b="0">
                          <a:solidFill>
                            <a:srgbClr val="172D3B"/>
                          </a:solidFill>
                          <a:latin typeface="Arial"/>
                          <a:ea typeface="Arial"/>
                          <a:cs typeface="Arial"/>
                        </a:rPr>
                        <a:t>How was it adapted?</a:t>
                      </a:r>
                    </a:p>
                  </a:txBody>
                  <a:tcPr>
                    <a:solidFill>
                      <a:srgbClr val="FAFAF7"/>
                    </a:solidFill>
                  </a:tcPr>
                </a:tc>
                <a:tc>
                  <a:txBody>
                    <a:bodyPr/>
                    <a:lstStyle/>
                    <a:p>
                      <a:r>
                        <a:rPr sz="2025" b="0">
                          <a:solidFill>
                            <a:srgbClr val="172D3B"/>
                          </a:solidFill>
                          <a:latin typeface="Arial"/>
                          <a:ea typeface="Arial"/>
                          <a:cs typeface="Arial"/>
                        </a:rPr>
                        <a:t>Base model, instruction tuning, task-specific tuning</a:t>
                      </a:r>
                    </a:p>
                  </a:txBody>
                  <a:tcPr>
                    <a:solidFill>
                      <a:srgbClr val="FAFAF7"/>
                    </a:solidFill>
                  </a:tcPr>
                </a:tc>
                <a:extLst>
                  <a:ext uri="{0D108BD9-81ED-4DB2-BD59-A6C34878D82A}">
                    <a16:rowId xmlns:a16="http://schemas.microsoft.com/office/drawing/2014/main" val="10003"/>
                  </a:ext>
                </a:extLst>
              </a:tr>
            </a:tbl>
          </a:graphicData>
        </a:graphic>
      </p:graphicFrame>
      <p:sp>
        <p:nvSpPr>
          <p:cNvPr id="3" name="bottom-note">
            <a:extLst>
              <a:ext uri="{FF2B5EF4-FFF2-40B4-BE49-F238E27FC236}">
                <a16:creationId xmlns:a16="http://schemas.microsoft.com/office/drawing/2014/main" id="{6EE1DEA9-E0B4-4559-A8F1-35B37E41761C}"/>
              </a:ext>
            </a:extLst>
          </p:cNvPr>
          <p:cNvSpPr>
            <a:spLocks noGrp="1"/>
          </p:cNvSpPr>
          <p:nvPr/>
        </p:nvSpPr>
        <p:spPr>
          <a:xfrm>
            <a:off x="609600" y="5698871"/>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dirty="0">
                <a:solidFill>
                  <a:srgbClr val="006D77"/>
                </a:solidFill>
                <a:latin typeface="Arial"/>
                <a:ea typeface="Arial"/>
                <a:cs typeface="Arial"/>
              </a:rPr>
              <a:t>These labels overlap. Agent architecture describes the surrounding application.</a:t>
            </a:r>
          </a:p>
        </p:txBody>
      </p:sp>
      <p:sp>
        <p:nvSpPr>
          <p:cNvPr id="4" name="footer">
            <a:extLst>
              <a:ext uri="{FF2B5EF4-FFF2-40B4-BE49-F238E27FC236}">
                <a16:creationId xmlns:a16="http://schemas.microsoft.com/office/drawing/2014/main" id="{007C0D4B-BB7D-4D75-9443-728268607C49}"/>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7</a:t>
            </a:r>
          </a:p>
        </p:txBody>
      </p:sp>
      <p:sp>
        <p:nvSpPr>
          <p:cNvPr id="6" name="Rectangle 5">
            <a:extLst>
              <a:ext uri="{FF2B5EF4-FFF2-40B4-BE49-F238E27FC236}">
                <a16:creationId xmlns:a16="http://schemas.microsoft.com/office/drawing/2014/main" id="{DB1F64AD-9555-3427-449A-CD301771232C}"/>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9" name="Rectangle 8">
            <a:extLst>
              <a:ext uri="{FF2B5EF4-FFF2-40B4-BE49-F238E27FC236}">
                <a16:creationId xmlns:a16="http://schemas.microsoft.com/office/drawing/2014/main" id="{778EF56F-F3C4-A934-B8E8-C94EA5509653}"/>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1157828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B90631A-4A3C-4172-95CC-C0E879E4F19B}"/>
              </a:ext>
            </a:extLst>
          </p:cNvPr>
          <p:cNvSpPr>
            <a:spLocks noGrp="1"/>
          </p:cNvSpPr>
          <p:nvPr/>
        </p:nvSpPr>
        <p:spPr>
          <a:xfrm>
            <a:off x="623392" y="188640"/>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Model, tool and skill</a:t>
            </a:r>
          </a:p>
        </p:txBody>
      </p:sp>
      <p:graphicFrame>
        <p:nvGraphicFramePr>
          <p:cNvPr id="7" name="Table 6"/>
          <p:cNvGraphicFramePr/>
          <p:nvPr/>
        </p:nvGraphicFramePr>
        <p:xfrm>
          <a:off x="685800" y="1752600"/>
          <a:ext cx="10820400" cy="3524250"/>
        </p:xfrm>
        <a:graphic>
          <a:graphicData uri="http://schemas.openxmlformats.org/drawingml/2006/table">
            <a:tbl>
              <a:tblPr/>
              <a:tblGrid>
                <a:gridCol w="3143250">
                  <a:extLst>
                    <a:ext uri="{9D8B030D-6E8A-4147-A177-3AD203B41FA5}">
                      <a16:colId xmlns:a16="http://schemas.microsoft.com/office/drawing/2014/main" val="20000"/>
                    </a:ext>
                  </a:extLst>
                </a:gridCol>
                <a:gridCol w="7677150">
                  <a:extLst>
                    <a:ext uri="{9D8B030D-6E8A-4147-A177-3AD203B41FA5}">
                      <a16:colId xmlns:a16="http://schemas.microsoft.com/office/drawing/2014/main" val="20001"/>
                    </a:ext>
                  </a:extLst>
                </a:gridCol>
              </a:tblGrid>
              <a:tr h="704850">
                <a:tc>
                  <a:txBody>
                    <a:bodyPr/>
                    <a:lstStyle/>
                    <a:p>
                      <a:r>
                        <a:rPr sz="2025" b="1">
                          <a:solidFill>
                            <a:srgbClr val="172D3B"/>
                          </a:solidFill>
                          <a:latin typeface="Arial"/>
                          <a:ea typeface="Arial"/>
                          <a:cs typeface="Arial"/>
                        </a:rPr>
                        <a:t>Part</a:t>
                      </a:r>
                    </a:p>
                  </a:txBody>
                  <a:tcPr>
                    <a:solidFill>
                      <a:srgbClr val="DCECEB"/>
                    </a:solidFill>
                  </a:tcPr>
                </a:tc>
                <a:tc>
                  <a:txBody>
                    <a:bodyPr/>
                    <a:lstStyle/>
                    <a:p>
                      <a:r>
                        <a:rPr sz="2025" b="1">
                          <a:solidFill>
                            <a:srgbClr val="172D3B"/>
                          </a:solidFill>
                          <a:latin typeface="Arial"/>
                          <a:ea typeface="Arial"/>
                          <a:cs typeface="Arial"/>
                        </a:rPr>
                        <a:t>Its job in our workshop</a:t>
                      </a:r>
                    </a:p>
                  </a:txBody>
                  <a:tcPr>
                    <a:solidFill>
                      <a:srgbClr val="DCECEB"/>
                    </a:solidFill>
                  </a:tcPr>
                </a:tc>
                <a:extLst>
                  <a:ext uri="{0D108BD9-81ED-4DB2-BD59-A6C34878D82A}">
                    <a16:rowId xmlns:a16="http://schemas.microsoft.com/office/drawing/2014/main" val="10000"/>
                  </a:ext>
                </a:extLst>
              </a:tr>
              <a:tr h="704850">
                <a:tc>
                  <a:txBody>
                    <a:bodyPr/>
                    <a:lstStyle/>
                    <a:p>
                      <a:r>
                        <a:rPr sz="2025" b="0">
                          <a:solidFill>
                            <a:srgbClr val="172D3B"/>
                          </a:solidFill>
                          <a:latin typeface="Arial"/>
                          <a:ea typeface="Arial"/>
                          <a:cs typeface="Arial"/>
                        </a:rPr>
                        <a:t>Language model</a:t>
                      </a:r>
                    </a:p>
                  </a:txBody>
                  <a:tcPr>
                    <a:solidFill>
                      <a:srgbClr val="FAFAF7"/>
                    </a:solidFill>
                  </a:tcPr>
                </a:tc>
                <a:tc>
                  <a:txBody>
                    <a:bodyPr/>
                    <a:lstStyle/>
                    <a:p>
                      <a:r>
                        <a:rPr sz="2025" b="0">
                          <a:solidFill>
                            <a:srgbClr val="172D3B"/>
                          </a:solidFill>
                          <a:latin typeface="Arial"/>
                          <a:ea typeface="Arial"/>
                          <a:cs typeface="Arial"/>
                        </a:rPr>
                        <a:t>Interprets the goal and proposes tool calls or a draft</a:t>
                      </a:r>
                    </a:p>
                  </a:txBody>
                  <a:tcPr>
                    <a:solidFill>
                      <a:srgbClr val="FAFAF7"/>
                    </a:solidFill>
                  </a:tcPr>
                </a:tc>
                <a:extLst>
                  <a:ext uri="{0D108BD9-81ED-4DB2-BD59-A6C34878D82A}">
                    <a16:rowId xmlns:a16="http://schemas.microsoft.com/office/drawing/2014/main" val="10001"/>
                  </a:ext>
                </a:extLst>
              </a:tr>
              <a:tr h="704850">
                <a:tc>
                  <a:txBody>
                    <a:bodyPr/>
                    <a:lstStyle/>
                    <a:p>
                      <a:r>
                        <a:rPr sz="2025" b="0">
                          <a:solidFill>
                            <a:srgbClr val="172D3B"/>
                          </a:solidFill>
                          <a:latin typeface="Arial"/>
                          <a:ea typeface="Arial"/>
                          <a:cs typeface="Arial"/>
                        </a:rPr>
                        <a:t>Tool</a:t>
                      </a:r>
                    </a:p>
                  </a:txBody>
                  <a:tcPr>
                    <a:solidFill>
                      <a:srgbClr val="FAFAF7"/>
                    </a:solidFill>
                  </a:tcPr>
                </a:tc>
                <a:tc>
                  <a:txBody>
                    <a:bodyPr/>
                    <a:lstStyle/>
                    <a:p>
                      <a:r>
                        <a:rPr sz="2025" b="0">
                          <a:solidFill>
                            <a:srgbClr val="172D3B"/>
                          </a:solidFill>
                          <a:latin typeface="Arial"/>
                          <a:ea typeface="Arial"/>
                          <a:cs typeface="Arial"/>
                        </a:rPr>
                        <a:t>A Python function that reads a limited set of supplied data</a:t>
                      </a:r>
                    </a:p>
                  </a:txBody>
                  <a:tcPr>
                    <a:solidFill>
                      <a:srgbClr val="FAFAF7"/>
                    </a:solidFill>
                  </a:tcPr>
                </a:tc>
                <a:extLst>
                  <a:ext uri="{0D108BD9-81ED-4DB2-BD59-A6C34878D82A}">
                    <a16:rowId xmlns:a16="http://schemas.microsoft.com/office/drawing/2014/main" val="10002"/>
                  </a:ext>
                </a:extLst>
              </a:tr>
              <a:tr h="704850">
                <a:tc>
                  <a:txBody>
                    <a:bodyPr/>
                    <a:lstStyle/>
                    <a:p>
                      <a:r>
                        <a:rPr sz="2025" b="0">
                          <a:solidFill>
                            <a:srgbClr val="172D3B"/>
                          </a:solidFill>
                          <a:latin typeface="Arial"/>
                          <a:ea typeface="Arial"/>
                          <a:cs typeface="Arial"/>
                        </a:rPr>
                        <a:t>Skill recipe</a:t>
                      </a:r>
                    </a:p>
                  </a:txBody>
                  <a:tcPr>
                    <a:solidFill>
                      <a:srgbClr val="FAFAF7"/>
                    </a:solidFill>
                  </a:tcPr>
                </a:tc>
                <a:tc>
                  <a:txBody>
                    <a:bodyPr/>
                    <a:lstStyle/>
                    <a:p>
                      <a:r>
                        <a:rPr sz="2025" b="0">
                          <a:solidFill>
                            <a:srgbClr val="172D3B"/>
                          </a:solidFill>
                          <a:latin typeface="Arial"/>
                          <a:ea typeface="Arial"/>
                          <a:cs typeface="Arial"/>
                        </a:rPr>
                        <a:t>Instructions for a task, such as an evidence-based STAR outline</a:t>
                      </a:r>
                    </a:p>
                  </a:txBody>
                  <a:tcPr>
                    <a:solidFill>
                      <a:srgbClr val="FAFAF7"/>
                    </a:solidFill>
                  </a:tcPr>
                </a:tc>
                <a:extLst>
                  <a:ext uri="{0D108BD9-81ED-4DB2-BD59-A6C34878D82A}">
                    <a16:rowId xmlns:a16="http://schemas.microsoft.com/office/drawing/2014/main" val="10003"/>
                  </a:ext>
                </a:extLst>
              </a:tr>
              <a:tr h="704850">
                <a:tc>
                  <a:txBody>
                    <a:bodyPr/>
                    <a:lstStyle/>
                    <a:p>
                      <a:r>
                        <a:rPr sz="2025" b="0">
                          <a:solidFill>
                            <a:srgbClr val="172D3B"/>
                          </a:solidFill>
                          <a:latin typeface="Arial"/>
                          <a:ea typeface="Arial"/>
                          <a:cs typeface="Arial"/>
                        </a:rPr>
                        <a:t>Agent loop</a:t>
                      </a:r>
                    </a:p>
                  </a:txBody>
                  <a:tcPr>
                    <a:solidFill>
                      <a:srgbClr val="FAFAF7"/>
                    </a:solidFill>
                  </a:tcPr>
                </a:tc>
                <a:tc>
                  <a:txBody>
                    <a:bodyPr/>
                    <a:lstStyle/>
                    <a:p>
                      <a:r>
                        <a:rPr sz="2025" b="0">
                          <a:solidFill>
                            <a:srgbClr val="172D3B"/>
                          </a:solidFill>
                          <a:latin typeface="Arial"/>
                          <a:ea typeface="Arial"/>
                          <a:cs typeface="Arial"/>
                        </a:rPr>
                        <a:t>Connects model decisions to tool results within limits</a:t>
                      </a:r>
                    </a:p>
                  </a:txBody>
                  <a:tcPr>
                    <a:solidFill>
                      <a:srgbClr val="FAFAF7"/>
                    </a:solidFill>
                  </a:tcPr>
                </a:tc>
                <a:extLst>
                  <a:ext uri="{0D108BD9-81ED-4DB2-BD59-A6C34878D82A}">
                    <a16:rowId xmlns:a16="http://schemas.microsoft.com/office/drawing/2014/main" val="10004"/>
                  </a:ext>
                </a:extLst>
              </a:tr>
            </a:tbl>
          </a:graphicData>
        </a:graphic>
      </p:graphicFrame>
      <p:sp>
        <p:nvSpPr>
          <p:cNvPr id="3" name="footer">
            <a:extLst>
              <a:ext uri="{FF2B5EF4-FFF2-40B4-BE49-F238E27FC236}">
                <a16:creationId xmlns:a16="http://schemas.microsoft.com/office/drawing/2014/main" id="{9B01F94B-ED37-4B2F-88D4-328DFF69B08E}"/>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8</a:t>
            </a:r>
          </a:p>
        </p:txBody>
      </p:sp>
      <p:sp>
        <p:nvSpPr>
          <p:cNvPr id="5" name="Rectangle 4">
            <a:extLst>
              <a:ext uri="{FF2B5EF4-FFF2-40B4-BE49-F238E27FC236}">
                <a16:creationId xmlns:a16="http://schemas.microsoft.com/office/drawing/2014/main" id="{1FC9BE12-1E99-BB2B-D917-B765C55EF0A8}"/>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8" name="Rectangle 7">
            <a:extLst>
              <a:ext uri="{FF2B5EF4-FFF2-40B4-BE49-F238E27FC236}">
                <a16:creationId xmlns:a16="http://schemas.microsoft.com/office/drawing/2014/main" id="{63198FD6-21BD-B591-AAB9-1DE817588AF3}"/>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845246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EBBC2905-AE00-4F98-A266-793066C7FF38}"/>
              </a:ext>
            </a:extLst>
          </p:cNvPr>
          <p:cNvSpPr>
            <a:spLocks noGrp="1"/>
          </p:cNvSpPr>
          <p:nvPr/>
        </p:nvSpPr>
        <p:spPr>
          <a:xfrm>
            <a:off x="623392" y="266701"/>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Workflows and agent architectures</a:t>
            </a:r>
          </a:p>
        </p:txBody>
      </p:sp>
      <p:graphicFrame>
        <p:nvGraphicFramePr>
          <p:cNvPr id="8" name="Table 7"/>
          <p:cNvGraphicFramePr/>
          <p:nvPr/>
        </p:nvGraphicFramePr>
        <p:xfrm>
          <a:off x="685800" y="1752600"/>
          <a:ext cx="10820400" cy="3524252"/>
        </p:xfrm>
        <a:graphic>
          <a:graphicData uri="http://schemas.openxmlformats.org/drawingml/2006/table">
            <a:tbl>
              <a:tblPr/>
              <a:tblGrid>
                <a:gridCol w="3429000">
                  <a:extLst>
                    <a:ext uri="{9D8B030D-6E8A-4147-A177-3AD203B41FA5}">
                      <a16:colId xmlns:a16="http://schemas.microsoft.com/office/drawing/2014/main" val="20000"/>
                    </a:ext>
                  </a:extLst>
                </a:gridCol>
                <a:gridCol w="7391400">
                  <a:extLst>
                    <a:ext uri="{9D8B030D-6E8A-4147-A177-3AD203B41FA5}">
                      <a16:colId xmlns:a16="http://schemas.microsoft.com/office/drawing/2014/main" val="20001"/>
                    </a:ext>
                  </a:extLst>
                </a:gridCol>
              </a:tblGrid>
              <a:tr h="881063">
                <a:tc>
                  <a:txBody>
                    <a:bodyPr/>
                    <a:lstStyle/>
                    <a:p>
                      <a:r>
                        <a:rPr sz="2025" b="1">
                          <a:solidFill>
                            <a:srgbClr val="172D3B"/>
                          </a:solidFill>
                          <a:latin typeface="Arial"/>
                          <a:ea typeface="Arial"/>
                          <a:cs typeface="Arial"/>
                        </a:rPr>
                        <a:t>Pattern</a:t>
                      </a:r>
                    </a:p>
                  </a:txBody>
                  <a:tcPr>
                    <a:solidFill>
                      <a:srgbClr val="DCECEB"/>
                    </a:solidFill>
                  </a:tcPr>
                </a:tc>
                <a:tc>
                  <a:txBody>
                    <a:bodyPr/>
                    <a:lstStyle/>
                    <a:p>
                      <a:r>
                        <a:rPr sz="2025" b="1">
                          <a:solidFill>
                            <a:srgbClr val="172D3B"/>
                          </a:solidFill>
                          <a:latin typeface="Arial"/>
                          <a:ea typeface="Arial"/>
                          <a:cs typeface="Arial"/>
                        </a:rPr>
                        <a:t>Who selects the next step?</a:t>
                      </a:r>
                    </a:p>
                  </a:txBody>
                  <a:tcPr>
                    <a:solidFill>
                      <a:srgbClr val="DCECEB"/>
                    </a:solidFill>
                  </a:tcPr>
                </a:tc>
                <a:extLst>
                  <a:ext uri="{0D108BD9-81ED-4DB2-BD59-A6C34878D82A}">
                    <a16:rowId xmlns:a16="http://schemas.microsoft.com/office/drawing/2014/main" val="10000"/>
                  </a:ext>
                </a:extLst>
              </a:tr>
              <a:tr h="881063">
                <a:tc>
                  <a:txBody>
                    <a:bodyPr/>
                    <a:lstStyle/>
                    <a:p>
                      <a:r>
                        <a:rPr sz="2025" b="0">
                          <a:solidFill>
                            <a:srgbClr val="172D3B"/>
                          </a:solidFill>
                          <a:latin typeface="Arial"/>
                          <a:ea typeface="Arial"/>
                          <a:cs typeface="Arial"/>
                        </a:rPr>
                        <a:t>Fixed workflow</a:t>
                      </a:r>
                    </a:p>
                  </a:txBody>
                  <a:tcPr>
                    <a:solidFill>
                      <a:srgbClr val="FAFAF7"/>
                    </a:solidFill>
                  </a:tcPr>
                </a:tc>
                <a:tc>
                  <a:txBody>
                    <a:bodyPr/>
                    <a:lstStyle/>
                    <a:p>
                      <a:r>
                        <a:rPr sz="2025" b="0">
                          <a:solidFill>
                            <a:srgbClr val="172D3B"/>
                          </a:solidFill>
                          <a:latin typeface="Arial"/>
                          <a:ea typeface="Arial"/>
                          <a:cs typeface="Arial"/>
                        </a:rPr>
                        <a:t>Code follows a predefined sequence or branch</a:t>
                      </a:r>
                    </a:p>
                  </a:txBody>
                  <a:tcPr>
                    <a:solidFill>
                      <a:srgbClr val="FAFAF7"/>
                    </a:solidFill>
                  </a:tcPr>
                </a:tc>
                <a:extLst>
                  <a:ext uri="{0D108BD9-81ED-4DB2-BD59-A6C34878D82A}">
                    <a16:rowId xmlns:a16="http://schemas.microsoft.com/office/drawing/2014/main" val="10001"/>
                  </a:ext>
                </a:extLst>
              </a:tr>
              <a:tr h="881063">
                <a:tc>
                  <a:txBody>
                    <a:bodyPr/>
                    <a:lstStyle/>
                    <a:p>
                      <a:r>
                        <a:rPr sz="2025" b="0">
                          <a:solidFill>
                            <a:srgbClr val="172D3B"/>
                          </a:solidFill>
                          <a:latin typeface="Arial"/>
                          <a:ea typeface="Arial"/>
                          <a:cs typeface="Arial"/>
                        </a:rPr>
                        <a:t>Single-agent loop</a:t>
                      </a:r>
                    </a:p>
                  </a:txBody>
                  <a:tcPr>
                    <a:solidFill>
                      <a:srgbClr val="FAFAF7"/>
                    </a:solidFill>
                  </a:tcPr>
                </a:tc>
                <a:tc>
                  <a:txBody>
                    <a:bodyPr/>
                    <a:lstStyle/>
                    <a:p>
                      <a:r>
                        <a:rPr sz="2025" b="0">
                          <a:solidFill>
                            <a:srgbClr val="172D3B"/>
                          </a:solidFill>
                          <a:latin typeface="Arial"/>
                          <a:ea typeface="Arial"/>
                          <a:cs typeface="Arial"/>
                        </a:rPr>
                        <a:t>One model-driven loop selects permitted tools</a:t>
                      </a:r>
                    </a:p>
                  </a:txBody>
                  <a:tcPr>
                    <a:solidFill>
                      <a:srgbClr val="FAFAF7"/>
                    </a:solidFill>
                  </a:tcPr>
                </a:tc>
                <a:extLst>
                  <a:ext uri="{0D108BD9-81ED-4DB2-BD59-A6C34878D82A}">
                    <a16:rowId xmlns:a16="http://schemas.microsoft.com/office/drawing/2014/main" val="10002"/>
                  </a:ext>
                </a:extLst>
              </a:tr>
              <a:tr h="881063">
                <a:tc>
                  <a:txBody>
                    <a:bodyPr/>
                    <a:lstStyle/>
                    <a:p>
                      <a:r>
                        <a:rPr sz="2025" b="0">
                          <a:solidFill>
                            <a:srgbClr val="172D3B"/>
                          </a:solidFill>
                          <a:latin typeface="Arial"/>
                          <a:ea typeface="Arial"/>
                          <a:cs typeface="Arial"/>
                        </a:rPr>
                        <a:t>Multi-agent system</a:t>
                      </a:r>
                    </a:p>
                  </a:txBody>
                  <a:tcPr>
                    <a:solidFill>
                      <a:srgbClr val="FAFAF7"/>
                    </a:solidFill>
                  </a:tcPr>
                </a:tc>
                <a:tc>
                  <a:txBody>
                    <a:bodyPr/>
                    <a:lstStyle/>
                    <a:p>
                      <a:r>
                        <a:rPr sz="2025" b="0">
                          <a:solidFill>
                            <a:srgbClr val="172D3B"/>
                          </a:solidFill>
                          <a:latin typeface="Arial"/>
                          <a:ea typeface="Arial"/>
                          <a:cs typeface="Arial"/>
                        </a:rPr>
                        <a:t>Several agent roles divide work and combine results</a:t>
                      </a:r>
                    </a:p>
                  </a:txBody>
                  <a:tcPr>
                    <a:solidFill>
                      <a:srgbClr val="FAFAF7"/>
                    </a:solidFill>
                  </a:tcPr>
                </a:tc>
                <a:extLst>
                  <a:ext uri="{0D108BD9-81ED-4DB2-BD59-A6C34878D82A}">
                    <a16:rowId xmlns:a16="http://schemas.microsoft.com/office/drawing/2014/main" val="10003"/>
                  </a:ext>
                </a:extLst>
              </a:tr>
            </a:tbl>
          </a:graphicData>
        </a:graphic>
      </p:graphicFrame>
      <p:sp>
        <p:nvSpPr>
          <p:cNvPr id="3" name="bottom-note">
            <a:extLst>
              <a:ext uri="{FF2B5EF4-FFF2-40B4-BE49-F238E27FC236}">
                <a16:creationId xmlns:a16="http://schemas.microsoft.com/office/drawing/2014/main" id="{2FE3371A-864D-4B07-BBAB-E2DDAF757852}"/>
              </a:ext>
            </a:extLst>
          </p:cNvPr>
          <p:cNvSpPr>
            <a:spLocks noGrp="1"/>
          </p:cNvSpPr>
          <p:nvPr/>
        </p:nvSpPr>
        <p:spPr>
          <a:xfrm>
            <a:off x="474110" y="5725889"/>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dirty="0">
                <a:solidFill>
                  <a:srgbClr val="006D77"/>
                </a:solidFill>
                <a:latin typeface="Arial"/>
                <a:ea typeface="Arial"/>
                <a:cs typeface="Arial"/>
              </a:rPr>
              <a:t>More agents add coordination and cost. They do not guarantee better answers.</a:t>
            </a:r>
          </a:p>
        </p:txBody>
      </p:sp>
      <p:sp>
        <p:nvSpPr>
          <p:cNvPr id="4" name="footer">
            <a:extLst>
              <a:ext uri="{FF2B5EF4-FFF2-40B4-BE49-F238E27FC236}">
                <a16:creationId xmlns:a16="http://schemas.microsoft.com/office/drawing/2014/main" id="{1C6A7011-CF5A-4E64-ABA2-A181FD454477}"/>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9</a:t>
            </a:r>
          </a:p>
        </p:txBody>
      </p:sp>
      <p:sp>
        <p:nvSpPr>
          <p:cNvPr id="6" name="Rectangle 5">
            <a:extLst>
              <a:ext uri="{FF2B5EF4-FFF2-40B4-BE49-F238E27FC236}">
                <a16:creationId xmlns:a16="http://schemas.microsoft.com/office/drawing/2014/main" id="{964095D9-C1BD-1A51-0D44-81C2C410D427}"/>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9" name="Rectangle 8">
            <a:extLst>
              <a:ext uri="{FF2B5EF4-FFF2-40B4-BE49-F238E27FC236}">
                <a16:creationId xmlns:a16="http://schemas.microsoft.com/office/drawing/2014/main" id="{EAEE09C5-6382-1C3C-24A5-152E3E793B6F}"/>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1125766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FC92A9C5-6B83-466C-88BD-F3227D2B6CB0}"/>
              </a:ext>
            </a:extLst>
          </p:cNvPr>
          <p:cNvSpPr>
            <a:spLocks noGrp="1"/>
          </p:cNvSpPr>
          <p:nvPr/>
        </p:nvSpPr>
        <p:spPr>
          <a:xfrm>
            <a:off x="537022" y="204788"/>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The automatic model/tool loop</a:t>
            </a:r>
          </a:p>
        </p:txBody>
      </p:sp>
      <p:graphicFrame>
        <p:nvGraphicFramePr>
          <p:cNvPr id="8" name="Table 7"/>
          <p:cNvGraphicFramePr/>
          <p:nvPr/>
        </p:nvGraphicFramePr>
        <p:xfrm>
          <a:off x="685800" y="1752600"/>
          <a:ext cx="10820400" cy="3524250"/>
        </p:xfrm>
        <a:graphic>
          <a:graphicData uri="http://schemas.openxmlformats.org/drawingml/2006/table">
            <a:tbl>
              <a:tblPr/>
              <a:tblGrid>
                <a:gridCol w="1190625">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7010400">
                  <a:extLst>
                    <a:ext uri="{9D8B030D-6E8A-4147-A177-3AD203B41FA5}">
                      <a16:colId xmlns:a16="http://schemas.microsoft.com/office/drawing/2014/main" val="20002"/>
                    </a:ext>
                  </a:extLst>
                </a:gridCol>
              </a:tblGrid>
              <a:tr h="704850">
                <a:tc>
                  <a:txBody>
                    <a:bodyPr/>
                    <a:lstStyle/>
                    <a:p>
                      <a:r>
                        <a:rPr sz="2025" b="1">
                          <a:solidFill>
                            <a:srgbClr val="172D3B"/>
                          </a:solidFill>
                          <a:latin typeface="Arial"/>
                          <a:ea typeface="Arial"/>
                          <a:cs typeface="Arial"/>
                        </a:rPr>
                        <a:t>Step</a:t>
                      </a:r>
                    </a:p>
                  </a:txBody>
                  <a:tcPr>
                    <a:solidFill>
                      <a:srgbClr val="DCECEB"/>
                    </a:solidFill>
                  </a:tcPr>
                </a:tc>
                <a:tc>
                  <a:txBody>
                    <a:bodyPr/>
                    <a:lstStyle/>
                    <a:p>
                      <a:r>
                        <a:rPr sz="2025" b="1">
                          <a:solidFill>
                            <a:srgbClr val="172D3B"/>
                          </a:solidFill>
                          <a:latin typeface="Arial"/>
                          <a:ea typeface="Arial"/>
                          <a:cs typeface="Arial"/>
                        </a:rPr>
                        <a:t>Who acts?</a:t>
                      </a:r>
                    </a:p>
                  </a:txBody>
                  <a:tcPr>
                    <a:solidFill>
                      <a:srgbClr val="DCECEB"/>
                    </a:solidFill>
                  </a:tcPr>
                </a:tc>
                <a:tc>
                  <a:txBody>
                    <a:bodyPr/>
                    <a:lstStyle/>
                    <a:p>
                      <a:r>
                        <a:rPr sz="2025" b="1">
                          <a:solidFill>
                            <a:srgbClr val="172D3B"/>
                          </a:solidFill>
                          <a:latin typeface="Arial"/>
                          <a:ea typeface="Arial"/>
                          <a:cs typeface="Arial"/>
                        </a:rPr>
                        <a:t>What happens?</a:t>
                      </a:r>
                    </a:p>
                  </a:txBody>
                  <a:tcPr>
                    <a:solidFill>
                      <a:srgbClr val="DCECEB"/>
                    </a:solidFill>
                  </a:tcPr>
                </a:tc>
                <a:extLst>
                  <a:ext uri="{0D108BD9-81ED-4DB2-BD59-A6C34878D82A}">
                    <a16:rowId xmlns:a16="http://schemas.microsoft.com/office/drawing/2014/main" val="10000"/>
                  </a:ext>
                </a:extLst>
              </a:tr>
              <a:tr h="704850">
                <a:tc>
                  <a:txBody>
                    <a:bodyPr/>
                    <a:lstStyle/>
                    <a:p>
                      <a:r>
                        <a:rPr sz="2025" b="0">
                          <a:solidFill>
                            <a:srgbClr val="172D3B"/>
                          </a:solidFill>
                          <a:latin typeface="Arial"/>
                          <a:ea typeface="Arial"/>
                          <a:cs typeface="Arial"/>
                        </a:rPr>
                        <a:t>1</a:t>
                      </a:r>
                    </a:p>
                  </a:txBody>
                  <a:tcPr>
                    <a:solidFill>
                      <a:srgbClr val="FAFAF7"/>
                    </a:solidFill>
                  </a:tcPr>
                </a:tc>
                <a:tc>
                  <a:txBody>
                    <a:bodyPr/>
                    <a:lstStyle/>
                    <a:p>
                      <a:r>
                        <a:rPr sz="2025" b="0">
                          <a:solidFill>
                            <a:srgbClr val="172D3B"/>
                          </a:solidFill>
                          <a:latin typeface="Arial"/>
                          <a:ea typeface="Arial"/>
                          <a:cs typeface="Arial"/>
                        </a:rPr>
                        <a:t>Notebook</a:t>
                      </a:r>
                    </a:p>
                  </a:txBody>
                  <a:tcPr>
                    <a:solidFill>
                      <a:srgbClr val="FAFAF7"/>
                    </a:solidFill>
                  </a:tcPr>
                </a:tc>
                <a:tc>
                  <a:txBody>
                    <a:bodyPr/>
                    <a:lstStyle/>
                    <a:p>
                      <a:r>
                        <a:rPr sz="2025" b="0">
                          <a:solidFill>
                            <a:srgbClr val="172D3B"/>
                          </a:solidFill>
                          <a:latin typeface="Arial"/>
                          <a:ea typeface="Arial"/>
                          <a:cs typeface="Arial"/>
                        </a:rPr>
                        <a:t>Sends the goal, instructions and tool descriptions</a:t>
                      </a:r>
                    </a:p>
                  </a:txBody>
                  <a:tcPr>
                    <a:solidFill>
                      <a:srgbClr val="FAFAF7"/>
                    </a:solidFill>
                  </a:tcPr>
                </a:tc>
                <a:extLst>
                  <a:ext uri="{0D108BD9-81ED-4DB2-BD59-A6C34878D82A}">
                    <a16:rowId xmlns:a16="http://schemas.microsoft.com/office/drawing/2014/main" val="10001"/>
                  </a:ext>
                </a:extLst>
              </a:tr>
              <a:tr h="704850">
                <a:tc>
                  <a:txBody>
                    <a:bodyPr/>
                    <a:lstStyle/>
                    <a:p>
                      <a:r>
                        <a:rPr sz="2025" b="0">
                          <a:solidFill>
                            <a:srgbClr val="172D3B"/>
                          </a:solidFill>
                          <a:latin typeface="Arial"/>
                          <a:ea typeface="Arial"/>
                          <a:cs typeface="Arial"/>
                        </a:rPr>
                        <a:t>2</a:t>
                      </a:r>
                    </a:p>
                  </a:txBody>
                  <a:tcPr>
                    <a:solidFill>
                      <a:srgbClr val="FAFAF7"/>
                    </a:solidFill>
                  </a:tcPr>
                </a:tc>
                <a:tc>
                  <a:txBody>
                    <a:bodyPr/>
                    <a:lstStyle/>
                    <a:p>
                      <a:r>
                        <a:rPr sz="2025" b="0">
                          <a:solidFill>
                            <a:srgbClr val="172D3B"/>
                          </a:solidFill>
                          <a:latin typeface="Arial"/>
                          <a:ea typeface="Arial"/>
                          <a:cs typeface="Arial"/>
                        </a:rPr>
                        <a:t>Gemini</a:t>
                      </a:r>
                    </a:p>
                  </a:txBody>
                  <a:tcPr>
                    <a:solidFill>
                      <a:srgbClr val="FAFAF7"/>
                    </a:solidFill>
                  </a:tcPr>
                </a:tc>
                <a:tc>
                  <a:txBody>
                    <a:bodyPr/>
                    <a:lstStyle/>
                    <a:p>
                      <a:r>
                        <a:rPr sz="2025" b="0">
                          <a:solidFill>
                            <a:srgbClr val="172D3B"/>
                          </a:solidFill>
                          <a:latin typeface="Arial"/>
                          <a:ea typeface="Arial"/>
                          <a:cs typeface="Arial"/>
                        </a:rPr>
                        <a:t>Requests a tool or produces a draft</a:t>
                      </a:r>
                    </a:p>
                  </a:txBody>
                  <a:tcPr>
                    <a:solidFill>
                      <a:srgbClr val="FAFAF7"/>
                    </a:solidFill>
                  </a:tcPr>
                </a:tc>
                <a:extLst>
                  <a:ext uri="{0D108BD9-81ED-4DB2-BD59-A6C34878D82A}">
                    <a16:rowId xmlns:a16="http://schemas.microsoft.com/office/drawing/2014/main" val="10002"/>
                  </a:ext>
                </a:extLst>
              </a:tr>
              <a:tr h="704850">
                <a:tc>
                  <a:txBody>
                    <a:bodyPr/>
                    <a:lstStyle/>
                    <a:p>
                      <a:r>
                        <a:rPr sz="2025" b="0">
                          <a:solidFill>
                            <a:srgbClr val="172D3B"/>
                          </a:solidFill>
                          <a:latin typeface="Arial"/>
                          <a:ea typeface="Arial"/>
                          <a:cs typeface="Arial"/>
                        </a:rPr>
                        <a:t>3</a:t>
                      </a:r>
                    </a:p>
                  </a:txBody>
                  <a:tcPr>
                    <a:solidFill>
                      <a:srgbClr val="FAFAF7"/>
                    </a:solidFill>
                  </a:tcPr>
                </a:tc>
                <a:tc>
                  <a:txBody>
                    <a:bodyPr/>
                    <a:lstStyle/>
                    <a:p>
                      <a:r>
                        <a:rPr sz="2025" b="0">
                          <a:solidFill>
                            <a:srgbClr val="172D3B"/>
                          </a:solidFill>
                          <a:latin typeface="Arial"/>
                          <a:ea typeface="Arial"/>
                          <a:cs typeface="Arial"/>
                        </a:rPr>
                        <a:t>Python</a:t>
                      </a:r>
                    </a:p>
                  </a:txBody>
                  <a:tcPr>
                    <a:solidFill>
                      <a:srgbClr val="FAFAF7"/>
                    </a:solidFill>
                  </a:tcPr>
                </a:tc>
                <a:tc>
                  <a:txBody>
                    <a:bodyPr/>
                    <a:lstStyle/>
                    <a:p>
                      <a:r>
                        <a:rPr sz="2025" b="0">
                          <a:solidFill>
                            <a:srgbClr val="172D3B"/>
                          </a:solidFill>
                          <a:latin typeface="Arial"/>
                          <a:ea typeface="Arial"/>
                          <a:cs typeface="Arial"/>
                        </a:rPr>
                        <a:t>Validates and executes an allowed function</a:t>
                      </a:r>
                    </a:p>
                  </a:txBody>
                  <a:tcPr>
                    <a:solidFill>
                      <a:srgbClr val="FAFAF7"/>
                    </a:solidFill>
                  </a:tcPr>
                </a:tc>
                <a:extLst>
                  <a:ext uri="{0D108BD9-81ED-4DB2-BD59-A6C34878D82A}">
                    <a16:rowId xmlns:a16="http://schemas.microsoft.com/office/drawing/2014/main" val="10003"/>
                  </a:ext>
                </a:extLst>
              </a:tr>
              <a:tr h="704850">
                <a:tc>
                  <a:txBody>
                    <a:bodyPr/>
                    <a:lstStyle/>
                    <a:p>
                      <a:r>
                        <a:rPr sz="2025" b="0">
                          <a:solidFill>
                            <a:srgbClr val="172D3B"/>
                          </a:solidFill>
                          <a:latin typeface="Arial"/>
                          <a:ea typeface="Arial"/>
                          <a:cs typeface="Arial"/>
                        </a:rPr>
                        <a:t>4</a:t>
                      </a:r>
                    </a:p>
                  </a:txBody>
                  <a:tcPr>
                    <a:solidFill>
                      <a:srgbClr val="FAFAF7"/>
                    </a:solidFill>
                  </a:tcPr>
                </a:tc>
                <a:tc>
                  <a:txBody>
                    <a:bodyPr/>
                    <a:lstStyle/>
                    <a:p>
                      <a:r>
                        <a:rPr sz="2025" b="0">
                          <a:solidFill>
                            <a:srgbClr val="172D3B"/>
                          </a:solidFill>
                          <a:latin typeface="Arial"/>
                          <a:ea typeface="Arial"/>
                          <a:cs typeface="Arial"/>
                        </a:rPr>
                        <a:t>Notebook</a:t>
                      </a:r>
                    </a:p>
                  </a:txBody>
                  <a:tcPr>
                    <a:solidFill>
                      <a:srgbClr val="FAFAF7"/>
                    </a:solidFill>
                  </a:tcPr>
                </a:tc>
                <a:tc>
                  <a:txBody>
                    <a:bodyPr/>
                    <a:lstStyle/>
                    <a:p>
                      <a:r>
                        <a:rPr sz="2025" b="0">
                          <a:solidFill>
                            <a:srgbClr val="172D3B"/>
                          </a:solidFill>
                          <a:latin typeface="Arial"/>
                          <a:ea typeface="Arial"/>
                          <a:cs typeface="Arial"/>
                        </a:rPr>
                        <a:t>Returns all tool results, then continues or stops</a:t>
                      </a:r>
                    </a:p>
                  </a:txBody>
                  <a:tcPr>
                    <a:solidFill>
                      <a:srgbClr val="FAFAF7"/>
                    </a:solidFill>
                  </a:tcPr>
                </a:tc>
                <a:extLst>
                  <a:ext uri="{0D108BD9-81ED-4DB2-BD59-A6C34878D82A}">
                    <a16:rowId xmlns:a16="http://schemas.microsoft.com/office/drawing/2014/main" val="10004"/>
                  </a:ext>
                </a:extLst>
              </a:tr>
            </a:tbl>
          </a:graphicData>
        </a:graphic>
      </p:graphicFrame>
      <p:sp>
        <p:nvSpPr>
          <p:cNvPr id="3" name="bottom-note">
            <a:extLst>
              <a:ext uri="{FF2B5EF4-FFF2-40B4-BE49-F238E27FC236}">
                <a16:creationId xmlns:a16="http://schemas.microsoft.com/office/drawing/2014/main" id="{B5A9A524-4C20-4998-B1CA-498766DC3EDF}"/>
              </a:ext>
            </a:extLst>
          </p:cNvPr>
          <p:cNvSpPr>
            <a:spLocks noGrp="1"/>
          </p:cNvSpPr>
          <p:nvPr/>
        </p:nvSpPr>
        <p:spPr>
          <a:xfrm>
            <a:off x="685800" y="5572125"/>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a:solidFill>
                  <a:srgbClr val="006D77"/>
                </a:solidFill>
                <a:latin typeface="Arial"/>
                <a:ea typeface="Arial"/>
                <a:cs typeface="Arial"/>
              </a:rPr>
              <a:t>Observable trace: requested tools and returned data</a:t>
            </a:r>
          </a:p>
        </p:txBody>
      </p:sp>
      <p:sp>
        <p:nvSpPr>
          <p:cNvPr id="4" name="footer">
            <a:extLst>
              <a:ext uri="{FF2B5EF4-FFF2-40B4-BE49-F238E27FC236}">
                <a16:creationId xmlns:a16="http://schemas.microsoft.com/office/drawing/2014/main" id="{A8F3F57F-97EF-415E-A1DF-BB3AC6F067FC}"/>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10</a:t>
            </a:r>
          </a:p>
        </p:txBody>
      </p:sp>
      <p:sp>
        <p:nvSpPr>
          <p:cNvPr id="6" name="Rectangle 5">
            <a:extLst>
              <a:ext uri="{FF2B5EF4-FFF2-40B4-BE49-F238E27FC236}">
                <a16:creationId xmlns:a16="http://schemas.microsoft.com/office/drawing/2014/main" id="{FFDE9756-EF16-6420-9FD5-C4FDAA1FAC5A}"/>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9" name="Rectangle 8">
            <a:extLst>
              <a:ext uri="{FF2B5EF4-FFF2-40B4-BE49-F238E27FC236}">
                <a16:creationId xmlns:a16="http://schemas.microsoft.com/office/drawing/2014/main" id="{C920590D-8BE5-2AF1-4DC8-1A5116900923}"/>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1635178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0AFA8BE7-A0B6-48B7-BFB1-041048FAC560}"/>
              </a:ext>
            </a:extLst>
          </p:cNvPr>
          <p:cNvSpPr>
            <a:spLocks noGrp="1"/>
          </p:cNvSpPr>
          <p:nvPr/>
        </p:nvSpPr>
        <p:spPr>
          <a:xfrm>
            <a:off x="551384" y="171450"/>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Hallucinations: plausible but unsupported</a:t>
            </a:r>
          </a:p>
        </p:txBody>
      </p:sp>
      <p:graphicFrame>
        <p:nvGraphicFramePr>
          <p:cNvPr id="8" name="Table 7"/>
          <p:cNvGraphicFramePr/>
          <p:nvPr/>
        </p:nvGraphicFramePr>
        <p:xfrm>
          <a:off x="685800" y="1752600"/>
          <a:ext cx="10820400" cy="2857500"/>
        </p:xfrm>
        <a:graphic>
          <a:graphicData uri="http://schemas.openxmlformats.org/drawingml/2006/table">
            <a:tbl>
              <a:tblPr/>
              <a:tblGrid>
                <a:gridCol w="54102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952500">
                <a:tc>
                  <a:txBody>
                    <a:bodyPr/>
                    <a:lstStyle/>
                    <a:p>
                      <a:r>
                        <a:rPr sz="2025" b="1">
                          <a:solidFill>
                            <a:srgbClr val="172D3B"/>
                          </a:solidFill>
                          <a:latin typeface="Arial"/>
                          <a:ea typeface="Arial"/>
                          <a:cs typeface="Arial"/>
                        </a:rPr>
                        <a:t>Provided evidence</a:t>
                      </a:r>
                    </a:p>
                  </a:txBody>
                  <a:tcPr>
                    <a:solidFill>
                      <a:srgbClr val="DCECEB"/>
                    </a:solidFill>
                  </a:tcPr>
                </a:tc>
                <a:tc>
                  <a:txBody>
                    <a:bodyPr/>
                    <a:lstStyle/>
                    <a:p>
                      <a:r>
                        <a:rPr sz="2025" b="1">
                          <a:solidFill>
                            <a:srgbClr val="172D3B"/>
                          </a:solidFill>
                          <a:latin typeface="Arial"/>
                          <a:ea typeface="Arial"/>
                          <a:cs typeface="Arial"/>
                        </a:rPr>
                        <a:t>Illustrative draft to check</a:t>
                      </a:r>
                    </a:p>
                  </a:txBody>
                  <a:tcPr>
                    <a:solidFill>
                      <a:srgbClr val="DCECEB"/>
                    </a:solidFill>
                  </a:tcPr>
                </a:tc>
                <a:extLst>
                  <a:ext uri="{0D108BD9-81ED-4DB2-BD59-A6C34878D82A}">
                    <a16:rowId xmlns:a16="http://schemas.microsoft.com/office/drawing/2014/main" val="10000"/>
                  </a:ext>
                </a:extLst>
              </a:tr>
              <a:tr h="952500">
                <a:tc>
                  <a:txBody>
                    <a:bodyPr/>
                    <a:lstStyle/>
                    <a:p>
                      <a:r>
                        <a:rPr sz="2025" b="0">
                          <a:solidFill>
                            <a:srgbClr val="172D3B"/>
                          </a:solidFill>
                          <a:latin typeface="Arial"/>
                          <a:ea typeface="Arial"/>
                          <a:cs typeface="Arial"/>
                        </a:rPr>
                        <a:t>I coordinated a student event and sent a volunteer schedule.</a:t>
                      </a:r>
                    </a:p>
                  </a:txBody>
                  <a:tcPr>
                    <a:solidFill>
                      <a:srgbClr val="FAFAF7"/>
                    </a:solidFill>
                  </a:tcPr>
                </a:tc>
                <a:tc>
                  <a:txBody>
                    <a:bodyPr/>
                    <a:lstStyle/>
                    <a:p>
                      <a:r>
                        <a:rPr sz="2025" b="0">
                          <a:solidFill>
                            <a:srgbClr val="172D3B"/>
                          </a:solidFill>
                          <a:latin typeface="Arial"/>
                          <a:ea typeface="Arial"/>
                          <a:cs typeface="Arial"/>
                        </a:rPr>
                        <a:t>I improved event efficiency by 30%.</a:t>
                      </a:r>
                    </a:p>
                  </a:txBody>
                  <a:tcPr>
                    <a:solidFill>
                      <a:srgbClr val="FAFAF7"/>
                    </a:solidFill>
                  </a:tcPr>
                </a:tc>
                <a:extLst>
                  <a:ext uri="{0D108BD9-81ED-4DB2-BD59-A6C34878D82A}">
                    <a16:rowId xmlns:a16="http://schemas.microsoft.com/office/drawing/2014/main" val="10001"/>
                  </a:ext>
                </a:extLst>
              </a:tr>
              <a:tr h="952500">
                <a:tc>
                  <a:txBody>
                    <a:bodyPr/>
                    <a:lstStyle/>
                    <a:p>
                      <a:r>
                        <a:rPr sz="2025" b="0">
                          <a:solidFill>
                            <a:srgbClr val="172D3B"/>
                          </a:solidFill>
                          <a:latin typeface="Arial"/>
                          <a:ea typeface="Arial"/>
                          <a:cs typeface="Arial"/>
                        </a:rPr>
                        <a:t>No measured improvement appears in the record.</a:t>
                      </a:r>
                    </a:p>
                  </a:txBody>
                  <a:tcPr>
                    <a:solidFill>
                      <a:srgbClr val="FAFAF7"/>
                    </a:solidFill>
                  </a:tcPr>
                </a:tc>
                <a:tc>
                  <a:txBody>
                    <a:bodyPr/>
                    <a:lstStyle/>
                    <a:p>
                      <a:r>
                        <a:rPr sz="2025" b="0">
                          <a:solidFill>
                            <a:srgbClr val="172D3B"/>
                          </a:solidFill>
                          <a:latin typeface="Arial"/>
                          <a:ea typeface="Arial"/>
                          <a:cs typeface="Arial"/>
                        </a:rPr>
                        <a:t>The percentage is an unsupported addition.</a:t>
                      </a:r>
                    </a:p>
                  </a:txBody>
                  <a:tcPr>
                    <a:solidFill>
                      <a:srgbClr val="FAFAF7"/>
                    </a:solidFill>
                  </a:tcPr>
                </a:tc>
                <a:extLst>
                  <a:ext uri="{0D108BD9-81ED-4DB2-BD59-A6C34878D82A}">
                    <a16:rowId xmlns:a16="http://schemas.microsoft.com/office/drawing/2014/main" val="10002"/>
                  </a:ext>
                </a:extLst>
              </a:tr>
            </a:tbl>
          </a:graphicData>
        </a:graphic>
      </p:graphicFrame>
      <p:sp>
        <p:nvSpPr>
          <p:cNvPr id="3" name="bottom-note">
            <a:extLst>
              <a:ext uri="{FF2B5EF4-FFF2-40B4-BE49-F238E27FC236}">
                <a16:creationId xmlns:a16="http://schemas.microsoft.com/office/drawing/2014/main" id="{8B6F98D5-F72B-4625-979F-C279AEADD39A}"/>
              </a:ext>
            </a:extLst>
          </p:cNvPr>
          <p:cNvSpPr>
            <a:spLocks noGrp="1"/>
          </p:cNvSpPr>
          <p:nvPr/>
        </p:nvSpPr>
        <p:spPr>
          <a:xfrm>
            <a:off x="479376" y="5740400"/>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dirty="0">
                <a:solidFill>
                  <a:srgbClr val="006D77"/>
                </a:solidFill>
                <a:latin typeface="Arial"/>
                <a:ea typeface="Arial"/>
                <a:cs typeface="Arial"/>
              </a:rPr>
              <a:t>A source ID or a confident tone does not prove that the source supports a claim.</a:t>
            </a:r>
          </a:p>
        </p:txBody>
      </p:sp>
      <p:sp>
        <p:nvSpPr>
          <p:cNvPr id="4" name="footer">
            <a:extLst>
              <a:ext uri="{FF2B5EF4-FFF2-40B4-BE49-F238E27FC236}">
                <a16:creationId xmlns:a16="http://schemas.microsoft.com/office/drawing/2014/main" id="{F3A75F65-9357-40E7-B2B8-41EB17991EA7}"/>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11</a:t>
            </a:r>
          </a:p>
        </p:txBody>
      </p:sp>
      <p:sp>
        <p:nvSpPr>
          <p:cNvPr id="6" name="Rectangle 5">
            <a:extLst>
              <a:ext uri="{FF2B5EF4-FFF2-40B4-BE49-F238E27FC236}">
                <a16:creationId xmlns:a16="http://schemas.microsoft.com/office/drawing/2014/main" id="{46721DF7-D873-2DC7-4FFA-283153F2F068}"/>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9" name="Rectangle 8">
            <a:extLst>
              <a:ext uri="{FF2B5EF4-FFF2-40B4-BE49-F238E27FC236}">
                <a16:creationId xmlns:a16="http://schemas.microsoft.com/office/drawing/2014/main" id="{8D0DD870-9D4B-6EB8-640B-DACF11E04B5C}"/>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140465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8D5BEC8D-4D80-44DF-B440-D9A125C08EF1}"/>
              </a:ext>
            </a:extLst>
          </p:cNvPr>
          <p:cNvSpPr>
            <a:spLocks noGrp="1"/>
          </p:cNvSpPr>
          <p:nvPr/>
        </p:nvSpPr>
        <p:spPr>
          <a:xfrm>
            <a:off x="609600" y="171450"/>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Other limits that affect useful agents</a:t>
            </a:r>
          </a:p>
        </p:txBody>
      </p:sp>
      <p:graphicFrame>
        <p:nvGraphicFramePr>
          <p:cNvPr id="8" name="Table 7"/>
          <p:cNvGraphicFramePr/>
          <p:nvPr/>
        </p:nvGraphicFramePr>
        <p:xfrm>
          <a:off x="685800" y="1752600"/>
          <a:ext cx="10820400" cy="3528060"/>
        </p:xfrm>
        <a:graphic>
          <a:graphicData uri="http://schemas.openxmlformats.org/drawingml/2006/table">
            <a:tbl>
              <a:tblPr/>
              <a:tblGrid>
                <a:gridCol w="3905250">
                  <a:extLst>
                    <a:ext uri="{9D8B030D-6E8A-4147-A177-3AD203B41FA5}">
                      <a16:colId xmlns:a16="http://schemas.microsoft.com/office/drawing/2014/main" val="20000"/>
                    </a:ext>
                  </a:extLst>
                </a:gridCol>
                <a:gridCol w="6915150">
                  <a:extLst>
                    <a:ext uri="{9D8B030D-6E8A-4147-A177-3AD203B41FA5}">
                      <a16:colId xmlns:a16="http://schemas.microsoft.com/office/drawing/2014/main" val="20001"/>
                    </a:ext>
                  </a:extLst>
                </a:gridCol>
              </a:tblGrid>
              <a:tr h="704850">
                <a:tc>
                  <a:txBody>
                    <a:bodyPr/>
                    <a:lstStyle/>
                    <a:p>
                      <a:r>
                        <a:rPr sz="2025" b="1">
                          <a:solidFill>
                            <a:srgbClr val="172D3B"/>
                          </a:solidFill>
                          <a:latin typeface="Arial"/>
                          <a:ea typeface="Arial"/>
                          <a:cs typeface="Arial"/>
                        </a:rPr>
                        <a:t>Risk</a:t>
                      </a:r>
                    </a:p>
                  </a:txBody>
                  <a:tcPr>
                    <a:solidFill>
                      <a:srgbClr val="DCECEB"/>
                    </a:solidFill>
                  </a:tcPr>
                </a:tc>
                <a:tc>
                  <a:txBody>
                    <a:bodyPr/>
                    <a:lstStyle/>
                    <a:p>
                      <a:r>
                        <a:rPr sz="2025" b="1">
                          <a:solidFill>
                            <a:srgbClr val="172D3B"/>
                          </a:solidFill>
                          <a:latin typeface="Arial"/>
                          <a:ea typeface="Arial"/>
                          <a:cs typeface="Arial"/>
                        </a:rPr>
                        <a:t>A practical response in our workshop</a:t>
                      </a:r>
                    </a:p>
                  </a:txBody>
                  <a:tcPr>
                    <a:solidFill>
                      <a:srgbClr val="DCECEB"/>
                    </a:solidFill>
                  </a:tcPr>
                </a:tc>
                <a:extLst>
                  <a:ext uri="{0D108BD9-81ED-4DB2-BD59-A6C34878D82A}">
                    <a16:rowId xmlns:a16="http://schemas.microsoft.com/office/drawing/2014/main" val="10000"/>
                  </a:ext>
                </a:extLst>
              </a:tr>
              <a:tr h="704850">
                <a:tc>
                  <a:txBody>
                    <a:bodyPr/>
                    <a:lstStyle/>
                    <a:p>
                      <a:r>
                        <a:rPr sz="2025" b="0">
                          <a:solidFill>
                            <a:srgbClr val="172D3B"/>
                          </a:solidFill>
                          <a:latin typeface="Arial"/>
                          <a:ea typeface="Arial"/>
                          <a:cs typeface="Arial"/>
                        </a:rPr>
                        <a:t>Missing or outdated context</a:t>
                      </a:r>
                    </a:p>
                  </a:txBody>
                  <a:tcPr>
                    <a:solidFill>
                      <a:srgbClr val="FAFAF7"/>
                    </a:solidFill>
                  </a:tcPr>
                </a:tc>
                <a:tc>
                  <a:txBody>
                    <a:bodyPr/>
                    <a:lstStyle/>
                    <a:p>
                      <a:r>
                        <a:rPr sz="2025" b="0">
                          <a:solidFill>
                            <a:srgbClr val="172D3B"/>
                          </a:solidFill>
                          <a:latin typeface="Arial"/>
                          <a:ea typeface="Arial"/>
                          <a:cs typeface="Arial"/>
                        </a:rPr>
                        <a:t>Supply relevant records and check dates</a:t>
                      </a:r>
                    </a:p>
                  </a:txBody>
                  <a:tcPr>
                    <a:solidFill>
                      <a:srgbClr val="FAFAF7"/>
                    </a:solidFill>
                  </a:tcPr>
                </a:tc>
                <a:extLst>
                  <a:ext uri="{0D108BD9-81ED-4DB2-BD59-A6C34878D82A}">
                    <a16:rowId xmlns:a16="http://schemas.microsoft.com/office/drawing/2014/main" val="10001"/>
                  </a:ext>
                </a:extLst>
              </a:tr>
              <a:tr h="704850">
                <a:tc>
                  <a:txBody>
                    <a:bodyPr/>
                    <a:lstStyle/>
                    <a:p>
                      <a:r>
                        <a:rPr sz="2025" b="0">
                          <a:solidFill>
                            <a:srgbClr val="172D3B"/>
                          </a:solidFill>
                          <a:latin typeface="Arial"/>
                          <a:ea typeface="Arial"/>
                          <a:cs typeface="Arial"/>
                        </a:rPr>
                        <a:t>Bias and sensitive data</a:t>
                      </a:r>
                    </a:p>
                  </a:txBody>
                  <a:tcPr>
                    <a:solidFill>
                      <a:srgbClr val="FAFAF7"/>
                    </a:solidFill>
                  </a:tcPr>
                </a:tc>
                <a:tc>
                  <a:txBody>
                    <a:bodyPr/>
                    <a:lstStyle/>
                    <a:p>
                      <a:r>
                        <a:rPr sz="2025" b="0">
                          <a:solidFill>
                            <a:srgbClr val="172D3B"/>
                          </a:solidFill>
                          <a:latin typeface="Arial"/>
                          <a:ea typeface="Arial"/>
                          <a:cs typeface="Arial"/>
                        </a:rPr>
                        <a:t>Use fictional examples and review suggestions</a:t>
                      </a:r>
                    </a:p>
                  </a:txBody>
                  <a:tcPr>
                    <a:solidFill>
                      <a:srgbClr val="FAFAF7"/>
                    </a:solidFill>
                  </a:tcPr>
                </a:tc>
                <a:extLst>
                  <a:ext uri="{0D108BD9-81ED-4DB2-BD59-A6C34878D82A}">
                    <a16:rowId xmlns:a16="http://schemas.microsoft.com/office/drawing/2014/main" val="10002"/>
                  </a:ext>
                </a:extLst>
              </a:tr>
              <a:tr h="704850">
                <a:tc>
                  <a:txBody>
                    <a:bodyPr/>
                    <a:lstStyle/>
                    <a:p>
                      <a:r>
                        <a:rPr sz="2025" b="0">
                          <a:solidFill>
                            <a:srgbClr val="172D3B"/>
                          </a:solidFill>
                          <a:latin typeface="Arial"/>
                          <a:ea typeface="Arial"/>
                          <a:cs typeface="Arial"/>
                        </a:rPr>
                        <a:t>Prompt injection in retrieved text</a:t>
                      </a:r>
                    </a:p>
                  </a:txBody>
                  <a:tcPr>
                    <a:solidFill>
                      <a:srgbClr val="FAFAF7"/>
                    </a:solidFill>
                  </a:tcPr>
                </a:tc>
                <a:tc>
                  <a:txBody>
                    <a:bodyPr/>
                    <a:lstStyle/>
                    <a:p>
                      <a:r>
                        <a:rPr sz="2025" b="0">
                          <a:solidFill>
                            <a:srgbClr val="172D3B"/>
                          </a:solidFill>
                          <a:latin typeface="Arial"/>
                          <a:ea typeface="Arial"/>
                          <a:cs typeface="Arial"/>
                        </a:rPr>
                        <a:t>Treat source text as data and restrict tools</a:t>
                      </a:r>
                    </a:p>
                  </a:txBody>
                  <a:tcPr>
                    <a:solidFill>
                      <a:srgbClr val="FAFAF7"/>
                    </a:solidFill>
                  </a:tcPr>
                </a:tc>
                <a:extLst>
                  <a:ext uri="{0D108BD9-81ED-4DB2-BD59-A6C34878D82A}">
                    <a16:rowId xmlns:a16="http://schemas.microsoft.com/office/drawing/2014/main" val="10003"/>
                  </a:ext>
                </a:extLst>
              </a:tr>
              <a:tr h="704850">
                <a:tc>
                  <a:txBody>
                    <a:bodyPr/>
                    <a:lstStyle/>
                    <a:p>
                      <a:r>
                        <a:rPr sz="2025" b="0">
                          <a:solidFill>
                            <a:srgbClr val="172D3B"/>
                          </a:solidFill>
                          <a:latin typeface="Arial"/>
                          <a:ea typeface="Arial"/>
                          <a:cs typeface="Arial"/>
                        </a:rPr>
                        <a:t>Tool failures and repeated actions</a:t>
                      </a:r>
                    </a:p>
                  </a:txBody>
                  <a:tcPr>
                    <a:solidFill>
                      <a:srgbClr val="FAFAF7"/>
                    </a:solidFill>
                  </a:tcPr>
                </a:tc>
                <a:tc>
                  <a:txBody>
                    <a:bodyPr/>
                    <a:lstStyle/>
                    <a:p>
                      <a:r>
                        <a:rPr sz="2025" b="0">
                          <a:solidFill>
                            <a:srgbClr val="172D3B"/>
                          </a:solidFill>
                          <a:latin typeface="Arial"/>
                          <a:ea typeface="Arial"/>
                          <a:cs typeface="Arial"/>
                        </a:rPr>
                        <a:t>Validate arguments, cap calls and stop on errors</a:t>
                      </a:r>
                    </a:p>
                  </a:txBody>
                  <a:tcPr>
                    <a:solidFill>
                      <a:srgbClr val="FAFAF7"/>
                    </a:solidFill>
                  </a:tcPr>
                </a:tc>
                <a:extLst>
                  <a:ext uri="{0D108BD9-81ED-4DB2-BD59-A6C34878D82A}">
                    <a16:rowId xmlns:a16="http://schemas.microsoft.com/office/drawing/2014/main" val="10004"/>
                  </a:ext>
                </a:extLst>
              </a:tr>
            </a:tbl>
          </a:graphicData>
        </a:graphic>
      </p:graphicFrame>
      <p:sp>
        <p:nvSpPr>
          <p:cNvPr id="3" name="bottom-note">
            <a:extLst>
              <a:ext uri="{FF2B5EF4-FFF2-40B4-BE49-F238E27FC236}">
                <a16:creationId xmlns:a16="http://schemas.microsoft.com/office/drawing/2014/main" id="{9BD0301B-6A48-4C96-BD0B-A9EAA94B6CEE}"/>
              </a:ext>
            </a:extLst>
          </p:cNvPr>
          <p:cNvSpPr>
            <a:spLocks noGrp="1"/>
          </p:cNvSpPr>
          <p:nvPr/>
        </p:nvSpPr>
        <p:spPr>
          <a:xfrm>
            <a:off x="685800" y="5572125"/>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a:solidFill>
                  <a:srgbClr val="006D77"/>
                </a:solidFill>
                <a:latin typeface="Arial"/>
                <a:ea typeface="Arial"/>
                <a:cs typeface="Arial"/>
              </a:rPr>
              <a:t>Human review matters before consequential use.</a:t>
            </a:r>
          </a:p>
        </p:txBody>
      </p:sp>
      <p:sp>
        <p:nvSpPr>
          <p:cNvPr id="4" name="footer">
            <a:extLst>
              <a:ext uri="{FF2B5EF4-FFF2-40B4-BE49-F238E27FC236}">
                <a16:creationId xmlns:a16="http://schemas.microsoft.com/office/drawing/2014/main" id="{0153DFA8-D277-4710-84EF-D845FD5C99A1}"/>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12</a:t>
            </a:r>
          </a:p>
        </p:txBody>
      </p:sp>
      <p:sp>
        <p:nvSpPr>
          <p:cNvPr id="6" name="Rectangle 5">
            <a:extLst>
              <a:ext uri="{FF2B5EF4-FFF2-40B4-BE49-F238E27FC236}">
                <a16:creationId xmlns:a16="http://schemas.microsoft.com/office/drawing/2014/main" id="{7B92BD02-9B8A-86C0-41A0-2A039418F40E}"/>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9" name="Rectangle 8">
            <a:extLst>
              <a:ext uri="{FF2B5EF4-FFF2-40B4-BE49-F238E27FC236}">
                <a16:creationId xmlns:a16="http://schemas.microsoft.com/office/drawing/2014/main" id="{2FB94FA6-5763-3A91-67C4-2FBD700CBF3D}"/>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280151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FBFC899B-9063-4A05-981F-9B5739CD82B6}"/>
              </a:ext>
            </a:extLst>
          </p:cNvPr>
          <p:cNvSpPr>
            <a:spLocks noGrp="1"/>
          </p:cNvSpPr>
          <p:nvPr/>
        </p:nvSpPr>
        <p:spPr>
          <a:xfrm>
            <a:off x="561975" y="260648"/>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API access and practical limits</a:t>
            </a:r>
          </a:p>
        </p:txBody>
      </p:sp>
      <p:sp>
        <p:nvSpPr>
          <p:cNvPr id="2" name="line-0">
            <a:extLst>
              <a:ext uri="{FF2B5EF4-FFF2-40B4-BE49-F238E27FC236}">
                <a16:creationId xmlns:a16="http://schemas.microsoft.com/office/drawing/2014/main" id="{D4ACC034-BE43-40BC-9C43-4AD6C4B0C928}"/>
              </a:ext>
            </a:extLst>
          </p:cNvPr>
          <p:cNvSpPr>
            <a:spLocks noGrp="1"/>
          </p:cNvSpPr>
          <p:nvPr/>
        </p:nvSpPr>
        <p:spPr>
          <a:xfrm>
            <a:off x="685800" y="1809750"/>
            <a:ext cx="10572750" cy="752475"/>
          </a:xfrm>
          <a:prstGeom prst="rect">
            <a:avLst/>
          </a:prstGeom>
          <a:noFill/>
          <a:ln w="0">
            <a:noFill/>
          </a:ln>
        </p:spPr>
        <p:txBody>
          <a:bodyPr>
            <a:noAutofit/>
          </a:bodyPr>
          <a:lstStyle/>
          <a:p>
            <a:pPr>
              <a:buNone/>
              <a:defRPr sz="2475" b="1">
                <a:solidFill>
                  <a:srgbClr val="172D3B"/>
                </a:solidFill>
                <a:latin typeface="Arial"/>
                <a:ea typeface="Arial"/>
                <a:cs typeface="Arial"/>
              </a:defRPr>
            </a:pPr>
            <a:r>
              <a:rPr sz="2475" b="1">
                <a:solidFill>
                  <a:srgbClr val="172D3B"/>
                </a:solidFill>
                <a:latin typeface="Arial"/>
                <a:ea typeface="Arial"/>
                <a:cs typeface="Arial"/>
              </a:rPr>
              <a:t>Live calls require organizer-approved access</a:t>
            </a:r>
          </a:p>
        </p:txBody>
      </p:sp>
      <p:sp>
        <p:nvSpPr>
          <p:cNvPr id="3" name="line-1">
            <a:extLst>
              <a:ext uri="{FF2B5EF4-FFF2-40B4-BE49-F238E27FC236}">
                <a16:creationId xmlns:a16="http://schemas.microsoft.com/office/drawing/2014/main" id="{11F30419-841C-4E85-A21B-9792EACD1E40}"/>
              </a:ext>
            </a:extLst>
          </p:cNvPr>
          <p:cNvSpPr>
            <a:spLocks noGrp="1"/>
          </p:cNvSpPr>
          <p:nvPr/>
        </p:nvSpPr>
        <p:spPr>
          <a:xfrm>
            <a:off x="685800" y="262890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Quotas apply per project, not per API key</a:t>
            </a:r>
          </a:p>
        </p:txBody>
      </p:sp>
      <p:sp>
        <p:nvSpPr>
          <p:cNvPr id="4" name="line-2">
            <a:extLst>
              <a:ext uri="{FF2B5EF4-FFF2-40B4-BE49-F238E27FC236}">
                <a16:creationId xmlns:a16="http://schemas.microsoft.com/office/drawing/2014/main" id="{4C6B8631-A1D4-457F-BFE4-CD5ED2C0A819}"/>
              </a:ext>
            </a:extLst>
          </p:cNvPr>
          <p:cNvSpPr>
            <a:spLocks noGrp="1"/>
          </p:cNvSpPr>
          <p:nvPr/>
        </p:nvSpPr>
        <p:spPr>
          <a:xfrm>
            <a:off x="685800" y="344805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Free Tier exists, but terms and capacity still apply</a:t>
            </a:r>
          </a:p>
        </p:txBody>
      </p:sp>
      <p:sp>
        <p:nvSpPr>
          <p:cNvPr id="5" name="line-3">
            <a:extLst>
              <a:ext uri="{FF2B5EF4-FFF2-40B4-BE49-F238E27FC236}">
                <a16:creationId xmlns:a16="http://schemas.microsoft.com/office/drawing/2014/main" id="{D74EAC94-1DCC-460C-B351-41882F879539}"/>
              </a:ext>
            </a:extLst>
          </p:cNvPr>
          <p:cNvSpPr>
            <a:spLocks noGrp="1"/>
          </p:cNvSpPr>
          <p:nvPr/>
        </p:nvSpPr>
        <p:spPr>
          <a:xfrm>
            <a:off x="685800" y="426720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Stored interaction settings differ from data-use terms</a:t>
            </a:r>
          </a:p>
        </p:txBody>
      </p:sp>
      <p:sp>
        <p:nvSpPr>
          <p:cNvPr id="6" name="bottom-note">
            <a:extLst>
              <a:ext uri="{FF2B5EF4-FFF2-40B4-BE49-F238E27FC236}">
                <a16:creationId xmlns:a16="http://schemas.microsoft.com/office/drawing/2014/main" id="{6CAB6355-A4B7-4114-9B21-EF2EE59C3190}"/>
              </a:ext>
            </a:extLst>
          </p:cNvPr>
          <p:cNvSpPr>
            <a:spLocks noGrp="1"/>
          </p:cNvSpPr>
          <p:nvPr/>
        </p:nvSpPr>
        <p:spPr>
          <a:xfrm>
            <a:off x="638175" y="5805264"/>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dirty="0">
                <a:solidFill>
                  <a:srgbClr val="006D77"/>
                </a:solidFill>
                <a:latin typeface="Arial"/>
                <a:ea typeface="Arial"/>
                <a:cs typeface="Arial"/>
              </a:rPr>
              <a:t>Checked 17 September 2026. Use an AI Studio auth key; never share it.</a:t>
            </a:r>
          </a:p>
        </p:txBody>
      </p:sp>
      <p:sp>
        <p:nvSpPr>
          <p:cNvPr id="7" name="footer">
            <a:extLst>
              <a:ext uri="{FF2B5EF4-FFF2-40B4-BE49-F238E27FC236}">
                <a16:creationId xmlns:a16="http://schemas.microsoft.com/office/drawing/2014/main" id="{2072E9FF-15A8-4D8D-AC54-4598AE3AA272}"/>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13</a:t>
            </a:r>
          </a:p>
        </p:txBody>
      </p:sp>
      <p:sp>
        <p:nvSpPr>
          <p:cNvPr id="10" name="Rectangle 9">
            <a:extLst>
              <a:ext uri="{FF2B5EF4-FFF2-40B4-BE49-F238E27FC236}">
                <a16:creationId xmlns:a16="http://schemas.microsoft.com/office/drawing/2014/main" id="{CDEAEC46-B3DE-C462-5CDE-9FF998667510}"/>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12" name="Rectangle 11">
            <a:extLst>
              <a:ext uri="{FF2B5EF4-FFF2-40B4-BE49-F238E27FC236}">
                <a16:creationId xmlns:a16="http://schemas.microsoft.com/office/drawing/2014/main" id="{1DF63590-BFE7-6308-40E0-29D9D6C56AA0}"/>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17758536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B71BEA35-3A1A-4D1F-BEC8-6216641B45CB}"/>
              </a:ext>
            </a:extLst>
          </p:cNvPr>
          <p:cNvSpPr>
            <a:spLocks noGrp="1"/>
          </p:cNvSpPr>
          <p:nvPr/>
        </p:nvSpPr>
        <p:spPr>
          <a:xfrm>
            <a:off x="533400" y="190500"/>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The notebook controls</a:t>
            </a:r>
          </a:p>
        </p:txBody>
      </p:sp>
      <p:sp>
        <p:nvSpPr>
          <p:cNvPr id="2" name="line-0">
            <a:extLst>
              <a:ext uri="{FF2B5EF4-FFF2-40B4-BE49-F238E27FC236}">
                <a16:creationId xmlns:a16="http://schemas.microsoft.com/office/drawing/2014/main" id="{010E5BBE-93A6-486C-88F5-751DBE3E715B}"/>
              </a:ext>
            </a:extLst>
          </p:cNvPr>
          <p:cNvSpPr>
            <a:spLocks noGrp="1"/>
          </p:cNvSpPr>
          <p:nvPr/>
        </p:nvSpPr>
        <p:spPr>
          <a:xfrm>
            <a:off x="685800" y="1809750"/>
            <a:ext cx="10572750" cy="752475"/>
          </a:xfrm>
          <a:prstGeom prst="rect">
            <a:avLst/>
          </a:prstGeom>
          <a:noFill/>
          <a:ln w="0">
            <a:noFill/>
          </a:ln>
        </p:spPr>
        <p:txBody>
          <a:bodyPr>
            <a:noAutofit/>
          </a:bodyPr>
          <a:lstStyle/>
          <a:p>
            <a:pPr>
              <a:buNone/>
              <a:defRPr sz="2475" b="1">
                <a:solidFill>
                  <a:srgbClr val="172D3B"/>
                </a:solidFill>
                <a:latin typeface="Arial"/>
                <a:ea typeface="Arial"/>
                <a:cs typeface="Arial"/>
              </a:defRPr>
            </a:pPr>
            <a:r>
              <a:rPr sz="2475" b="1">
                <a:solidFill>
                  <a:srgbClr val="172D3B"/>
                </a:solidFill>
                <a:latin typeface="Arial"/>
                <a:ea typeface="Arial"/>
                <a:cs typeface="Arial"/>
              </a:rPr>
              <a:t>Select the workshop .venv kernel</a:t>
            </a:r>
          </a:p>
        </p:txBody>
      </p:sp>
      <p:sp>
        <p:nvSpPr>
          <p:cNvPr id="3" name="line-1">
            <a:extLst>
              <a:ext uri="{FF2B5EF4-FFF2-40B4-BE49-F238E27FC236}">
                <a16:creationId xmlns:a16="http://schemas.microsoft.com/office/drawing/2014/main" id="{78DFD361-6422-4953-917B-71720A286288}"/>
              </a:ext>
            </a:extLst>
          </p:cNvPr>
          <p:cNvSpPr>
            <a:spLocks noGrp="1"/>
          </p:cNvSpPr>
          <p:nvPr/>
        </p:nvSpPr>
        <p:spPr>
          <a:xfrm>
            <a:off x="685800" y="262890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Shift+Enter runs the selected cell</a:t>
            </a:r>
          </a:p>
        </p:txBody>
      </p:sp>
      <p:sp>
        <p:nvSpPr>
          <p:cNvPr id="4" name="line-2">
            <a:extLst>
              <a:ext uri="{FF2B5EF4-FFF2-40B4-BE49-F238E27FC236}">
                <a16:creationId xmlns:a16="http://schemas.microsoft.com/office/drawing/2014/main" id="{14C0D6C5-A1B0-4F18-81F5-E5F86327AB7A}"/>
              </a:ext>
            </a:extLst>
          </p:cNvPr>
          <p:cNvSpPr>
            <a:spLocks noGrp="1"/>
          </p:cNvSpPr>
          <p:nvPr/>
        </p:nvSpPr>
        <p:spPr>
          <a:xfrm>
            <a:off x="685800" y="344805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Run definitions before the cells that use them</a:t>
            </a:r>
          </a:p>
        </p:txBody>
      </p:sp>
      <p:sp>
        <p:nvSpPr>
          <p:cNvPr id="5" name="bottom-note">
            <a:extLst>
              <a:ext uri="{FF2B5EF4-FFF2-40B4-BE49-F238E27FC236}">
                <a16:creationId xmlns:a16="http://schemas.microsoft.com/office/drawing/2014/main" id="{CE647FC6-458E-49E8-9404-979BD71F8AE8}"/>
              </a:ext>
            </a:extLst>
          </p:cNvPr>
          <p:cNvSpPr>
            <a:spLocks noGrp="1"/>
          </p:cNvSpPr>
          <p:nvPr/>
        </p:nvSpPr>
        <p:spPr>
          <a:xfrm>
            <a:off x="543372" y="5724525"/>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dirty="0">
                <a:solidFill>
                  <a:srgbClr val="006D77"/>
                </a:solidFill>
                <a:latin typeface="Arial"/>
                <a:ea typeface="Arial"/>
                <a:cs typeface="Arial"/>
              </a:rPr>
              <a:t>The guided notebook contains the code. Copy-along is optional.</a:t>
            </a:r>
          </a:p>
        </p:txBody>
      </p:sp>
      <p:sp>
        <p:nvSpPr>
          <p:cNvPr id="6" name="footer">
            <a:extLst>
              <a:ext uri="{FF2B5EF4-FFF2-40B4-BE49-F238E27FC236}">
                <a16:creationId xmlns:a16="http://schemas.microsoft.com/office/drawing/2014/main" id="{A2374625-BD5B-42DE-ACAF-67A5F735BAB9}"/>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14</a:t>
            </a:r>
          </a:p>
        </p:txBody>
      </p:sp>
      <p:sp>
        <p:nvSpPr>
          <p:cNvPr id="9" name="Rectangle 8">
            <a:extLst>
              <a:ext uri="{FF2B5EF4-FFF2-40B4-BE49-F238E27FC236}">
                <a16:creationId xmlns:a16="http://schemas.microsoft.com/office/drawing/2014/main" id="{4836A73D-0821-906A-7818-E5B4953327BA}"/>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11" name="Rectangle 10">
            <a:extLst>
              <a:ext uri="{FF2B5EF4-FFF2-40B4-BE49-F238E27FC236}">
                <a16:creationId xmlns:a16="http://schemas.microsoft.com/office/drawing/2014/main" id="{EDB1430D-B728-5157-D00C-5E1035B26777}"/>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1912741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F54A08D5-1841-4953-BD70-D628EDFED3A5}"/>
              </a:ext>
            </a:extLst>
          </p:cNvPr>
          <p:cNvSpPr>
            <a:spLocks noGrp="1"/>
          </p:cNvSpPr>
          <p:nvPr/>
        </p:nvSpPr>
        <p:spPr>
          <a:xfrm>
            <a:off x="566862" y="206797"/>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The first API response</a:t>
            </a:r>
          </a:p>
        </p:txBody>
      </p:sp>
      <p:sp>
        <p:nvSpPr>
          <p:cNvPr id="2" name="code">
            <a:extLst>
              <a:ext uri="{FF2B5EF4-FFF2-40B4-BE49-F238E27FC236}">
                <a16:creationId xmlns:a16="http://schemas.microsoft.com/office/drawing/2014/main" id="{A13E31F4-ACBA-4E23-88E4-20AB11845AA4}"/>
              </a:ext>
            </a:extLst>
          </p:cNvPr>
          <p:cNvSpPr>
            <a:spLocks noGrp="1"/>
          </p:cNvSpPr>
          <p:nvPr/>
        </p:nvSpPr>
        <p:spPr>
          <a:xfrm>
            <a:off x="685800" y="1809750"/>
            <a:ext cx="6286500" cy="2143125"/>
          </a:xfrm>
          <a:prstGeom prst="rect">
            <a:avLst/>
          </a:prstGeom>
          <a:solidFill>
            <a:srgbClr val="EDF3F2"/>
          </a:solidFill>
          <a:ln w="0">
            <a:noFill/>
          </a:ln>
        </p:spPr>
        <p:txBody>
          <a:bodyPr>
            <a:noAutofit/>
          </a:bodyPr>
          <a:lstStyle/>
          <a:p>
            <a:pPr>
              <a:buNone/>
              <a:defRPr sz="2175" b="0">
                <a:solidFill>
                  <a:srgbClr val="172D3B"/>
                </a:solidFill>
                <a:latin typeface="Consolas"/>
                <a:ea typeface="Consolas"/>
                <a:cs typeface="Consolas"/>
              </a:defRPr>
            </a:pPr>
            <a:r>
              <a:rPr sz="2175" b="0">
                <a:solidFill>
                  <a:srgbClr val="172D3B"/>
                </a:solidFill>
                <a:latin typeface="Consolas"/>
                <a:ea typeface="Consolas"/>
                <a:cs typeface="Consolas"/>
              </a:rPr>
              <a:t>first_response = run_demo(</a:t>
            </a:r>
          </a:p>
          <a:p>
            <a:pPr>
              <a:buNone/>
              <a:defRPr sz="2175" b="0">
                <a:solidFill>
                  <a:srgbClr val="172D3B"/>
                </a:solidFill>
                <a:latin typeface="Consolas"/>
                <a:ea typeface="Consolas"/>
                <a:cs typeface="Consolas"/>
              </a:defRPr>
            </a:pPr>
            <a:r>
              <a:rPr sz="2175" b="0">
                <a:solidFill>
                  <a:srgbClr val="172D3B"/>
                </a:solidFill>
                <a:latin typeface="Consolas"/>
                <a:ea typeface="Consolas"/>
                <a:cs typeface="Consolas"/>
              </a:rPr>
              <a:t>    client, MODEL</a:t>
            </a:r>
          </a:p>
          <a:p>
            <a:pPr>
              <a:buNone/>
              <a:defRPr sz="2175" b="0">
                <a:solidFill>
                  <a:srgbClr val="172D3B"/>
                </a:solidFill>
                <a:latin typeface="Consolas"/>
                <a:ea typeface="Consolas"/>
                <a:cs typeface="Consolas"/>
              </a:defRPr>
            </a:pPr>
            <a:r>
              <a:rPr sz="2175" b="0">
                <a:solidFill>
                  <a:srgbClr val="172D3B"/>
                </a:solidFill>
                <a:latin typeface="Consolas"/>
                <a:ea typeface="Consolas"/>
                <a:cs typeface="Consolas"/>
              </a:rPr>
              <a:t>)</a:t>
            </a:r>
          </a:p>
          <a:p>
            <a:pPr>
              <a:buNone/>
              <a:defRPr sz="2175" b="0">
                <a:solidFill>
                  <a:srgbClr val="172D3B"/>
                </a:solidFill>
                <a:latin typeface="Consolas"/>
                <a:ea typeface="Consolas"/>
                <a:cs typeface="Consolas"/>
              </a:defRPr>
            </a:pPr>
            <a:r>
              <a:rPr sz="2175" b="0">
                <a:solidFill>
                  <a:srgbClr val="172D3B"/>
                </a:solidFill>
                <a:latin typeface="Consolas"/>
                <a:ea typeface="Consolas"/>
                <a:cs typeface="Consolas"/>
              </a:rPr>
              <a:t>show_result(first_response)</a:t>
            </a:r>
          </a:p>
        </p:txBody>
      </p:sp>
      <p:sp>
        <p:nvSpPr>
          <p:cNvPr id="3" name="instruction-0">
            <a:extLst>
              <a:ext uri="{FF2B5EF4-FFF2-40B4-BE49-F238E27FC236}">
                <a16:creationId xmlns:a16="http://schemas.microsoft.com/office/drawing/2014/main" id="{B2525B1F-9A09-4D4E-98D3-61DC7C7F4E22}"/>
              </a:ext>
            </a:extLst>
          </p:cNvPr>
          <p:cNvSpPr>
            <a:spLocks noGrp="1"/>
          </p:cNvSpPr>
          <p:nvPr/>
        </p:nvSpPr>
        <p:spPr>
          <a:xfrm>
            <a:off x="7477125" y="1809750"/>
            <a:ext cx="4000500" cy="800100"/>
          </a:xfrm>
          <a:prstGeom prst="rect">
            <a:avLst/>
          </a:prstGeom>
          <a:noFill/>
          <a:ln w="0">
            <a:noFill/>
          </a:ln>
        </p:spPr>
        <p:txBody>
          <a:bodyPr>
            <a:noAutofit/>
          </a:bodyPr>
          <a:lstStyle/>
          <a:p>
            <a:pPr>
              <a:buNone/>
              <a:defRPr sz="2100" b="1">
                <a:solidFill>
                  <a:srgbClr val="172D3B"/>
                </a:solidFill>
                <a:latin typeface="Arial"/>
                <a:ea typeface="Arial"/>
                <a:cs typeface="Arial"/>
              </a:defRPr>
            </a:pPr>
            <a:r>
              <a:rPr sz="2100" b="1">
                <a:solidFill>
                  <a:srgbClr val="172D3B"/>
                </a:solidFill>
                <a:latin typeface="Arial"/>
                <a:ea typeface="Arial"/>
                <a:cs typeface="Arial"/>
              </a:rPr>
              <a:t>CONNECT=True opens hidden key entry</a:t>
            </a:r>
          </a:p>
        </p:txBody>
      </p:sp>
      <p:sp>
        <p:nvSpPr>
          <p:cNvPr id="4" name="instruction-1">
            <a:extLst>
              <a:ext uri="{FF2B5EF4-FFF2-40B4-BE49-F238E27FC236}">
                <a16:creationId xmlns:a16="http://schemas.microsoft.com/office/drawing/2014/main" id="{57144147-A3E6-47D1-A78D-BCB1FFA6F56E}"/>
              </a:ext>
            </a:extLst>
          </p:cNvPr>
          <p:cNvSpPr>
            <a:spLocks noGrp="1"/>
          </p:cNvSpPr>
          <p:nvPr/>
        </p:nvSpPr>
        <p:spPr>
          <a:xfrm>
            <a:off x="7477125" y="2667000"/>
            <a:ext cx="4000500" cy="800100"/>
          </a:xfrm>
          <a:prstGeom prst="rect">
            <a:avLst/>
          </a:prstGeom>
          <a:noFill/>
          <a:ln w="0">
            <a:noFill/>
          </a:ln>
        </p:spPr>
        <p:txBody>
          <a:bodyPr>
            <a:noAutofit/>
          </a:bodyPr>
          <a:lstStyle/>
          <a:p>
            <a:pPr>
              <a:buNone/>
              <a:defRPr sz="2100" b="0">
                <a:solidFill>
                  <a:srgbClr val="172D3B"/>
                </a:solidFill>
                <a:latin typeface="Arial"/>
                <a:ea typeface="Arial"/>
                <a:cs typeface="Arial"/>
              </a:defRPr>
            </a:pPr>
            <a:r>
              <a:rPr sz="2100" b="0">
                <a:solidFill>
                  <a:srgbClr val="172D3B"/>
                </a:solidFill>
                <a:latin typeface="Arial"/>
                <a:ea typeface="Arial"/>
                <a:cs typeface="Arial"/>
              </a:rPr>
              <a:t>RUN_LIVE=True enables the request</a:t>
            </a:r>
          </a:p>
        </p:txBody>
      </p:sp>
      <p:sp>
        <p:nvSpPr>
          <p:cNvPr id="5" name="instruction-2">
            <a:extLst>
              <a:ext uri="{FF2B5EF4-FFF2-40B4-BE49-F238E27FC236}">
                <a16:creationId xmlns:a16="http://schemas.microsoft.com/office/drawing/2014/main" id="{23090D5D-4A19-46DE-B9B4-959AFA656C4F}"/>
              </a:ext>
            </a:extLst>
          </p:cNvPr>
          <p:cNvSpPr>
            <a:spLocks noGrp="1"/>
          </p:cNvSpPr>
          <p:nvPr/>
        </p:nvSpPr>
        <p:spPr>
          <a:xfrm>
            <a:off x="7477125" y="3524250"/>
            <a:ext cx="4000500" cy="800100"/>
          </a:xfrm>
          <a:prstGeom prst="rect">
            <a:avLst/>
          </a:prstGeom>
          <a:noFill/>
          <a:ln w="0">
            <a:noFill/>
          </a:ln>
        </p:spPr>
        <p:txBody>
          <a:bodyPr>
            <a:noAutofit/>
          </a:bodyPr>
          <a:lstStyle/>
          <a:p>
            <a:pPr>
              <a:buNone/>
              <a:defRPr sz="2100" b="0">
                <a:solidFill>
                  <a:srgbClr val="172D3B"/>
                </a:solidFill>
                <a:latin typeface="Arial"/>
                <a:ea typeface="Arial"/>
                <a:cs typeface="Arial"/>
              </a:defRPr>
            </a:pPr>
            <a:r>
              <a:rPr sz="2100" b="0">
                <a:solidFill>
                  <a:srgbClr val="172D3B"/>
                </a:solidFill>
                <a:latin typeface="Arial"/>
                <a:ea typeface="Arial"/>
                <a:cs typeface="Arial"/>
              </a:rPr>
              <a:t>Type RUN to confirm</a:t>
            </a:r>
          </a:p>
        </p:txBody>
      </p:sp>
      <p:sp>
        <p:nvSpPr>
          <p:cNvPr id="6" name="bottom-note">
            <a:extLst>
              <a:ext uri="{FF2B5EF4-FFF2-40B4-BE49-F238E27FC236}">
                <a16:creationId xmlns:a16="http://schemas.microsoft.com/office/drawing/2014/main" id="{FF140A9F-9CFE-4887-9E10-96148FD2AADE}"/>
              </a:ext>
            </a:extLst>
          </p:cNvPr>
          <p:cNvSpPr>
            <a:spLocks noGrp="1"/>
          </p:cNvSpPr>
          <p:nvPr/>
        </p:nvSpPr>
        <p:spPr>
          <a:xfrm>
            <a:off x="558528" y="5805264"/>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dirty="0">
                <a:solidFill>
                  <a:srgbClr val="006D77"/>
                </a:solidFill>
                <a:latin typeface="Arial"/>
                <a:ea typeface="Arial"/>
                <a:cs typeface="Arial"/>
              </a:rPr>
              <a:t>One request. This first exercise uses a model without tools.</a:t>
            </a:r>
          </a:p>
        </p:txBody>
      </p:sp>
      <p:sp>
        <p:nvSpPr>
          <p:cNvPr id="7" name="footer">
            <a:extLst>
              <a:ext uri="{FF2B5EF4-FFF2-40B4-BE49-F238E27FC236}">
                <a16:creationId xmlns:a16="http://schemas.microsoft.com/office/drawing/2014/main" id="{AB7F6C9C-FB76-4F5C-80E7-0E4C33B4AC7A}"/>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15</a:t>
            </a:r>
          </a:p>
        </p:txBody>
      </p:sp>
      <p:sp>
        <p:nvSpPr>
          <p:cNvPr id="10" name="Rectangle 9">
            <a:extLst>
              <a:ext uri="{FF2B5EF4-FFF2-40B4-BE49-F238E27FC236}">
                <a16:creationId xmlns:a16="http://schemas.microsoft.com/office/drawing/2014/main" id="{33C2F0BC-731D-DB4B-175F-F7A1AF9199E0}"/>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12" name="Rectangle 11">
            <a:extLst>
              <a:ext uri="{FF2B5EF4-FFF2-40B4-BE49-F238E27FC236}">
                <a16:creationId xmlns:a16="http://schemas.microsoft.com/office/drawing/2014/main" id="{2569FD07-A58A-5B0A-A136-914DBFF9C598}"/>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1114091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F35AB332-EA8F-4CB6-9F88-6D46489F7201}"/>
              </a:ext>
            </a:extLst>
          </p:cNvPr>
          <p:cNvSpPr>
            <a:spLocks noGrp="1"/>
          </p:cNvSpPr>
          <p:nvPr/>
        </p:nvSpPr>
        <p:spPr>
          <a:xfrm>
            <a:off x="533400" y="190500"/>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Tool one: role lookup</a:t>
            </a:r>
          </a:p>
        </p:txBody>
      </p:sp>
      <p:sp>
        <p:nvSpPr>
          <p:cNvPr id="2" name="code">
            <a:extLst>
              <a:ext uri="{FF2B5EF4-FFF2-40B4-BE49-F238E27FC236}">
                <a16:creationId xmlns:a16="http://schemas.microsoft.com/office/drawing/2014/main" id="{E79FC6F5-F825-498F-8FC6-F3A21CB25F5A}"/>
              </a:ext>
            </a:extLst>
          </p:cNvPr>
          <p:cNvSpPr>
            <a:spLocks noGrp="1"/>
          </p:cNvSpPr>
          <p:nvPr/>
        </p:nvSpPr>
        <p:spPr>
          <a:xfrm>
            <a:off x="685800" y="1809750"/>
            <a:ext cx="6286500" cy="2143125"/>
          </a:xfrm>
          <a:prstGeom prst="rect">
            <a:avLst/>
          </a:prstGeom>
          <a:solidFill>
            <a:srgbClr val="EDF3F2"/>
          </a:solidFill>
          <a:ln w="0">
            <a:noFill/>
          </a:ln>
        </p:spPr>
        <p:txBody>
          <a:bodyPr>
            <a:noAutofit/>
          </a:bodyPr>
          <a:lstStyle/>
          <a:p>
            <a:pPr>
              <a:buNone/>
              <a:defRPr sz="2175" b="0">
                <a:solidFill>
                  <a:srgbClr val="172D3B"/>
                </a:solidFill>
                <a:latin typeface="Consolas"/>
                <a:ea typeface="Consolas"/>
                <a:cs typeface="Consolas"/>
              </a:defRPr>
            </a:pPr>
            <a:r>
              <a:rPr sz="2175" b="0">
                <a:solidFill>
                  <a:srgbClr val="172D3B"/>
                </a:solidFill>
                <a:latin typeface="Consolas"/>
                <a:ea typeface="Consolas"/>
                <a:cs typeface="Consolas"/>
              </a:rPr>
              <a:t>ROLE_ID = "project_coordinator"</a:t>
            </a:r>
          </a:p>
          <a:p>
            <a:pPr>
              <a:buNone/>
              <a:defRPr sz="2175" b="0">
                <a:solidFill>
                  <a:srgbClr val="172D3B"/>
                </a:solidFill>
                <a:latin typeface="Consolas"/>
                <a:ea typeface="Consolas"/>
                <a:cs typeface="Consolas"/>
              </a:defRPr>
            </a:pPr>
            <a:r>
              <a:rPr sz="2175" b="0">
                <a:solidFill>
                  <a:srgbClr val="172D3B"/>
                </a:solidFill>
                <a:latin typeface="Consolas"/>
                <a:ea typeface="Consolas"/>
                <a:cs typeface="Consolas"/>
              </a:rPr>
              <a:t>pprint(get_role(ROLE_ID))</a:t>
            </a:r>
          </a:p>
          <a:p>
            <a:pPr>
              <a:buNone/>
              <a:defRPr sz="2175" b="0">
                <a:solidFill>
                  <a:srgbClr val="172D3B"/>
                </a:solidFill>
                <a:latin typeface="Consolas"/>
                <a:ea typeface="Consolas"/>
                <a:cs typeface="Consolas"/>
              </a:defRPr>
            </a:pPr>
            <a:r>
              <a:rPr sz="2175" b="0">
                <a:solidFill>
                  <a:srgbClr val="172D3B"/>
                </a:solidFill>
                <a:latin typeface="Consolas"/>
                <a:ea typeface="Consolas"/>
                <a:cs typeface="Consolas"/>
              </a:rPr>
              <a:t>pprint(get_role("astronaut"))</a:t>
            </a:r>
          </a:p>
        </p:txBody>
      </p:sp>
      <p:sp>
        <p:nvSpPr>
          <p:cNvPr id="3" name="instruction-0">
            <a:extLst>
              <a:ext uri="{FF2B5EF4-FFF2-40B4-BE49-F238E27FC236}">
                <a16:creationId xmlns:a16="http://schemas.microsoft.com/office/drawing/2014/main" id="{4A04D2D1-852A-41B5-9187-904A9FBC4FE2}"/>
              </a:ext>
            </a:extLst>
          </p:cNvPr>
          <p:cNvSpPr>
            <a:spLocks noGrp="1"/>
          </p:cNvSpPr>
          <p:nvPr/>
        </p:nvSpPr>
        <p:spPr>
          <a:xfrm>
            <a:off x="7477125" y="1809750"/>
            <a:ext cx="4000500" cy="800100"/>
          </a:xfrm>
          <a:prstGeom prst="rect">
            <a:avLst/>
          </a:prstGeom>
          <a:noFill/>
          <a:ln w="0">
            <a:noFill/>
          </a:ln>
        </p:spPr>
        <p:txBody>
          <a:bodyPr>
            <a:noAutofit/>
          </a:bodyPr>
          <a:lstStyle/>
          <a:p>
            <a:pPr>
              <a:buNone/>
              <a:defRPr sz="2100" b="1">
                <a:solidFill>
                  <a:srgbClr val="172D3B"/>
                </a:solidFill>
                <a:latin typeface="Arial"/>
                <a:ea typeface="Arial"/>
                <a:cs typeface="Arial"/>
              </a:defRPr>
            </a:pPr>
            <a:r>
              <a:rPr sz="2100" b="1">
                <a:solidFill>
                  <a:srgbClr val="172D3B"/>
                </a:solidFill>
                <a:latin typeface="Arial"/>
                <a:ea typeface="Arial"/>
                <a:cs typeface="Arial"/>
              </a:rPr>
              <a:t>A card with a title and skills</a:t>
            </a:r>
          </a:p>
        </p:txBody>
      </p:sp>
      <p:sp>
        <p:nvSpPr>
          <p:cNvPr id="4" name="instruction-1">
            <a:extLst>
              <a:ext uri="{FF2B5EF4-FFF2-40B4-BE49-F238E27FC236}">
                <a16:creationId xmlns:a16="http://schemas.microsoft.com/office/drawing/2014/main" id="{CE0994A4-18B8-41E8-B443-6B3E7CE34579}"/>
              </a:ext>
            </a:extLst>
          </p:cNvPr>
          <p:cNvSpPr>
            <a:spLocks noGrp="1"/>
          </p:cNvSpPr>
          <p:nvPr/>
        </p:nvSpPr>
        <p:spPr>
          <a:xfrm>
            <a:off x="7477125" y="2667000"/>
            <a:ext cx="4000500" cy="800100"/>
          </a:xfrm>
          <a:prstGeom prst="rect">
            <a:avLst/>
          </a:prstGeom>
          <a:noFill/>
          <a:ln w="0">
            <a:noFill/>
          </a:ln>
        </p:spPr>
        <p:txBody>
          <a:bodyPr>
            <a:noAutofit/>
          </a:bodyPr>
          <a:lstStyle/>
          <a:p>
            <a:pPr>
              <a:buNone/>
              <a:defRPr sz="2100" b="0">
                <a:solidFill>
                  <a:srgbClr val="172D3B"/>
                </a:solidFill>
                <a:latin typeface="Arial"/>
                <a:ea typeface="Arial"/>
                <a:cs typeface="Arial"/>
              </a:defRPr>
            </a:pPr>
            <a:r>
              <a:rPr sz="2100" b="0">
                <a:solidFill>
                  <a:srgbClr val="172D3B"/>
                </a:solidFill>
                <a:latin typeface="Arial"/>
                <a:ea typeface="Arial"/>
                <a:cs typeface="Arial"/>
              </a:rPr>
              <a:t>A change you can predict</a:t>
            </a:r>
          </a:p>
        </p:txBody>
      </p:sp>
      <p:sp>
        <p:nvSpPr>
          <p:cNvPr id="5" name="instruction-2">
            <a:extLst>
              <a:ext uri="{FF2B5EF4-FFF2-40B4-BE49-F238E27FC236}">
                <a16:creationId xmlns:a16="http://schemas.microsoft.com/office/drawing/2014/main" id="{79F71CD7-62FF-4780-A12F-C83041A894BF}"/>
              </a:ext>
            </a:extLst>
          </p:cNvPr>
          <p:cNvSpPr>
            <a:spLocks noGrp="1"/>
          </p:cNvSpPr>
          <p:nvPr/>
        </p:nvSpPr>
        <p:spPr>
          <a:xfrm>
            <a:off x="7477125" y="3524250"/>
            <a:ext cx="4000500" cy="800100"/>
          </a:xfrm>
          <a:prstGeom prst="rect">
            <a:avLst/>
          </a:prstGeom>
          <a:noFill/>
          <a:ln w="0">
            <a:noFill/>
          </a:ln>
        </p:spPr>
        <p:txBody>
          <a:bodyPr>
            <a:noAutofit/>
          </a:bodyPr>
          <a:lstStyle/>
          <a:p>
            <a:pPr>
              <a:buNone/>
              <a:defRPr sz="2100" b="0">
                <a:solidFill>
                  <a:srgbClr val="172D3B"/>
                </a:solidFill>
                <a:latin typeface="Arial"/>
                <a:ea typeface="Arial"/>
                <a:cs typeface="Arial"/>
              </a:defRPr>
            </a:pPr>
            <a:r>
              <a:rPr sz="2100" b="0">
                <a:solidFill>
                  <a:srgbClr val="172D3B"/>
                </a:solidFill>
                <a:latin typeface="Arial"/>
                <a:ea typeface="Arial"/>
                <a:cs typeface="Arial"/>
              </a:rPr>
              <a:t>An unsupported role has a status</a:t>
            </a:r>
          </a:p>
        </p:txBody>
      </p:sp>
      <p:sp>
        <p:nvSpPr>
          <p:cNvPr id="6" name="bottom-note">
            <a:extLst>
              <a:ext uri="{FF2B5EF4-FFF2-40B4-BE49-F238E27FC236}">
                <a16:creationId xmlns:a16="http://schemas.microsoft.com/office/drawing/2014/main" id="{321507C7-3F91-4979-AF6E-1A5D66463505}"/>
              </a:ext>
            </a:extLst>
          </p:cNvPr>
          <p:cNvSpPr>
            <a:spLocks noGrp="1"/>
          </p:cNvSpPr>
          <p:nvPr/>
        </p:nvSpPr>
        <p:spPr>
          <a:xfrm>
            <a:off x="596330" y="5724525"/>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dirty="0">
                <a:solidFill>
                  <a:srgbClr val="006D77"/>
                </a:solidFill>
                <a:latin typeface="Arial"/>
                <a:ea typeface="Arial"/>
                <a:cs typeface="Arial"/>
              </a:rPr>
              <a:t>The function reads curated cards, not arbitrary job advertisements.</a:t>
            </a:r>
          </a:p>
        </p:txBody>
      </p:sp>
      <p:sp>
        <p:nvSpPr>
          <p:cNvPr id="7" name="footer">
            <a:extLst>
              <a:ext uri="{FF2B5EF4-FFF2-40B4-BE49-F238E27FC236}">
                <a16:creationId xmlns:a16="http://schemas.microsoft.com/office/drawing/2014/main" id="{CA673616-E3BB-493F-88D1-73A851010FAC}"/>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16</a:t>
            </a:r>
          </a:p>
        </p:txBody>
      </p:sp>
      <p:sp>
        <p:nvSpPr>
          <p:cNvPr id="10" name="Rectangle 9">
            <a:extLst>
              <a:ext uri="{FF2B5EF4-FFF2-40B4-BE49-F238E27FC236}">
                <a16:creationId xmlns:a16="http://schemas.microsoft.com/office/drawing/2014/main" id="{03BA81BD-23D0-EEBF-520C-5FECC2D7F09B}"/>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12" name="Rectangle 11">
            <a:extLst>
              <a:ext uri="{FF2B5EF4-FFF2-40B4-BE49-F238E27FC236}">
                <a16:creationId xmlns:a16="http://schemas.microsoft.com/office/drawing/2014/main" id="{82555345-2B18-ABF6-FBF7-A7422A5F88FB}"/>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387668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416EEA0E-512F-4013-8708-8AD0AF76EE09}"/>
              </a:ext>
            </a:extLst>
          </p:cNvPr>
          <p:cNvSpPr>
            <a:spLocks noGrp="1"/>
          </p:cNvSpPr>
          <p:nvPr/>
        </p:nvSpPr>
        <p:spPr>
          <a:xfrm>
            <a:off x="551384" y="188640"/>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Tool two: evidence and STAR</a:t>
            </a:r>
          </a:p>
        </p:txBody>
      </p:sp>
      <p:sp>
        <p:nvSpPr>
          <p:cNvPr id="2" name="code">
            <a:extLst>
              <a:ext uri="{FF2B5EF4-FFF2-40B4-BE49-F238E27FC236}">
                <a16:creationId xmlns:a16="http://schemas.microsoft.com/office/drawing/2014/main" id="{90809B04-00BF-4EAD-A8D8-2EB91C160BCF}"/>
              </a:ext>
            </a:extLst>
          </p:cNvPr>
          <p:cNvSpPr>
            <a:spLocks noGrp="1"/>
          </p:cNvSpPr>
          <p:nvPr/>
        </p:nvSpPr>
        <p:spPr>
          <a:xfrm>
            <a:off x="685800" y="1809750"/>
            <a:ext cx="6286500" cy="2143125"/>
          </a:xfrm>
          <a:prstGeom prst="rect">
            <a:avLst/>
          </a:prstGeom>
          <a:solidFill>
            <a:srgbClr val="EDF3F2"/>
          </a:solidFill>
          <a:ln w="0">
            <a:noFill/>
          </a:ln>
        </p:spPr>
        <p:txBody>
          <a:bodyPr>
            <a:noAutofit/>
          </a:bodyPr>
          <a:lstStyle/>
          <a:p>
            <a:pPr>
              <a:buNone/>
              <a:defRPr sz="2175" b="0">
                <a:solidFill>
                  <a:srgbClr val="172D3B"/>
                </a:solidFill>
                <a:latin typeface="Consolas"/>
                <a:ea typeface="Consolas"/>
                <a:cs typeface="Consolas"/>
              </a:defRPr>
            </a:pPr>
            <a:r>
              <a:rPr sz="2175" b="0">
                <a:solidFill>
                  <a:srgbClr val="172D3B"/>
                </a:solidFill>
                <a:latin typeface="Consolas"/>
                <a:ea typeface="Consolas"/>
                <a:cs typeface="Consolas"/>
              </a:rPr>
              <a:t>pprint(get_evidence("communication"))</a:t>
            </a:r>
          </a:p>
          <a:p>
            <a:pPr>
              <a:buNone/>
              <a:defRPr sz="2175" b="0">
                <a:solidFill>
                  <a:srgbClr val="172D3B"/>
                </a:solidFill>
                <a:latin typeface="Consolas"/>
                <a:ea typeface="Consolas"/>
                <a:cs typeface="Consolas"/>
              </a:defRPr>
            </a:pPr>
            <a:r>
              <a:rPr sz="2175" b="0">
                <a:solidFill>
                  <a:srgbClr val="172D3B"/>
                </a:solidFill>
                <a:latin typeface="Consolas"/>
                <a:ea typeface="Consolas"/>
                <a:cs typeface="Consolas"/>
              </a:rPr>
              <a:t>pprint(get_evidence("sql"))</a:t>
            </a:r>
          </a:p>
        </p:txBody>
      </p:sp>
      <p:sp>
        <p:nvSpPr>
          <p:cNvPr id="3" name="instruction-0">
            <a:extLst>
              <a:ext uri="{FF2B5EF4-FFF2-40B4-BE49-F238E27FC236}">
                <a16:creationId xmlns:a16="http://schemas.microsoft.com/office/drawing/2014/main" id="{8CAB93CA-AAFD-4B10-8220-868306E9BE01}"/>
              </a:ext>
            </a:extLst>
          </p:cNvPr>
          <p:cNvSpPr>
            <a:spLocks noGrp="1"/>
          </p:cNvSpPr>
          <p:nvPr/>
        </p:nvSpPr>
        <p:spPr>
          <a:xfrm>
            <a:off x="7477125" y="1809750"/>
            <a:ext cx="4000500" cy="800100"/>
          </a:xfrm>
          <a:prstGeom prst="rect">
            <a:avLst/>
          </a:prstGeom>
          <a:noFill/>
          <a:ln w="0">
            <a:noFill/>
          </a:ln>
        </p:spPr>
        <p:txBody>
          <a:bodyPr>
            <a:noAutofit/>
          </a:bodyPr>
          <a:lstStyle/>
          <a:p>
            <a:pPr>
              <a:buNone/>
              <a:defRPr sz="2100" b="1">
                <a:solidFill>
                  <a:srgbClr val="172D3B"/>
                </a:solidFill>
                <a:latin typeface="Arial"/>
                <a:ea typeface="Arial"/>
                <a:cs typeface="Arial"/>
              </a:defRPr>
            </a:pPr>
            <a:r>
              <a:rPr sz="2100" b="1">
                <a:solidFill>
                  <a:srgbClr val="172D3B"/>
                </a:solidFill>
                <a:latin typeface="Arial"/>
                <a:ea typeface="Arial"/>
                <a:cs typeface="Arial"/>
              </a:rPr>
              <a:t>Situation: the context</a:t>
            </a:r>
          </a:p>
        </p:txBody>
      </p:sp>
      <p:sp>
        <p:nvSpPr>
          <p:cNvPr id="4" name="instruction-1">
            <a:extLst>
              <a:ext uri="{FF2B5EF4-FFF2-40B4-BE49-F238E27FC236}">
                <a16:creationId xmlns:a16="http://schemas.microsoft.com/office/drawing/2014/main" id="{870DFDCD-9AB1-4551-822D-6C4F325057B8}"/>
              </a:ext>
            </a:extLst>
          </p:cNvPr>
          <p:cNvSpPr>
            <a:spLocks noGrp="1"/>
          </p:cNvSpPr>
          <p:nvPr/>
        </p:nvSpPr>
        <p:spPr>
          <a:xfrm>
            <a:off x="7477125" y="2667000"/>
            <a:ext cx="4000500" cy="800100"/>
          </a:xfrm>
          <a:prstGeom prst="rect">
            <a:avLst/>
          </a:prstGeom>
          <a:noFill/>
          <a:ln w="0">
            <a:noFill/>
          </a:ln>
        </p:spPr>
        <p:txBody>
          <a:bodyPr>
            <a:noAutofit/>
          </a:bodyPr>
          <a:lstStyle/>
          <a:p>
            <a:pPr>
              <a:buNone/>
              <a:defRPr sz="2100" b="0">
                <a:solidFill>
                  <a:srgbClr val="172D3B"/>
                </a:solidFill>
                <a:latin typeface="Arial"/>
                <a:ea typeface="Arial"/>
                <a:cs typeface="Arial"/>
              </a:defRPr>
            </a:pPr>
            <a:r>
              <a:rPr sz="2100" b="0">
                <a:solidFill>
                  <a:srgbClr val="172D3B"/>
                </a:solidFill>
                <a:latin typeface="Arial"/>
                <a:ea typeface="Arial"/>
                <a:cs typeface="Arial"/>
              </a:rPr>
              <a:t>Task and Action: your contribution</a:t>
            </a:r>
          </a:p>
        </p:txBody>
      </p:sp>
      <p:sp>
        <p:nvSpPr>
          <p:cNvPr id="5" name="instruction-2">
            <a:extLst>
              <a:ext uri="{FF2B5EF4-FFF2-40B4-BE49-F238E27FC236}">
                <a16:creationId xmlns:a16="http://schemas.microsoft.com/office/drawing/2014/main" id="{0C19F9EA-ED07-4A45-A902-A054131A8905}"/>
              </a:ext>
            </a:extLst>
          </p:cNvPr>
          <p:cNvSpPr>
            <a:spLocks noGrp="1"/>
          </p:cNvSpPr>
          <p:nvPr/>
        </p:nvSpPr>
        <p:spPr>
          <a:xfrm>
            <a:off x="7477125" y="3524250"/>
            <a:ext cx="4000500" cy="800100"/>
          </a:xfrm>
          <a:prstGeom prst="rect">
            <a:avLst/>
          </a:prstGeom>
          <a:noFill/>
          <a:ln w="0">
            <a:noFill/>
          </a:ln>
        </p:spPr>
        <p:txBody>
          <a:bodyPr>
            <a:noAutofit/>
          </a:bodyPr>
          <a:lstStyle/>
          <a:p>
            <a:pPr>
              <a:buNone/>
              <a:defRPr sz="2100" b="0">
                <a:solidFill>
                  <a:srgbClr val="172D3B"/>
                </a:solidFill>
                <a:latin typeface="Arial"/>
                <a:ea typeface="Arial"/>
                <a:cs typeface="Arial"/>
              </a:defRPr>
            </a:pPr>
            <a:r>
              <a:rPr sz="2100" b="0">
                <a:solidFill>
                  <a:srgbClr val="172D3B"/>
                </a:solidFill>
                <a:latin typeface="Arial"/>
                <a:ea typeface="Arial"/>
                <a:cs typeface="Arial"/>
              </a:rPr>
              <a:t>Result: the supported outcome</a:t>
            </a:r>
          </a:p>
        </p:txBody>
      </p:sp>
      <p:sp>
        <p:nvSpPr>
          <p:cNvPr id="6" name="bottom-note">
            <a:extLst>
              <a:ext uri="{FF2B5EF4-FFF2-40B4-BE49-F238E27FC236}">
                <a16:creationId xmlns:a16="http://schemas.microsoft.com/office/drawing/2014/main" id="{97C87184-798D-4379-9362-39ADAEE65384}"/>
              </a:ext>
            </a:extLst>
          </p:cNvPr>
          <p:cNvSpPr>
            <a:spLocks noGrp="1"/>
          </p:cNvSpPr>
          <p:nvPr/>
        </p:nvSpPr>
        <p:spPr>
          <a:xfrm>
            <a:off x="636836" y="5725889"/>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dirty="0">
                <a:solidFill>
                  <a:srgbClr val="006D77"/>
                </a:solidFill>
                <a:latin typeface="Arial"/>
                <a:ea typeface="Arial"/>
                <a:cs typeface="Arial"/>
              </a:rPr>
              <a:t>A requirement does not prove candidate experience.</a:t>
            </a:r>
          </a:p>
        </p:txBody>
      </p:sp>
      <p:sp>
        <p:nvSpPr>
          <p:cNvPr id="7" name="footer">
            <a:extLst>
              <a:ext uri="{FF2B5EF4-FFF2-40B4-BE49-F238E27FC236}">
                <a16:creationId xmlns:a16="http://schemas.microsoft.com/office/drawing/2014/main" id="{014E3843-FB95-4AAF-BDFA-4994DA200393}"/>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17</a:t>
            </a:r>
          </a:p>
        </p:txBody>
      </p:sp>
      <p:sp>
        <p:nvSpPr>
          <p:cNvPr id="10" name="Rectangle 9">
            <a:extLst>
              <a:ext uri="{FF2B5EF4-FFF2-40B4-BE49-F238E27FC236}">
                <a16:creationId xmlns:a16="http://schemas.microsoft.com/office/drawing/2014/main" id="{0DE91344-B6F6-3DDC-F809-B8BA73C66FFD}"/>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12" name="Rectangle 11">
            <a:extLst>
              <a:ext uri="{FF2B5EF4-FFF2-40B4-BE49-F238E27FC236}">
                <a16:creationId xmlns:a16="http://schemas.microsoft.com/office/drawing/2014/main" id="{97F86B54-75FC-901B-C7F2-15EF76DB7302}"/>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1933240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158B7589-6DA5-462E-9C0F-E5DB85AFD295}"/>
              </a:ext>
            </a:extLst>
          </p:cNvPr>
          <p:cNvSpPr>
            <a:spLocks noGrp="1"/>
          </p:cNvSpPr>
          <p:nvPr/>
        </p:nvSpPr>
        <p:spPr>
          <a:xfrm>
            <a:off x="533400" y="188640"/>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Tool three: a practice question</a:t>
            </a:r>
          </a:p>
        </p:txBody>
      </p:sp>
      <p:sp>
        <p:nvSpPr>
          <p:cNvPr id="2" name="code">
            <a:extLst>
              <a:ext uri="{FF2B5EF4-FFF2-40B4-BE49-F238E27FC236}">
                <a16:creationId xmlns:a16="http://schemas.microsoft.com/office/drawing/2014/main" id="{5D0C39D6-53AB-41CF-B4BA-17E1C082C2E2}"/>
              </a:ext>
            </a:extLst>
          </p:cNvPr>
          <p:cNvSpPr>
            <a:spLocks noGrp="1"/>
          </p:cNvSpPr>
          <p:nvPr/>
        </p:nvSpPr>
        <p:spPr>
          <a:xfrm>
            <a:off x="685800" y="1809750"/>
            <a:ext cx="6286500" cy="2143125"/>
          </a:xfrm>
          <a:prstGeom prst="rect">
            <a:avLst/>
          </a:prstGeom>
          <a:solidFill>
            <a:srgbClr val="EDF3F2"/>
          </a:solidFill>
          <a:ln w="0">
            <a:noFill/>
          </a:ln>
        </p:spPr>
        <p:txBody>
          <a:bodyPr>
            <a:noAutofit/>
          </a:bodyPr>
          <a:lstStyle/>
          <a:p>
            <a:pPr>
              <a:buNone/>
              <a:defRPr sz="2175" b="0">
                <a:solidFill>
                  <a:srgbClr val="172D3B"/>
                </a:solidFill>
                <a:latin typeface="Consolas"/>
                <a:ea typeface="Consolas"/>
                <a:cs typeface="Consolas"/>
              </a:defRPr>
            </a:pPr>
            <a:r>
              <a:rPr sz="2175" b="0">
                <a:solidFill>
                  <a:srgbClr val="172D3B"/>
                </a:solidFill>
                <a:latin typeface="Consolas"/>
                <a:ea typeface="Consolas"/>
                <a:cs typeface="Consolas"/>
              </a:rPr>
              <a:t>pprint(get_question(</a:t>
            </a:r>
          </a:p>
          <a:p>
            <a:pPr>
              <a:buNone/>
              <a:defRPr sz="2175" b="0">
                <a:solidFill>
                  <a:srgbClr val="172D3B"/>
                </a:solidFill>
                <a:latin typeface="Consolas"/>
                <a:ea typeface="Consolas"/>
                <a:cs typeface="Consolas"/>
              </a:defRPr>
            </a:pPr>
            <a:r>
              <a:rPr sz="2175" b="0">
                <a:solidFill>
                  <a:srgbClr val="172D3B"/>
                </a:solidFill>
                <a:latin typeface="Consolas"/>
                <a:ea typeface="Consolas"/>
                <a:cs typeface="Consolas"/>
              </a:rPr>
              <a:t>    "communication", "friendly"</a:t>
            </a:r>
          </a:p>
          <a:p>
            <a:pPr>
              <a:buNone/>
              <a:defRPr sz="2175" b="0">
                <a:solidFill>
                  <a:srgbClr val="172D3B"/>
                </a:solidFill>
                <a:latin typeface="Consolas"/>
                <a:ea typeface="Consolas"/>
                <a:cs typeface="Consolas"/>
              </a:defRPr>
            </a:pPr>
            <a:r>
              <a:rPr sz="2175" b="0">
                <a:solidFill>
                  <a:srgbClr val="172D3B"/>
                </a:solidFill>
                <a:latin typeface="Consolas"/>
                <a:ea typeface="Consolas"/>
                <a:cs typeface="Consolas"/>
              </a:rPr>
              <a:t>))</a:t>
            </a:r>
          </a:p>
        </p:txBody>
      </p:sp>
      <p:sp>
        <p:nvSpPr>
          <p:cNvPr id="3" name="instruction-0">
            <a:extLst>
              <a:ext uri="{FF2B5EF4-FFF2-40B4-BE49-F238E27FC236}">
                <a16:creationId xmlns:a16="http://schemas.microsoft.com/office/drawing/2014/main" id="{504E723E-F36B-441C-A3BC-3E682D738500}"/>
              </a:ext>
            </a:extLst>
          </p:cNvPr>
          <p:cNvSpPr>
            <a:spLocks noGrp="1"/>
          </p:cNvSpPr>
          <p:nvPr/>
        </p:nvSpPr>
        <p:spPr>
          <a:xfrm>
            <a:off x="7477125" y="1809750"/>
            <a:ext cx="4000500" cy="800100"/>
          </a:xfrm>
          <a:prstGeom prst="rect">
            <a:avLst/>
          </a:prstGeom>
          <a:noFill/>
          <a:ln w="0">
            <a:noFill/>
          </a:ln>
        </p:spPr>
        <p:txBody>
          <a:bodyPr>
            <a:noAutofit/>
          </a:bodyPr>
          <a:lstStyle/>
          <a:p>
            <a:pPr>
              <a:buNone/>
              <a:defRPr sz="2100" b="1">
                <a:solidFill>
                  <a:srgbClr val="172D3B"/>
                </a:solidFill>
                <a:latin typeface="Arial"/>
                <a:ea typeface="Arial"/>
                <a:cs typeface="Arial"/>
              </a:defRPr>
            </a:pPr>
            <a:r>
              <a:rPr sz="2100" b="1">
                <a:solidFill>
                  <a:srgbClr val="172D3B"/>
                </a:solidFill>
                <a:latin typeface="Arial"/>
                <a:ea typeface="Arial"/>
                <a:cs typeface="Arial"/>
              </a:rPr>
              <a:t>A question from a small bank</a:t>
            </a:r>
          </a:p>
        </p:txBody>
      </p:sp>
      <p:sp>
        <p:nvSpPr>
          <p:cNvPr id="4" name="instruction-1">
            <a:extLst>
              <a:ext uri="{FF2B5EF4-FFF2-40B4-BE49-F238E27FC236}">
                <a16:creationId xmlns:a16="http://schemas.microsoft.com/office/drawing/2014/main" id="{17C88619-EE5B-4EE7-956A-CFE09DDCACB2}"/>
              </a:ext>
            </a:extLst>
          </p:cNvPr>
          <p:cNvSpPr>
            <a:spLocks noGrp="1"/>
          </p:cNvSpPr>
          <p:nvPr/>
        </p:nvSpPr>
        <p:spPr>
          <a:xfrm>
            <a:off x="7477125" y="2667000"/>
            <a:ext cx="4000500" cy="800100"/>
          </a:xfrm>
          <a:prstGeom prst="rect">
            <a:avLst/>
          </a:prstGeom>
          <a:noFill/>
          <a:ln w="0">
            <a:noFill/>
          </a:ln>
        </p:spPr>
        <p:txBody>
          <a:bodyPr>
            <a:noAutofit/>
          </a:bodyPr>
          <a:lstStyle/>
          <a:p>
            <a:pPr>
              <a:buNone/>
              <a:defRPr sz="2100" b="0">
                <a:solidFill>
                  <a:srgbClr val="172D3B"/>
                </a:solidFill>
                <a:latin typeface="Arial"/>
                <a:ea typeface="Arial"/>
                <a:cs typeface="Arial"/>
              </a:defRPr>
            </a:pPr>
            <a:r>
              <a:rPr sz="2100" b="0">
                <a:solidFill>
                  <a:srgbClr val="172D3B"/>
                </a:solidFill>
                <a:latin typeface="Arial"/>
                <a:ea typeface="Arial"/>
                <a:cs typeface="Arial"/>
              </a:rPr>
              <a:t>Friendly and direct introductions</a:t>
            </a:r>
          </a:p>
        </p:txBody>
      </p:sp>
      <p:sp>
        <p:nvSpPr>
          <p:cNvPr id="5" name="instruction-2">
            <a:extLst>
              <a:ext uri="{FF2B5EF4-FFF2-40B4-BE49-F238E27FC236}">
                <a16:creationId xmlns:a16="http://schemas.microsoft.com/office/drawing/2014/main" id="{3D97DD3D-3059-4013-978B-FE9E883CF2EF}"/>
              </a:ext>
            </a:extLst>
          </p:cNvPr>
          <p:cNvSpPr>
            <a:spLocks noGrp="1"/>
          </p:cNvSpPr>
          <p:nvPr/>
        </p:nvSpPr>
        <p:spPr>
          <a:xfrm>
            <a:off x="7477125" y="3524250"/>
            <a:ext cx="4000500" cy="800100"/>
          </a:xfrm>
          <a:prstGeom prst="rect">
            <a:avLst/>
          </a:prstGeom>
          <a:noFill/>
          <a:ln w="0">
            <a:noFill/>
          </a:ln>
        </p:spPr>
        <p:txBody>
          <a:bodyPr>
            <a:noAutofit/>
          </a:bodyPr>
          <a:lstStyle/>
          <a:p>
            <a:pPr>
              <a:buNone/>
              <a:defRPr sz="2100" b="0">
                <a:solidFill>
                  <a:srgbClr val="172D3B"/>
                </a:solidFill>
                <a:latin typeface="Arial"/>
                <a:ea typeface="Arial"/>
                <a:cs typeface="Arial"/>
              </a:defRPr>
            </a:pPr>
            <a:r>
              <a:rPr sz="2100" b="0">
                <a:solidFill>
                  <a:srgbClr val="172D3B"/>
                </a:solidFill>
                <a:latin typeface="Arial"/>
                <a:ea typeface="Arial"/>
                <a:cs typeface="Arial"/>
              </a:rPr>
              <a:t>A status for unsupported inputs</a:t>
            </a:r>
          </a:p>
        </p:txBody>
      </p:sp>
      <p:sp>
        <p:nvSpPr>
          <p:cNvPr id="6" name="bottom-note">
            <a:extLst>
              <a:ext uri="{FF2B5EF4-FFF2-40B4-BE49-F238E27FC236}">
                <a16:creationId xmlns:a16="http://schemas.microsoft.com/office/drawing/2014/main" id="{E0F56361-AA1A-4CDF-9C9F-F140ACCC676F}"/>
              </a:ext>
            </a:extLst>
          </p:cNvPr>
          <p:cNvSpPr>
            <a:spLocks noGrp="1"/>
          </p:cNvSpPr>
          <p:nvPr/>
        </p:nvSpPr>
        <p:spPr>
          <a:xfrm>
            <a:off x="609600" y="5724525"/>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dirty="0">
                <a:solidFill>
                  <a:srgbClr val="006D77"/>
                </a:solidFill>
                <a:latin typeface="Arial"/>
                <a:ea typeface="Arial"/>
                <a:cs typeface="Arial"/>
              </a:rPr>
              <a:t>Checkpoint: explain one tool's input and output.</a:t>
            </a:r>
          </a:p>
        </p:txBody>
      </p:sp>
      <p:sp>
        <p:nvSpPr>
          <p:cNvPr id="7" name="footer">
            <a:extLst>
              <a:ext uri="{FF2B5EF4-FFF2-40B4-BE49-F238E27FC236}">
                <a16:creationId xmlns:a16="http://schemas.microsoft.com/office/drawing/2014/main" id="{4CF1448A-4D01-414D-A370-415D3509D444}"/>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18</a:t>
            </a:r>
          </a:p>
        </p:txBody>
      </p:sp>
      <p:sp>
        <p:nvSpPr>
          <p:cNvPr id="10" name="Rectangle 9">
            <a:extLst>
              <a:ext uri="{FF2B5EF4-FFF2-40B4-BE49-F238E27FC236}">
                <a16:creationId xmlns:a16="http://schemas.microsoft.com/office/drawing/2014/main" id="{C3C9CF65-B954-27A9-89CB-01373D643DDD}"/>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12" name="Rectangle 11">
            <a:extLst>
              <a:ext uri="{FF2B5EF4-FFF2-40B4-BE49-F238E27FC236}">
                <a16:creationId xmlns:a16="http://schemas.microsoft.com/office/drawing/2014/main" id="{1A608975-174B-9BD9-6152-BB0D5F75AF5C}"/>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4043558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6B5F4640-5D41-44B2-AC64-DC8FF11EA674}"/>
              </a:ext>
            </a:extLst>
          </p:cNvPr>
          <p:cNvSpPr>
            <a:spLocks noGrp="1"/>
          </p:cNvSpPr>
          <p:nvPr/>
        </p:nvSpPr>
        <p:spPr>
          <a:xfrm>
            <a:off x="590104" y="185541"/>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Five-minute break</a:t>
            </a:r>
          </a:p>
        </p:txBody>
      </p:sp>
      <p:sp>
        <p:nvSpPr>
          <p:cNvPr id="2" name="break-number">
            <a:extLst>
              <a:ext uri="{FF2B5EF4-FFF2-40B4-BE49-F238E27FC236}">
                <a16:creationId xmlns:a16="http://schemas.microsoft.com/office/drawing/2014/main" id="{063D0E89-A0CE-4EF2-87BD-A022510F0C46}"/>
              </a:ext>
            </a:extLst>
          </p:cNvPr>
          <p:cNvSpPr>
            <a:spLocks noGrp="1"/>
          </p:cNvSpPr>
          <p:nvPr/>
        </p:nvSpPr>
        <p:spPr>
          <a:xfrm>
            <a:off x="685800" y="1790700"/>
            <a:ext cx="2762250" cy="2000250"/>
          </a:xfrm>
          <a:prstGeom prst="rect">
            <a:avLst/>
          </a:prstGeom>
          <a:noFill/>
          <a:ln w="0">
            <a:noFill/>
          </a:ln>
        </p:spPr>
        <p:txBody>
          <a:bodyPr>
            <a:noAutofit/>
          </a:bodyPr>
          <a:lstStyle/>
          <a:p>
            <a:pPr>
              <a:buNone/>
              <a:defRPr sz="11250" b="1">
                <a:solidFill>
                  <a:srgbClr val="006D77"/>
                </a:solidFill>
                <a:latin typeface="Arial"/>
                <a:ea typeface="Arial"/>
                <a:cs typeface="Arial"/>
              </a:defRPr>
            </a:pPr>
            <a:r>
              <a:rPr sz="11250" b="1">
                <a:solidFill>
                  <a:srgbClr val="006D77"/>
                </a:solidFill>
                <a:latin typeface="Arial"/>
                <a:ea typeface="Arial"/>
                <a:cs typeface="Arial"/>
              </a:rPr>
              <a:t>05</a:t>
            </a:r>
          </a:p>
        </p:txBody>
      </p:sp>
      <p:sp>
        <p:nvSpPr>
          <p:cNvPr id="3" name="break-lead">
            <a:extLst>
              <a:ext uri="{FF2B5EF4-FFF2-40B4-BE49-F238E27FC236}">
                <a16:creationId xmlns:a16="http://schemas.microsoft.com/office/drawing/2014/main" id="{5D50BCCE-0F86-4494-9F24-68A80D6DB709}"/>
              </a:ext>
            </a:extLst>
          </p:cNvPr>
          <p:cNvSpPr>
            <a:spLocks noGrp="1"/>
          </p:cNvSpPr>
          <p:nvPr/>
        </p:nvSpPr>
        <p:spPr>
          <a:xfrm>
            <a:off x="4095750" y="2038350"/>
            <a:ext cx="7296150" cy="1095375"/>
          </a:xfrm>
          <a:prstGeom prst="rect">
            <a:avLst/>
          </a:prstGeom>
          <a:noFill/>
          <a:ln w="0">
            <a:noFill/>
          </a:ln>
        </p:spPr>
        <p:txBody>
          <a:bodyPr>
            <a:noAutofit/>
          </a:bodyPr>
          <a:lstStyle/>
          <a:p>
            <a:pPr>
              <a:buNone/>
              <a:defRPr sz="3225" b="1">
                <a:solidFill>
                  <a:srgbClr val="172D3B"/>
                </a:solidFill>
                <a:latin typeface="Arial"/>
                <a:ea typeface="Arial"/>
                <a:cs typeface="Arial"/>
              </a:defRPr>
            </a:pPr>
            <a:r>
              <a:rPr sz="3225" b="1">
                <a:solidFill>
                  <a:srgbClr val="172D3B"/>
                </a:solidFill>
                <a:latin typeface="Arial"/>
                <a:ea typeface="Arial"/>
                <a:cs typeface="Arial"/>
              </a:rPr>
              <a:t>A moment away from the screen</a:t>
            </a:r>
          </a:p>
        </p:txBody>
      </p:sp>
      <p:sp>
        <p:nvSpPr>
          <p:cNvPr id="4" name="break-line-0">
            <a:extLst>
              <a:ext uri="{FF2B5EF4-FFF2-40B4-BE49-F238E27FC236}">
                <a16:creationId xmlns:a16="http://schemas.microsoft.com/office/drawing/2014/main" id="{B7C15F67-4D69-42BE-9BDF-3ECB0D608FD3}"/>
              </a:ext>
            </a:extLst>
          </p:cNvPr>
          <p:cNvSpPr>
            <a:spLocks noGrp="1"/>
          </p:cNvSpPr>
          <p:nvPr/>
        </p:nvSpPr>
        <p:spPr>
          <a:xfrm>
            <a:off x="4095750" y="3486150"/>
            <a:ext cx="7181850" cy="762000"/>
          </a:xfrm>
          <a:prstGeom prst="rect">
            <a:avLst/>
          </a:prstGeom>
          <a:noFill/>
          <a:ln w="0">
            <a:noFill/>
          </a:ln>
        </p:spPr>
        <p:txBody>
          <a:bodyPr>
            <a:noAutofit/>
          </a:bodyPr>
          <a:lstStyle/>
          <a:p>
            <a:pPr>
              <a:buNone/>
              <a:defRPr sz="2250" b="0">
                <a:solidFill>
                  <a:srgbClr val="4B626B"/>
                </a:solidFill>
                <a:latin typeface="Arial"/>
                <a:ea typeface="Arial"/>
                <a:cs typeface="Arial"/>
              </a:defRPr>
            </a:pPr>
            <a:r>
              <a:rPr sz="2250" b="0" dirty="0">
                <a:solidFill>
                  <a:srgbClr val="4B626B"/>
                </a:solidFill>
                <a:latin typeface="Arial"/>
                <a:ea typeface="Arial"/>
                <a:cs typeface="Arial"/>
              </a:rPr>
              <a:t>Helpers are available if you need support</a:t>
            </a:r>
          </a:p>
        </p:txBody>
      </p:sp>
      <p:sp>
        <p:nvSpPr>
          <p:cNvPr id="5" name="break-line-1">
            <a:extLst>
              <a:ext uri="{FF2B5EF4-FFF2-40B4-BE49-F238E27FC236}">
                <a16:creationId xmlns:a16="http://schemas.microsoft.com/office/drawing/2014/main" id="{0BEE376E-43AB-4E56-B4F6-2423E1461D32}"/>
              </a:ext>
            </a:extLst>
          </p:cNvPr>
          <p:cNvSpPr>
            <a:spLocks noGrp="1"/>
          </p:cNvSpPr>
          <p:nvPr/>
        </p:nvSpPr>
        <p:spPr>
          <a:xfrm>
            <a:off x="4095750" y="4324350"/>
            <a:ext cx="7181850" cy="762000"/>
          </a:xfrm>
          <a:prstGeom prst="rect">
            <a:avLst/>
          </a:prstGeom>
          <a:noFill/>
          <a:ln w="0">
            <a:noFill/>
          </a:ln>
        </p:spPr>
        <p:txBody>
          <a:bodyPr>
            <a:noAutofit/>
          </a:bodyPr>
          <a:lstStyle/>
          <a:p>
            <a:pPr>
              <a:buNone/>
              <a:defRPr sz="2250" b="0">
                <a:solidFill>
                  <a:srgbClr val="4B626B"/>
                </a:solidFill>
                <a:latin typeface="Arial"/>
                <a:ea typeface="Arial"/>
                <a:cs typeface="Arial"/>
              </a:defRPr>
            </a:pPr>
            <a:r>
              <a:rPr sz="2250" b="0" dirty="0">
                <a:solidFill>
                  <a:srgbClr val="4B626B"/>
                </a:solidFill>
                <a:latin typeface="Arial"/>
                <a:ea typeface="Arial"/>
                <a:cs typeface="Arial"/>
              </a:rPr>
              <a:t>We restart together at minute 60</a:t>
            </a:r>
          </a:p>
        </p:txBody>
      </p:sp>
      <p:sp>
        <p:nvSpPr>
          <p:cNvPr id="6" name="footer">
            <a:extLst>
              <a:ext uri="{FF2B5EF4-FFF2-40B4-BE49-F238E27FC236}">
                <a16:creationId xmlns:a16="http://schemas.microsoft.com/office/drawing/2014/main" id="{0252FF20-7112-42C9-A7D3-6EA0249B2734}"/>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19</a:t>
            </a:r>
          </a:p>
        </p:txBody>
      </p:sp>
      <p:sp>
        <p:nvSpPr>
          <p:cNvPr id="9" name="Rectangle 8">
            <a:extLst>
              <a:ext uri="{FF2B5EF4-FFF2-40B4-BE49-F238E27FC236}">
                <a16:creationId xmlns:a16="http://schemas.microsoft.com/office/drawing/2014/main" id="{36EABCCA-2A3D-901D-D24B-16F4D34FEEE9}"/>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1179213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A643EF67-AF8A-4FF7-B6D6-2309E1A2444C}"/>
              </a:ext>
            </a:extLst>
          </p:cNvPr>
          <p:cNvSpPr>
            <a:spLocks noGrp="1"/>
          </p:cNvSpPr>
          <p:nvPr/>
        </p:nvSpPr>
        <p:spPr>
          <a:xfrm>
            <a:off x="609600" y="204515"/>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Reusable coaching skills</a:t>
            </a:r>
          </a:p>
        </p:txBody>
      </p:sp>
      <p:sp>
        <p:nvSpPr>
          <p:cNvPr id="2" name="code">
            <a:extLst>
              <a:ext uri="{FF2B5EF4-FFF2-40B4-BE49-F238E27FC236}">
                <a16:creationId xmlns:a16="http://schemas.microsoft.com/office/drawing/2014/main" id="{0044C2D6-9B82-40F1-9B8A-C1BB767F0992}"/>
              </a:ext>
            </a:extLst>
          </p:cNvPr>
          <p:cNvSpPr>
            <a:spLocks noGrp="1"/>
          </p:cNvSpPr>
          <p:nvPr/>
        </p:nvSpPr>
        <p:spPr>
          <a:xfrm>
            <a:off x="685800" y="1809750"/>
            <a:ext cx="6286500" cy="2286000"/>
          </a:xfrm>
          <a:prstGeom prst="rect">
            <a:avLst/>
          </a:prstGeom>
          <a:solidFill>
            <a:srgbClr val="EDF3F2"/>
          </a:solidFill>
          <a:ln w="0">
            <a:noFill/>
          </a:ln>
        </p:spPr>
        <p:txBody>
          <a:bodyPr>
            <a:noAutofit/>
          </a:bodyPr>
          <a:lstStyle/>
          <a:p>
            <a:pPr>
              <a:buNone/>
              <a:defRPr sz="2175" b="0">
                <a:solidFill>
                  <a:srgbClr val="172D3B"/>
                </a:solidFill>
                <a:latin typeface="Consolas"/>
                <a:ea typeface="Consolas"/>
                <a:cs typeface="Consolas"/>
              </a:defRPr>
            </a:pPr>
            <a:r>
              <a:rPr sz="2175" b="0">
                <a:solidFill>
                  <a:srgbClr val="172D3B"/>
                </a:solidFill>
                <a:latin typeface="Consolas"/>
                <a:ea typeface="Consolas"/>
                <a:cs typeface="Consolas"/>
              </a:rPr>
              <a:t>ACTIVE_SKILLS = [</a:t>
            </a:r>
          </a:p>
          <a:p>
            <a:pPr>
              <a:buNone/>
              <a:defRPr sz="2175" b="0">
                <a:solidFill>
                  <a:srgbClr val="172D3B"/>
                </a:solidFill>
                <a:latin typeface="Consolas"/>
                <a:ea typeface="Consolas"/>
                <a:cs typeface="Consolas"/>
              </a:defRPr>
            </a:pPr>
            <a:r>
              <a:rPr sz="2175" b="0">
                <a:solidFill>
                  <a:srgbClr val="172D3B"/>
                </a:solidFill>
                <a:latin typeface="Consolas"/>
                <a:ea typeface="Consolas"/>
                <a:cs typeface="Consolas"/>
              </a:rPr>
              <a:t>    "role_decoder",</a:t>
            </a:r>
          </a:p>
          <a:p>
            <a:pPr>
              <a:buNone/>
              <a:defRPr sz="2175" b="0">
                <a:solidFill>
                  <a:srgbClr val="172D3B"/>
                </a:solidFill>
                <a:latin typeface="Consolas"/>
                <a:ea typeface="Consolas"/>
                <a:cs typeface="Consolas"/>
              </a:defRPr>
            </a:pPr>
            <a:r>
              <a:rPr sz="2175" b="0">
                <a:solidFill>
                  <a:srgbClr val="172D3B"/>
                </a:solidFill>
                <a:latin typeface="Consolas"/>
                <a:ea typeface="Consolas"/>
                <a:cs typeface="Consolas"/>
              </a:rPr>
              <a:t>    "star_coach",</a:t>
            </a:r>
          </a:p>
          <a:p>
            <a:pPr>
              <a:buNone/>
              <a:defRPr sz="2175" b="0">
                <a:solidFill>
                  <a:srgbClr val="172D3B"/>
                </a:solidFill>
                <a:latin typeface="Consolas"/>
                <a:ea typeface="Consolas"/>
                <a:cs typeface="Consolas"/>
              </a:defRPr>
            </a:pPr>
            <a:r>
              <a:rPr sz="2175" b="0">
                <a:solidFill>
                  <a:srgbClr val="172D3B"/>
                </a:solidFill>
                <a:latin typeface="Consolas"/>
                <a:ea typeface="Consolas"/>
                <a:cs typeface="Consolas"/>
              </a:rPr>
              <a:t>    "interview_practice",</a:t>
            </a:r>
          </a:p>
          <a:p>
            <a:pPr>
              <a:buNone/>
              <a:defRPr sz="2175" b="0">
                <a:solidFill>
                  <a:srgbClr val="172D3B"/>
                </a:solidFill>
                <a:latin typeface="Consolas"/>
                <a:ea typeface="Consolas"/>
                <a:cs typeface="Consolas"/>
              </a:defRPr>
            </a:pPr>
            <a:r>
              <a:rPr sz="2175" b="0">
                <a:solidFill>
                  <a:srgbClr val="172D3B"/>
                </a:solidFill>
                <a:latin typeface="Consolas"/>
                <a:ea typeface="Consolas"/>
                <a:cs typeface="Consolas"/>
              </a:rPr>
              <a:t>]</a:t>
            </a:r>
          </a:p>
        </p:txBody>
      </p:sp>
      <p:sp>
        <p:nvSpPr>
          <p:cNvPr id="3" name="instruction-0">
            <a:extLst>
              <a:ext uri="{FF2B5EF4-FFF2-40B4-BE49-F238E27FC236}">
                <a16:creationId xmlns:a16="http://schemas.microsoft.com/office/drawing/2014/main" id="{007C2EA9-D911-40A3-AD8D-79928853DB5C}"/>
              </a:ext>
            </a:extLst>
          </p:cNvPr>
          <p:cNvSpPr>
            <a:spLocks noGrp="1"/>
          </p:cNvSpPr>
          <p:nvPr/>
        </p:nvSpPr>
        <p:spPr>
          <a:xfrm>
            <a:off x="7477125" y="1809750"/>
            <a:ext cx="4000500" cy="800100"/>
          </a:xfrm>
          <a:prstGeom prst="rect">
            <a:avLst/>
          </a:prstGeom>
          <a:noFill/>
          <a:ln w="0">
            <a:noFill/>
          </a:ln>
        </p:spPr>
        <p:txBody>
          <a:bodyPr>
            <a:noAutofit/>
          </a:bodyPr>
          <a:lstStyle/>
          <a:p>
            <a:pPr>
              <a:buNone/>
              <a:defRPr sz="2100" b="1">
                <a:solidFill>
                  <a:srgbClr val="172D3B"/>
                </a:solidFill>
                <a:latin typeface="Arial"/>
                <a:ea typeface="Arial"/>
                <a:cs typeface="Arial"/>
              </a:defRPr>
            </a:pPr>
            <a:r>
              <a:rPr sz="2100" b="1">
                <a:solidFill>
                  <a:srgbClr val="172D3B"/>
                </a:solidFill>
                <a:latin typeface="Arial"/>
                <a:ea typeface="Arial"/>
                <a:cs typeface="Arial"/>
              </a:rPr>
              <a:t>Instructions for a specific task</a:t>
            </a:r>
          </a:p>
        </p:txBody>
      </p:sp>
      <p:sp>
        <p:nvSpPr>
          <p:cNvPr id="4" name="instruction-1">
            <a:extLst>
              <a:ext uri="{FF2B5EF4-FFF2-40B4-BE49-F238E27FC236}">
                <a16:creationId xmlns:a16="http://schemas.microsoft.com/office/drawing/2014/main" id="{9A1D6580-7C1C-429F-B181-4B5A6EDD172C}"/>
              </a:ext>
            </a:extLst>
          </p:cNvPr>
          <p:cNvSpPr>
            <a:spLocks noGrp="1"/>
          </p:cNvSpPr>
          <p:nvPr/>
        </p:nvSpPr>
        <p:spPr>
          <a:xfrm>
            <a:off x="7477125" y="2667000"/>
            <a:ext cx="4000500" cy="800100"/>
          </a:xfrm>
          <a:prstGeom prst="rect">
            <a:avLst/>
          </a:prstGeom>
          <a:noFill/>
          <a:ln w="0">
            <a:noFill/>
          </a:ln>
        </p:spPr>
        <p:txBody>
          <a:bodyPr>
            <a:noAutofit/>
          </a:bodyPr>
          <a:lstStyle/>
          <a:p>
            <a:pPr>
              <a:buNone/>
              <a:defRPr sz="2100" b="0">
                <a:solidFill>
                  <a:srgbClr val="172D3B"/>
                </a:solidFill>
                <a:latin typeface="Arial"/>
                <a:ea typeface="Arial"/>
                <a:cs typeface="Arial"/>
              </a:defRPr>
            </a:pPr>
            <a:r>
              <a:rPr sz="2100" b="0">
                <a:solidFill>
                  <a:srgbClr val="172D3B"/>
                </a:solidFill>
                <a:latin typeface="Arial"/>
                <a:ea typeface="Arial"/>
                <a:cs typeface="Arial"/>
              </a:rPr>
              <a:t>Tools supply the supporting data</a:t>
            </a:r>
          </a:p>
        </p:txBody>
      </p:sp>
      <p:sp>
        <p:nvSpPr>
          <p:cNvPr id="5" name="instruction-2">
            <a:extLst>
              <a:ext uri="{FF2B5EF4-FFF2-40B4-BE49-F238E27FC236}">
                <a16:creationId xmlns:a16="http://schemas.microsoft.com/office/drawing/2014/main" id="{BE693430-11F2-4558-A390-6CA892455452}"/>
              </a:ext>
            </a:extLst>
          </p:cNvPr>
          <p:cNvSpPr>
            <a:spLocks noGrp="1"/>
          </p:cNvSpPr>
          <p:nvPr/>
        </p:nvSpPr>
        <p:spPr>
          <a:xfrm>
            <a:off x="7477125" y="3524250"/>
            <a:ext cx="4000500" cy="800100"/>
          </a:xfrm>
          <a:prstGeom prst="rect">
            <a:avLst/>
          </a:prstGeom>
          <a:noFill/>
          <a:ln w="0">
            <a:noFill/>
          </a:ln>
        </p:spPr>
        <p:txBody>
          <a:bodyPr>
            <a:noAutofit/>
          </a:bodyPr>
          <a:lstStyle/>
          <a:p>
            <a:pPr>
              <a:buNone/>
              <a:defRPr sz="2100" b="0">
                <a:solidFill>
                  <a:srgbClr val="172D3B"/>
                </a:solidFill>
                <a:latin typeface="Arial"/>
                <a:ea typeface="Arial"/>
                <a:cs typeface="Arial"/>
              </a:defRPr>
            </a:pPr>
            <a:r>
              <a:rPr sz="2100" b="0">
                <a:solidFill>
                  <a:srgbClr val="172D3B"/>
                </a:solidFill>
                <a:latin typeface="Arial"/>
                <a:ea typeface="Arial"/>
                <a:cs typeface="Arial"/>
              </a:rPr>
              <a:t>Your edit changes the recipe</a:t>
            </a:r>
          </a:p>
        </p:txBody>
      </p:sp>
      <p:sp>
        <p:nvSpPr>
          <p:cNvPr id="6" name="bottom-note">
            <a:extLst>
              <a:ext uri="{FF2B5EF4-FFF2-40B4-BE49-F238E27FC236}">
                <a16:creationId xmlns:a16="http://schemas.microsoft.com/office/drawing/2014/main" id="{59E6AB28-CD19-4B07-BEE7-F11C343657A8}"/>
              </a:ext>
            </a:extLst>
          </p:cNvPr>
          <p:cNvSpPr>
            <a:spLocks noGrp="1"/>
          </p:cNvSpPr>
          <p:nvPr/>
        </p:nvSpPr>
        <p:spPr>
          <a:xfrm>
            <a:off x="609600" y="5824537"/>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dirty="0">
                <a:solidFill>
                  <a:srgbClr val="006D77"/>
                </a:solidFill>
                <a:latin typeface="Arial"/>
                <a:ea typeface="Arial"/>
                <a:cs typeface="Arial"/>
              </a:rPr>
              <a:t>Our recipes are a teaching format. They do not retrain Gemini.</a:t>
            </a:r>
          </a:p>
        </p:txBody>
      </p:sp>
      <p:sp>
        <p:nvSpPr>
          <p:cNvPr id="7" name="footer">
            <a:extLst>
              <a:ext uri="{FF2B5EF4-FFF2-40B4-BE49-F238E27FC236}">
                <a16:creationId xmlns:a16="http://schemas.microsoft.com/office/drawing/2014/main" id="{D3B1F237-AA0C-48EE-B818-6DD2A4293680}"/>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20</a:t>
            </a:r>
          </a:p>
        </p:txBody>
      </p:sp>
      <p:sp>
        <p:nvSpPr>
          <p:cNvPr id="10" name="Rectangle 9">
            <a:extLst>
              <a:ext uri="{FF2B5EF4-FFF2-40B4-BE49-F238E27FC236}">
                <a16:creationId xmlns:a16="http://schemas.microsoft.com/office/drawing/2014/main" id="{BC28CE43-63E4-5068-8B39-29794D0F1A1C}"/>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12" name="Rectangle 11">
            <a:extLst>
              <a:ext uri="{FF2B5EF4-FFF2-40B4-BE49-F238E27FC236}">
                <a16:creationId xmlns:a16="http://schemas.microsoft.com/office/drawing/2014/main" id="{45B4E23A-E91B-6643-E266-12041FE4DDFF}"/>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13420800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ACF479FC-E7F4-46A1-B9D9-995834A2E7CF}"/>
              </a:ext>
            </a:extLst>
          </p:cNvPr>
          <p:cNvSpPr>
            <a:spLocks noGrp="1"/>
          </p:cNvSpPr>
          <p:nvPr/>
        </p:nvSpPr>
        <p:spPr>
          <a:xfrm>
            <a:off x="609600" y="218480"/>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The tool permission boundary</a:t>
            </a:r>
          </a:p>
        </p:txBody>
      </p:sp>
      <p:sp>
        <p:nvSpPr>
          <p:cNvPr id="2" name="code">
            <a:extLst>
              <a:ext uri="{FF2B5EF4-FFF2-40B4-BE49-F238E27FC236}">
                <a16:creationId xmlns:a16="http://schemas.microsoft.com/office/drawing/2014/main" id="{049D7294-4C1B-423B-90E8-7A8AD8C8300B}"/>
              </a:ext>
            </a:extLst>
          </p:cNvPr>
          <p:cNvSpPr>
            <a:spLocks noGrp="1"/>
          </p:cNvSpPr>
          <p:nvPr/>
        </p:nvSpPr>
        <p:spPr>
          <a:xfrm>
            <a:off x="685800" y="1809750"/>
            <a:ext cx="6286500" cy="2143125"/>
          </a:xfrm>
          <a:prstGeom prst="rect">
            <a:avLst/>
          </a:prstGeom>
          <a:solidFill>
            <a:srgbClr val="EDF3F2"/>
          </a:solidFill>
          <a:ln w="0">
            <a:noFill/>
          </a:ln>
        </p:spPr>
        <p:txBody>
          <a:bodyPr>
            <a:noAutofit/>
          </a:bodyPr>
          <a:lstStyle/>
          <a:p>
            <a:pPr>
              <a:buNone/>
              <a:defRPr sz="2175" b="0">
                <a:solidFill>
                  <a:srgbClr val="172D3B"/>
                </a:solidFill>
                <a:latin typeface="Consolas"/>
                <a:ea typeface="Consolas"/>
                <a:cs typeface="Consolas"/>
              </a:defRPr>
            </a:pPr>
            <a:r>
              <a:rPr sz="2175" b="0">
                <a:solidFill>
                  <a:srgbClr val="172D3B"/>
                </a:solidFill>
                <a:latin typeface="Consolas"/>
                <a:ea typeface="Consolas"/>
                <a:cs typeface="Consolas"/>
              </a:rPr>
              <a:t>execute_tool(</a:t>
            </a:r>
          </a:p>
          <a:p>
            <a:pPr>
              <a:buNone/>
              <a:defRPr sz="2175" b="0">
                <a:solidFill>
                  <a:srgbClr val="172D3B"/>
                </a:solidFill>
                <a:latin typeface="Consolas"/>
                <a:ea typeface="Consolas"/>
                <a:cs typeface="Consolas"/>
              </a:defRPr>
            </a:pPr>
            <a:r>
              <a:rPr sz="2175" b="0">
                <a:solidFill>
                  <a:srgbClr val="172D3B"/>
                </a:solidFill>
                <a:latin typeface="Consolas"/>
                <a:ea typeface="Consolas"/>
                <a:cs typeface="Consolas"/>
              </a:rPr>
              <a:t>    "get_evidence",</a:t>
            </a:r>
          </a:p>
          <a:p>
            <a:pPr>
              <a:buNone/>
              <a:defRPr sz="2175" b="0">
                <a:solidFill>
                  <a:srgbClr val="172D3B"/>
                </a:solidFill>
                <a:latin typeface="Consolas"/>
                <a:ea typeface="Consolas"/>
                <a:cs typeface="Consolas"/>
              </a:defRPr>
            </a:pPr>
            <a:r>
              <a:rPr sz="2175" b="0">
                <a:solidFill>
                  <a:srgbClr val="172D3B"/>
                </a:solidFill>
                <a:latin typeface="Consolas"/>
                <a:ea typeface="Consolas"/>
                <a:cs typeface="Consolas"/>
              </a:rPr>
              <a:t>    {"skill": "communication"}</a:t>
            </a:r>
          </a:p>
          <a:p>
            <a:pPr>
              <a:buNone/>
              <a:defRPr sz="2175" b="0">
                <a:solidFill>
                  <a:srgbClr val="172D3B"/>
                </a:solidFill>
                <a:latin typeface="Consolas"/>
                <a:ea typeface="Consolas"/>
                <a:cs typeface="Consolas"/>
              </a:defRPr>
            </a:pPr>
            <a:r>
              <a:rPr sz="2175" b="0">
                <a:solidFill>
                  <a:srgbClr val="172D3B"/>
                </a:solidFill>
                <a:latin typeface="Consolas"/>
                <a:ea typeface="Consolas"/>
                <a:cs typeface="Consolas"/>
              </a:rPr>
              <a:t>)</a:t>
            </a:r>
          </a:p>
        </p:txBody>
      </p:sp>
      <p:sp>
        <p:nvSpPr>
          <p:cNvPr id="3" name="instruction-0">
            <a:extLst>
              <a:ext uri="{FF2B5EF4-FFF2-40B4-BE49-F238E27FC236}">
                <a16:creationId xmlns:a16="http://schemas.microsoft.com/office/drawing/2014/main" id="{7713F2C2-1E86-4026-A390-8B9EAEDD2535}"/>
              </a:ext>
            </a:extLst>
          </p:cNvPr>
          <p:cNvSpPr>
            <a:spLocks noGrp="1"/>
          </p:cNvSpPr>
          <p:nvPr/>
        </p:nvSpPr>
        <p:spPr>
          <a:xfrm>
            <a:off x="7477125" y="1809750"/>
            <a:ext cx="4000500" cy="800100"/>
          </a:xfrm>
          <a:prstGeom prst="rect">
            <a:avLst/>
          </a:prstGeom>
          <a:noFill/>
          <a:ln w="0">
            <a:noFill/>
          </a:ln>
        </p:spPr>
        <p:txBody>
          <a:bodyPr>
            <a:noAutofit/>
          </a:bodyPr>
          <a:lstStyle/>
          <a:p>
            <a:pPr>
              <a:buNone/>
              <a:defRPr sz="2100" b="1">
                <a:solidFill>
                  <a:srgbClr val="172D3B"/>
                </a:solidFill>
                <a:latin typeface="Arial"/>
                <a:ea typeface="Arial"/>
                <a:cs typeface="Arial"/>
              </a:defRPr>
            </a:pPr>
            <a:r>
              <a:rPr sz="2100" b="1">
                <a:solidFill>
                  <a:srgbClr val="172D3B"/>
                </a:solidFill>
                <a:latin typeface="Arial"/>
                <a:ea typeface="Arial"/>
                <a:cs typeface="Arial"/>
              </a:rPr>
              <a:t>A registered function name</a:t>
            </a:r>
          </a:p>
        </p:txBody>
      </p:sp>
      <p:sp>
        <p:nvSpPr>
          <p:cNvPr id="4" name="instruction-1">
            <a:extLst>
              <a:ext uri="{FF2B5EF4-FFF2-40B4-BE49-F238E27FC236}">
                <a16:creationId xmlns:a16="http://schemas.microsoft.com/office/drawing/2014/main" id="{BB8B3EDB-E458-4E60-B116-2B96DBEA8893}"/>
              </a:ext>
            </a:extLst>
          </p:cNvPr>
          <p:cNvSpPr>
            <a:spLocks noGrp="1"/>
          </p:cNvSpPr>
          <p:nvPr/>
        </p:nvSpPr>
        <p:spPr>
          <a:xfrm>
            <a:off x="7477125" y="2667000"/>
            <a:ext cx="4000500" cy="800100"/>
          </a:xfrm>
          <a:prstGeom prst="rect">
            <a:avLst/>
          </a:prstGeom>
          <a:noFill/>
          <a:ln w="0">
            <a:noFill/>
          </a:ln>
        </p:spPr>
        <p:txBody>
          <a:bodyPr>
            <a:noAutofit/>
          </a:bodyPr>
          <a:lstStyle/>
          <a:p>
            <a:pPr>
              <a:buNone/>
              <a:defRPr sz="2100" b="0">
                <a:solidFill>
                  <a:srgbClr val="172D3B"/>
                </a:solidFill>
                <a:latin typeface="Arial"/>
                <a:ea typeface="Arial"/>
                <a:cs typeface="Arial"/>
              </a:defRPr>
            </a:pPr>
            <a:r>
              <a:rPr sz="2100" b="0">
                <a:solidFill>
                  <a:srgbClr val="172D3B"/>
                </a:solidFill>
                <a:latin typeface="Arial"/>
                <a:ea typeface="Arial"/>
                <a:cs typeface="Arial"/>
              </a:rPr>
              <a:t>Allowed argument names and values</a:t>
            </a:r>
          </a:p>
        </p:txBody>
      </p:sp>
      <p:sp>
        <p:nvSpPr>
          <p:cNvPr id="5" name="instruction-2">
            <a:extLst>
              <a:ext uri="{FF2B5EF4-FFF2-40B4-BE49-F238E27FC236}">
                <a16:creationId xmlns:a16="http://schemas.microsoft.com/office/drawing/2014/main" id="{33ADF984-2141-4EAD-8CEA-F911DAA031B7}"/>
              </a:ext>
            </a:extLst>
          </p:cNvPr>
          <p:cNvSpPr>
            <a:spLocks noGrp="1"/>
          </p:cNvSpPr>
          <p:nvPr/>
        </p:nvSpPr>
        <p:spPr>
          <a:xfrm>
            <a:off x="7477125" y="3524250"/>
            <a:ext cx="4000500" cy="800100"/>
          </a:xfrm>
          <a:prstGeom prst="rect">
            <a:avLst/>
          </a:prstGeom>
          <a:noFill/>
          <a:ln w="0">
            <a:noFill/>
          </a:ln>
        </p:spPr>
        <p:txBody>
          <a:bodyPr>
            <a:noAutofit/>
          </a:bodyPr>
          <a:lstStyle/>
          <a:p>
            <a:pPr>
              <a:buNone/>
              <a:defRPr sz="2100" b="0">
                <a:solidFill>
                  <a:srgbClr val="172D3B"/>
                </a:solidFill>
                <a:latin typeface="Arial"/>
                <a:ea typeface="Arial"/>
                <a:cs typeface="Arial"/>
              </a:defRPr>
            </a:pPr>
            <a:r>
              <a:rPr sz="2100" b="0">
                <a:solidFill>
                  <a:srgbClr val="172D3B"/>
                </a:solidFill>
                <a:latin typeface="Arial"/>
                <a:ea typeface="Arial"/>
                <a:cs typeface="Arial"/>
              </a:rPr>
              <a:t>Local validation before execution</a:t>
            </a:r>
          </a:p>
        </p:txBody>
      </p:sp>
      <p:sp>
        <p:nvSpPr>
          <p:cNvPr id="6" name="bottom-note">
            <a:extLst>
              <a:ext uri="{FF2B5EF4-FFF2-40B4-BE49-F238E27FC236}">
                <a16:creationId xmlns:a16="http://schemas.microsoft.com/office/drawing/2014/main" id="{97665B08-35B2-4910-B883-6CF4EF14CB56}"/>
              </a:ext>
            </a:extLst>
          </p:cNvPr>
          <p:cNvSpPr>
            <a:spLocks noGrp="1"/>
          </p:cNvSpPr>
          <p:nvPr/>
        </p:nvSpPr>
        <p:spPr>
          <a:xfrm>
            <a:off x="609600" y="5805264"/>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dirty="0">
                <a:solidFill>
                  <a:srgbClr val="006D77"/>
                </a:solidFill>
                <a:latin typeface="Arial"/>
                <a:ea typeface="Arial"/>
                <a:cs typeface="Arial"/>
              </a:rPr>
              <a:t>No email, shell, file-access or web-browsing tool</a:t>
            </a:r>
          </a:p>
        </p:txBody>
      </p:sp>
      <p:sp>
        <p:nvSpPr>
          <p:cNvPr id="7" name="footer">
            <a:extLst>
              <a:ext uri="{FF2B5EF4-FFF2-40B4-BE49-F238E27FC236}">
                <a16:creationId xmlns:a16="http://schemas.microsoft.com/office/drawing/2014/main" id="{00605CE4-8E6E-4E5C-BA52-B52C9693AD56}"/>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21</a:t>
            </a:r>
          </a:p>
        </p:txBody>
      </p:sp>
      <p:sp>
        <p:nvSpPr>
          <p:cNvPr id="10" name="Rectangle 9">
            <a:extLst>
              <a:ext uri="{FF2B5EF4-FFF2-40B4-BE49-F238E27FC236}">
                <a16:creationId xmlns:a16="http://schemas.microsoft.com/office/drawing/2014/main" id="{B3CC49E0-5EFC-83ED-11CF-66B293CA5DC7}"/>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12" name="Rectangle 11">
            <a:extLst>
              <a:ext uri="{FF2B5EF4-FFF2-40B4-BE49-F238E27FC236}">
                <a16:creationId xmlns:a16="http://schemas.microsoft.com/office/drawing/2014/main" id="{617C3706-E9D0-DBE1-4F42-749C91E2EFFC}"/>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10835454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11795E3E-38A8-443D-B136-A30D76FC2341}"/>
              </a:ext>
            </a:extLst>
          </p:cNvPr>
          <p:cNvSpPr>
            <a:spLocks noGrp="1"/>
          </p:cNvSpPr>
          <p:nvPr/>
        </p:nvSpPr>
        <p:spPr>
          <a:xfrm>
            <a:off x="626468" y="173309"/>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The loop in your notebook</a:t>
            </a:r>
          </a:p>
        </p:txBody>
      </p:sp>
      <p:sp>
        <p:nvSpPr>
          <p:cNvPr id="6" name="bottom-note">
            <a:extLst>
              <a:ext uri="{FF2B5EF4-FFF2-40B4-BE49-F238E27FC236}">
                <a16:creationId xmlns:a16="http://schemas.microsoft.com/office/drawing/2014/main" id="{7F89CA59-7884-43D6-9351-81627A12F181}"/>
              </a:ext>
            </a:extLst>
          </p:cNvPr>
          <p:cNvSpPr>
            <a:spLocks noGrp="1"/>
          </p:cNvSpPr>
          <p:nvPr/>
        </p:nvSpPr>
        <p:spPr>
          <a:xfrm>
            <a:off x="658292" y="5772150"/>
            <a:ext cx="10287000" cy="323850"/>
          </a:xfrm>
          <a:prstGeom prst="rect">
            <a:avLst/>
          </a:prstGeom>
          <a:noFill/>
          <a:ln w="0">
            <a:noFill/>
          </a:ln>
        </p:spPr>
        <p:txBody>
          <a:bodyPr>
            <a:noAutofit/>
          </a:bodyPr>
          <a:lstStyle/>
          <a:p>
            <a:pPr>
              <a:buNone/>
              <a:defRPr sz="1800" b="0">
                <a:solidFill>
                  <a:srgbClr val="006D77"/>
                </a:solidFill>
                <a:latin typeface="Arial"/>
                <a:ea typeface="Arial"/>
                <a:cs typeface="Arial"/>
              </a:defRPr>
            </a:pPr>
            <a:r>
              <a:rPr sz="1800" b="0" dirty="0">
                <a:solidFill>
                  <a:srgbClr val="006D77"/>
                </a:solidFill>
                <a:latin typeface="Arial"/>
                <a:ea typeface="Arial"/>
                <a:cs typeface="Arial"/>
              </a:rPr>
              <a:t>C14 runs the loop. Python validates and executes tools.</a:t>
            </a:r>
          </a:p>
        </p:txBody>
      </p:sp>
      <p:sp>
        <p:nvSpPr>
          <p:cNvPr id="7" name="footer">
            <a:extLst>
              <a:ext uri="{FF2B5EF4-FFF2-40B4-BE49-F238E27FC236}">
                <a16:creationId xmlns:a16="http://schemas.microsoft.com/office/drawing/2014/main" id="{5225DB0E-6B84-480D-A542-E973E13A059B}"/>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22</a:t>
            </a:r>
          </a:p>
        </p:txBody>
      </p:sp>
      <p:pic>
        <p:nvPicPr>
          <p:cNvPr id="13" name="Picture 12"/>
          <p:cNvPicPr>
            <a:picLocks noChangeAspect="1"/>
          </p:cNvPicPr>
          <p:nvPr/>
        </p:nvPicPr>
        <p:blipFill>
          <a:blip r:embed="rId3"/>
          <a:stretch/>
        </p:blipFill>
        <p:spPr>
          <a:xfrm>
            <a:off x="2118781" y="1457325"/>
            <a:ext cx="7954438" cy="4476750"/>
          </a:xfrm>
          <a:prstGeom prst="rect">
            <a:avLst/>
          </a:prstGeom>
        </p:spPr>
      </p:pic>
      <p:sp>
        <p:nvSpPr>
          <p:cNvPr id="3" name="Rectangle 2">
            <a:extLst>
              <a:ext uri="{FF2B5EF4-FFF2-40B4-BE49-F238E27FC236}">
                <a16:creationId xmlns:a16="http://schemas.microsoft.com/office/drawing/2014/main" id="{37F02F79-8928-D431-6CC0-E98460A00A49}"/>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5" name="Rectangle 4">
            <a:extLst>
              <a:ext uri="{FF2B5EF4-FFF2-40B4-BE49-F238E27FC236}">
                <a16:creationId xmlns:a16="http://schemas.microsoft.com/office/drawing/2014/main" id="{BB5336BE-C2B1-97FF-7116-9EDE94212EF0}"/>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6554514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B6DD92AB-CA4B-4BA6-BEC9-80230B726ED5}"/>
              </a:ext>
            </a:extLst>
          </p:cNvPr>
          <p:cNvSpPr>
            <a:spLocks noGrp="1"/>
          </p:cNvSpPr>
          <p:nvPr/>
        </p:nvSpPr>
        <p:spPr>
          <a:xfrm>
            <a:off x="638175" y="181644"/>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A live run and its trace</a:t>
            </a:r>
          </a:p>
        </p:txBody>
      </p:sp>
      <p:sp>
        <p:nvSpPr>
          <p:cNvPr id="2" name="line-0">
            <a:extLst>
              <a:ext uri="{FF2B5EF4-FFF2-40B4-BE49-F238E27FC236}">
                <a16:creationId xmlns:a16="http://schemas.microsoft.com/office/drawing/2014/main" id="{5C9B9C32-CDE0-491F-9611-1E866F27CD6D}"/>
              </a:ext>
            </a:extLst>
          </p:cNvPr>
          <p:cNvSpPr>
            <a:spLocks noGrp="1"/>
          </p:cNvSpPr>
          <p:nvPr/>
        </p:nvSpPr>
        <p:spPr>
          <a:xfrm>
            <a:off x="685800" y="1809750"/>
            <a:ext cx="10572750" cy="752475"/>
          </a:xfrm>
          <a:prstGeom prst="rect">
            <a:avLst/>
          </a:prstGeom>
          <a:noFill/>
          <a:ln w="0">
            <a:noFill/>
          </a:ln>
        </p:spPr>
        <p:txBody>
          <a:bodyPr>
            <a:noAutofit/>
          </a:bodyPr>
          <a:lstStyle/>
          <a:p>
            <a:pPr>
              <a:buNone/>
              <a:defRPr sz="2475" b="1">
                <a:solidFill>
                  <a:srgbClr val="172D3B"/>
                </a:solidFill>
                <a:latin typeface="Arial"/>
                <a:ea typeface="Arial"/>
                <a:cs typeface="Arial"/>
              </a:defRPr>
            </a:pPr>
            <a:r>
              <a:rPr sz="2475" b="1">
                <a:solidFill>
                  <a:srgbClr val="172D3B"/>
                </a:solidFill>
                <a:latin typeface="Arial"/>
                <a:ea typeface="Arial"/>
                <a:cs typeface="Arial"/>
              </a:rPr>
              <a:t>Enable the live cell and type RUN</a:t>
            </a:r>
          </a:p>
        </p:txBody>
      </p:sp>
      <p:sp>
        <p:nvSpPr>
          <p:cNvPr id="3" name="line-1">
            <a:extLst>
              <a:ext uri="{FF2B5EF4-FFF2-40B4-BE49-F238E27FC236}">
                <a16:creationId xmlns:a16="http://schemas.microsoft.com/office/drawing/2014/main" id="{4E8DB819-F65B-4C55-8609-7F970BBA6E9F}"/>
              </a:ext>
            </a:extLst>
          </p:cNvPr>
          <p:cNvSpPr>
            <a:spLocks noGrp="1"/>
          </p:cNvSpPr>
          <p:nvPr/>
        </p:nvSpPr>
        <p:spPr>
          <a:xfrm>
            <a:off x="685800" y="262890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Inspect the actual tool results</a:t>
            </a:r>
          </a:p>
        </p:txBody>
      </p:sp>
      <p:sp>
        <p:nvSpPr>
          <p:cNvPr id="4" name="line-2">
            <a:extLst>
              <a:ext uri="{FF2B5EF4-FFF2-40B4-BE49-F238E27FC236}">
                <a16:creationId xmlns:a16="http://schemas.microsoft.com/office/drawing/2014/main" id="{223D5D0F-5AF0-4673-8C87-70F77FC76B8D}"/>
              </a:ext>
            </a:extLst>
          </p:cNvPr>
          <p:cNvSpPr>
            <a:spLocks noGrp="1"/>
          </p:cNvSpPr>
          <p:nvPr/>
        </p:nvSpPr>
        <p:spPr>
          <a:xfrm>
            <a:off x="685800" y="344805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Compare the draft with returned evidence</a:t>
            </a:r>
          </a:p>
        </p:txBody>
      </p:sp>
      <p:sp>
        <p:nvSpPr>
          <p:cNvPr id="5" name="line-3">
            <a:extLst>
              <a:ext uri="{FF2B5EF4-FFF2-40B4-BE49-F238E27FC236}">
                <a16:creationId xmlns:a16="http://schemas.microsoft.com/office/drawing/2014/main" id="{3DFEE933-43AD-467E-8290-EEC9F5DC5230}"/>
              </a:ext>
            </a:extLst>
          </p:cNvPr>
          <p:cNvSpPr>
            <a:spLocks noGrp="1"/>
          </p:cNvSpPr>
          <p:nvPr/>
        </p:nvSpPr>
        <p:spPr>
          <a:xfrm>
            <a:off x="685800" y="426720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Mark invented details or missing steps</a:t>
            </a:r>
          </a:p>
        </p:txBody>
      </p:sp>
      <p:sp>
        <p:nvSpPr>
          <p:cNvPr id="6" name="bottom-note">
            <a:extLst>
              <a:ext uri="{FF2B5EF4-FFF2-40B4-BE49-F238E27FC236}">
                <a16:creationId xmlns:a16="http://schemas.microsoft.com/office/drawing/2014/main" id="{E3156767-471F-41A6-9DC8-D145B01E6D90}"/>
              </a:ext>
            </a:extLst>
          </p:cNvPr>
          <p:cNvSpPr>
            <a:spLocks noGrp="1"/>
          </p:cNvSpPr>
          <p:nvPr/>
        </p:nvSpPr>
        <p:spPr>
          <a:xfrm>
            <a:off x="638175" y="5733256"/>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dirty="0">
                <a:solidFill>
                  <a:srgbClr val="006D77"/>
                </a:solidFill>
                <a:latin typeface="Arial"/>
                <a:ea typeface="Arial"/>
                <a:cs typeface="Arial"/>
              </a:rPr>
              <a:t>A fluent paragraph and a valid evidence ID still need checking.</a:t>
            </a:r>
          </a:p>
        </p:txBody>
      </p:sp>
      <p:sp>
        <p:nvSpPr>
          <p:cNvPr id="7" name="footer">
            <a:extLst>
              <a:ext uri="{FF2B5EF4-FFF2-40B4-BE49-F238E27FC236}">
                <a16:creationId xmlns:a16="http://schemas.microsoft.com/office/drawing/2014/main" id="{B8037FE1-E785-43DA-B6AF-A4F06BCCB736}"/>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23</a:t>
            </a:r>
          </a:p>
        </p:txBody>
      </p:sp>
      <p:sp>
        <p:nvSpPr>
          <p:cNvPr id="10" name="Rectangle 9">
            <a:extLst>
              <a:ext uri="{FF2B5EF4-FFF2-40B4-BE49-F238E27FC236}">
                <a16:creationId xmlns:a16="http://schemas.microsoft.com/office/drawing/2014/main" id="{505C8DBD-0809-655D-6BCF-7EA9E38604F9}"/>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12" name="Rectangle 11">
            <a:extLst>
              <a:ext uri="{FF2B5EF4-FFF2-40B4-BE49-F238E27FC236}">
                <a16:creationId xmlns:a16="http://schemas.microsoft.com/office/drawing/2014/main" id="{A0EEEC69-DF48-A27F-B1A6-39FF6DAFDA5E}"/>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13115685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54E22325-CA02-4CE7-8DC2-1978D6DE3E9F}"/>
              </a:ext>
            </a:extLst>
          </p:cNvPr>
          <p:cNvSpPr>
            <a:spLocks noGrp="1"/>
          </p:cNvSpPr>
          <p:nvPr/>
        </p:nvSpPr>
        <p:spPr>
          <a:xfrm>
            <a:off x="609600" y="247055"/>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A test with a clear meaning</a:t>
            </a:r>
          </a:p>
        </p:txBody>
      </p:sp>
      <p:sp>
        <p:nvSpPr>
          <p:cNvPr id="2" name="code">
            <a:extLst>
              <a:ext uri="{FF2B5EF4-FFF2-40B4-BE49-F238E27FC236}">
                <a16:creationId xmlns:a16="http://schemas.microsoft.com/office/drawing/2014/main" id="{3A8C9D71-B5F8-486D-BBCA-117E90820D4C}"/>
              </a:ext>
            </a:extLst>
          </p:cNvPr>
          <p:cNvSpPr>
            <a:spLocks noGrp="1"/>
          </p:cNvSpPr>
          <p:nvPr/>
        </p:nvSpPr>
        <p:spPr>
          <a:xfrm>
            <a:off x="685800" y="1809750"/>
            <a:ext cx="6286500" cy="2143125"/>
          </a:xfrm>
          <a:prstGeom prst="rect">
            <a:avLst/>
          </a:prstGeom>
          <a:solidFill>
            <a:srgbClr val="EDF3F2"/>
          </a:solidFill>
          <a:ln w="0">
            <a:noFill/>
          </a:ln>
        </p:spPr>
        <p:txBody>
          <a:bodyPr>
            <a:noAutofit/>
          </a:bodyPr>
          <a:lstStyle/>
          <a:p>
            <a:pPr>
              <a:buNone/>
              <a:defRPr sz="2175" b="0">
                <a:solidFill>
                  <a:srgbClr val="172D3B"/>
                </a:solidFill>
                <a:latin typeface="Consolas"/>
                <a:ea typeface="Consolas"/>
                <a:cs typeface="Consolas"/>
              </a:defRPr>
            </a:pPr>
            <a:r>
              <a:rPr sz="2175" b="0">
                <a:solidFill>
                  <a:srgbClr val="172D3B"/>
                </a:solidFill>
                <a:latin typeface="Consolas"/>
                <a:ea typeface="Consolas"/>
                <a:cs typeface="Consolas"/>
              </a:rPr>
              <a:t>expected_status = "missing"</a:t>
            </a:r>
          </a:p>
          <a:p>
            <a:pPr>
              <a:buNone/>
              <a:defRPr sz="2175" b="0">
                <a:solidFill>
                  <a:srgbClr val="172D3B"/>
                </a:solidFill>
                <a:latin typeface="Consolas"/>
                <a:ea typeface="Consolas"/>
                <a:cs typeface="Consolas"/>
              </a:defRPr>
            </a:pPr>
            <a:r>
              <a:rPr sz="2175" b="0">
                <a:solidFill>
                  <a:srgbClr val="172D3B"/>
                </a:solidFill>
                <a:latin typeface="Consolas"/>
                <a:ea typeface="Consolas"/>
                <a:cs typeface="Consolas"/>
              </a:rPr>
              <a:t>actual = get_evidence("sql")["status"]</a:t>
            </a:r>
          </a:p>
          <a:p>
            <a:pPr>
              <a:buNone/>
              <a:defRPr sz="2175" b="0">
                <a:solidFill>
                  <a:srgbClr val="172D3B"/>
                </a:solidFill>
                <a:latin typeface="Consolas"/>
                <a:ea typeface="Consolas"/>
                <a:cs typeface="Consolas"/>
              </a:defRPr>
            </a:pPr>
            <a:r>
              <a:rPr sz="2175" b="0">
                <a:solidFill>
                  <a:srgbClr val="172D3B"/>
                </a:solidFill>
                <a:latin typeface="Consolas"/>
                <a:ea typeface="Consolas"/>
                <a:cs typeface="Consolas"/>
              </a:rPr>
              <a:t>assert actual == expected_status</a:t>
            </a:r>
          </a:p>
        </p:txBody>
      </p:sp>
      <p:sp>
        <p:nvSpPr>
          <p:cNvPr id="3" name="instruction-0">
            <a:extLst>
              <a:ext uri="{FF2B5EF4-FFF2-40B4-BE49-F238E27FC236}">
                <a16:creationId xmlns:a16="http://schemas.microsoft.com/office/drawing/2014/main" id="{FF3D2F9F-63AF-4610-A14D-4E06519CCD89}"/>
              </a:ext>
            </a:extLst>
          </p:cNvPr>
          <p:cNvSpPr>
            <a:spLocks noGrp="1"/>
          </p:cNvSpPr>
          <p:nvPr/>
        </p:nvSpPr>
        <p:spPr>
          <a:xfrm>
            <a:off x="7477125" y="1809750"/>
            <a:ext cx="4000500" cy="800100"/>
          </a:xfrm>
          <a:prstGeom prst="rect">
            <a:avLst/>
          </a:prstGeom>
          <a:noFill/>
          <a:ln w="0">
            <a:noFill/>
          </a:ln>
        </p:spPr>
        <p:txBody>
          <a:bodyPr>
            <a:noAutofit/>
          </a:bodyPr>
          <a:lstStyle/>
          <a:p>
            <a:pPr>
              <a:buNone/>
              <a:defRPr sz="2100" b="1">
                <a:solidFill>
                  <a:srgbClr val="172D3B"/>
                </a:solidFill>
                <a:latin typeface="Arial"/>
                <a:ea typeface="Arial"/>
                <a:cs typeface="Arial"/>
              </a:defRPr>
            </a:pPr>
            <a:r>
              <a:rPr sz="2100" b="1">
                <a:solidFill>
                  <a:srgbClr val="172D3B"/>
                </a:solidFill>
                <a:latin typeface="Arial"/>
                <a:ea typeface="Arial"/>
                <a:cs typeface="Arial"/>
              </a:rPr>
              <a:t>Predict the local test results</a:t>
            </a:r>
          </a:p>
        </p:txBody>
      </p:sp>
      <p:sp>
        <p:nvSpPr>
          <p:cNvPr id="4" name="instruction-1">
            <a:extLst>
              <a:ext uri="{FF2B5EF4-FFF2-40B4-BE49-F238E27FC236}">
                <a16:creationId xmlns:a16="http://schemas.microsoft.com/office/drawing/2014/main" id="{8007F6F4-E616-435E-9602-6E6A898A78AA}"/>
              </a:ext>
            </a:extLst>
          </p:cNvPr>
          <p:cNvSpPr>
            <a:spLocks noGrp="1"/>
          </p:cNvSpPr>
          <p:nvPr/>
        </p:nvSpPr>
        <p:spPr>
          <a:xfrm>
            <a:off x="7477125" y="2667000"/>
            <a:ext cx="4000500" cy="800100"/>
          </a:xfrm>
          <a:prstGeom prst="rect">
            <a:avLst/>
          </a:prstGeom>
          <a:noFill/>
          <a:ln w="0">
            <a:noFill/>
          </a:ln>
        </p:spPr>
        <p:txBody>
          <a:bodyPr>
            <a:noAutofit/>
          </a:bodyPr>
          <a:lstStyle/>
          <a:p>
            <a:pPr>
              <a:buNone/>
              <a:defRPr sz="2100" b="0">
                <a:solidFill>
                  <a:srgbClr val="172D3B"/>
                </a:solidFill>
                <a:latin typeface="Arial"/>
                <a:ea typeface="Arial"/>
                <a:cs typeface="Arial"/>
              </a:defRPr>
            </a:pPr>
            <a:r>
              <a:rPr sz="2100" b="0">
                <a:solidFill>
                  <a:srgbClr val="172D3B"/>
                </a:solidFill>
                <a:latin typeface="Arial"/>
                <a:ea typeface="Arial"/>
                <a:cs typeface="Arial"/>
              </a:rPr>
              <a:t>Change missing to found, then restore</a:t>
            </a:r>
          </a:p>
        </p:txBody>
      </p:sp>
      <p:sp>
        <p:nvSpPr>
          <p:cNvPr id="5" name="instruction-2">
            <a:extLst>
              <a:ext uri="{FF2B5EF4-FFF2-40B4-BE49-F238E27FC236}">
                <a16:creationId xmlns:a16="http://schemas.microsoft.com/office/drawing/2014/main" id="{A7B0661D-3B63-427B-B82B-7075C06DCAC8}"/>
              </a:ext>
            </a:extLst>
          </p:cNvPr>
          <p:cNvSpPr>
            <a:spLocks noGrp="1"/>
          </p:cNvSpPr>
          <p:nvPr/>
        </p:nvSpPr>
        <p:spPr>
          <a:xfrm>
            <a:off x="7477125" y="3524250"/>
            <a:ext cx="4000500" cy="800100"/>
          </a:xfrm>
          <a:prstGeom prst="rect">
            <a:avLst/>
          </a:prstGeom>
          <a:noFill/>
          <a:ln w="0">
            <a:noFill/>
          </a:ln>
        </p:spPr>
        <p:txBody>
          <a:bodyPr>
            <a:noAutofit/>
          </a:bodyPr>
          <a:lstStyle/>
          <a:p>
            <a:pPr>
              <a:buNone/>
              <a:defRPr sz="2100" b="0">
                <a:solidFill>
                  <a:srgbClr val="172D3B"/>
                </a:solidFill>
                <a:latin typeface="Arial"/>
                <a:ea typeface="Arial"/>
                <a:cs typeface="Arial"/>
              </a:defRPr>
            </a:pPr>
            <a:r>
              <a:rPr sz="2100" b="0">
                <a:solidFill>
                  <a:srgbClr val="172D3B"/>
                </a:solidFill>
                <a:latin typeface="Arial"/>
                <a:ea typeface="Arial"/>
                <a:cs typeface="Arial"/>
              </a:rPr>
              <a:t>Explain the forbidden-tool check</a:t>
            </a:r>
          </a:p>
        </p:txBody>
      </p:sp>
      <p:sp>
        <p:nvSpPr>
          <p:cNvPr id="6" name="bottom-note">
            <a:extLst>
              <a:ext uri="{FF2B5EF4-FFF2-40B4-BE49-F238E27FC236}">
                <a16:creationId xmlns:a16="http://schemas.microsoft.com/office/drawing/2014/main" id="{E2133E89-595F-4BEE-9075-7D70413C7330}"/>
              </a:ext>
            </a:extLst>
          </p:cNvPr>
          <p:cNvSpPr>
            <a:spLocks noGrp="1"/>
          </p:cNvSpPr>
          <p:nvPr/>
        </p:nvSpPr>
        <p:spPr>
          <a:xfrm>
            <a:off x="479376" y="5724525"/>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dirty="0">
                <a:solidFill>
                  <a:srgbClr val="006D77"/>
                </a:solidFill>
                <a:latin typeface="Arial"/>
                <a:ea typeface="Arial"/>
                <a:cs typeface="Arial"/>
              </a:rPr>
              <a:t>Local checks do not certify model truthfulness or general attack resistance.</a:t>
            </a:r>
          </a:p>
        </p:txBody>
      </p:sp>
      <p:sp>
        <p:nvSpPr>
          <p:cNvPr id="7" name="footer">
            <a:extLst>
              <a:ext uri="{FF2B5EF4-FFF2-40B4-BE49-F238E27FC236}">
                <a16:creationId xmlns:a16="http://schemas.microsoft.com/office/drawing/2014/main" id="{EDA47B29-8A27-4A10-8EF6-FCED3B2A5A12}"/>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24</a:t>
            </a:r>
          </a:p>
        </p:txBody>
      </p:sp>
      <p:sp>
        <p:nvSpPr>
          <p:cNvPr id="10" name="Rectangle 9">
            <a:extLst>
              <a:ext uri="{FF2B5EF4-FFF2-40B4-BE49-F238E27FC236}">
                <a16:creationId xmlns:a16="http://schemas.microsoft.com/office/drawing/2014/main" id="{2E6A88F6-ED4F-BDEE-ABBF-06E9977CEFE0}"/>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12" name="Rectangle 11">
            <a:extLst>
              <a:ext uri="{FF2B5EF4-FFF2-40B4-BE49-F238E27FC236}">
                <a16:creationId xmlns:a16="http://schemas.microsoft.com/office/drawing/2014/main" id="{970B799B-FCF0-A08A-D4F7-E07E0EAF270F}"/>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8496414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01E59F59-FA1A-4572-9860-63DA04B25972}"/>
              </a:ext>
            </a:extLst>
          </p:cNvPr>
          <p:cNvSpPr>
            <a:spLocks noGrp="1"/>
          </p:cNvSpPr>
          <p:nvPr/>
        </p:nvSpPr>
        <p:spPr>
          <a:xfrm>
            <a:off x="609600" y="204788"/>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Your own version</a:t>
            </a:r>
          </a:p>
        </p:txBody>
      </p:sp>
      <p:graphicFrame>
        <p:nvGraphicFramePr>
          <p:cNvPr id="8" name="Table 7"/>
          <p:cNvGraphicFramePr/>
          <p:nvPr/>
        </p:nvGraphicFramePr>
        <p:xfrm>
          <a:off x="685800" y="1752600"/>
          <a:ext cx="10820400" cy="3524250"/>
        </p:xfrm>
        <a:graphic>
          <a:graphicData uri="http://schemas.openxmlformats.org/drawingml/2006/table">
            <a:tbl>
              <a:tblPr/>
              <a:tblGrid>
                <a:gridCol w="54102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704850">
                <a:tc>
                  <a:txBody>
                    <a:bodyPr/>
                    <a:lstStyle/>
                    <a:p>
                      <a:r>
                        <a:rPr sz="2025" b="1">
                          <a:solidFill>
                            <a:srgbClr val="172D3B"/>
                          </a:solidFill>
                          <a:latin typeface="Arial"/>
                          <a:ea typeface="Arial"/>
                          <a:cs typeface="Arial"/>
                        </a:rPr>
                        <a:t>Beginner route</a:t>
                      </a:r>
                    </a:p>
                  </a:txBody>
                  <a:tcPr>
                    <a:solidFill>
                      <a:srgbClr val="DCECEB"/>
                    </a:solidFill>
                  </a:tcPr>
                </a:tc>
                <a:tc>
                  <a:txBody>
                    <a:bodyPr/>
                    <a:lstStyle/>
                    <a:p>
                      <a:r>
                        <a:rPr sz="2025" b="1">
                          <a:solidFill>
                            <a:srgbClr val="172D3B"/>
                          </a:solidFill>
                          <a:latin typeface="Arial"/>
                          <a:ea typeface="Arial"/>
                          <a:cs typeface="Arial"/>
                        </a:rPr>
                        <a:t>Advanced route</a:t>
                      </a:r>
                    </a:p>
                  </a:txBody>
                  <a:tcPr>
                    <a:solidFill>
                      <a:srgbClr val="DCECEB"/>
                    </a:solidFill>
                  </a:tcPr>
                </a:tc>
                <a:extLst>
                  <a:ext uri="{0D108BD9-81ED-4DB2-BD59-A6C34878D82A}">
                    <a16:rowId xmlns:a16="http://schemas.microsoft.com/office/drawing/2014/main" val="10000"/>
                  </a:ext>
                </a:extLst>
              </a:tr>
              <a:tr h="704850">
                <a:tc>
                  <a:txBody>
                    <a:bodyPr/>
                    <a:lstStyle/>
                    <a:p>
                      <a:r>
                        <a:rPr sz="2025" b="0">
                          <a:solidFill>
                            <a:srgbClr val="172D3B"/>
                          </a:solidFill>
                          <a:latin typeface="Arial"/>
                          <a:ea typeface="Arial"/>
                          <a:cs typeface="Arial"/>
                        </a:rPr>
                        <a:t>Choose a role, focus or tone</a:t>
                      </a:r>
                    </a:p>
                  </a:txBody>
                  <a:tcPr>
                    <a:solidFill>
                      <a:srgbClr val="FAFAF7"/>
                    </a:solidFill>
                  </a:tcPr>
                </a:tc>
                <a:tc>
                  <a:txBody>
                    <a:bodyPr/>
                    <a:lstStyle/>
                    <a:p>
                      <a:r>
                        <a:rPr sz="2025" b="0">
                          <a:solidFill>
                            <a:srgbClr val="172D3B"/>
                          </a:solidFill>
                          <a:latin typeface="Arial"/>
                          <a:ea typeface="Arial"/>
                          <a:cs typeface="Arial"/>
                        </a:rPr>
                        <a:t>Add an encouraging question tone</a:t>
                      </a:r>
                    </a:p>
                  </a:txBody>
                  <a:tcPr>
                    <a:solidFill>
                      <a:srgbClr val="FAFAF7"/>
                    </a:solidFill>
                  </a:tcPr>
                </a:tc>
                <a:extLst>
                  <a:ext uri="{0D108BD9-81ED-4DB2-BD59-A6C34878D82A}">
                    <a16:rowId xmlns:a16="http://schemas.microsoft.com/office/drawing/2014/main" val="10001"/>
                  </a:ext>
                </a:extLst>
              </a:tr>
              <a:tr h="704850">
                <a:tc>
                  <a:txBody>
                    <a:bodyPr/>
                    <a:lstStyle/>
                    <a:p>
                      <a:r>
                        <a:rPr sz="2025" b="0">
                          <a:solidFill>
                            <a:srgbClr val="172D3B"/>
                          </a:solidFill>
                          <a:latin typeface="Arial"/>
                          <a:ea typeface="Arial"/>
                          <a:cs typeface="Arial"/>
                        </a:rPr>
                        <a:t>Change one skill recipe</a:t>
                      </a:r>
                    </a:p>
                  </a:txBody>
                  <a:tcPr>
                    <a:solidFill>
                      <a:srgbClr val="FAFAF7"/>
                    </a:solidFill>
                  </a:tcPr>
                </a:tc>
                <a:tc>
                  <a:txBody>
                    <a:bodyPr/>
                    <a:lstStyle/>
                    <a:p>
                      <a:r>
                        <a:rPr sz="2025" b="0">
                          <a:solidFill>
                            <a:srgbClr val="172D3B"/>
                          </a:solidFill>
                          <a:latin typeface="Arial"/>
                          <a:ea typeface="Arial"/>
                          <a:cs typeface="Arial"/>
                        </a:rPr>
                        <a:t>Refresh schema and allowed values</a:t>
                      </a:r>
                    </a:p>
                  </a:txBody>
                  <a:tcPr>
                    <a:solidFill>
                      <a:srgbClr val="FAFAF7"/>
                    </a:solidFill>
                  </a:tcPr>
                </a:tc>
                <a:extLst>
                  <a:ext uri="{0D108BD9-81ED-4DB2-BD59-A6C34878D82A}">
                    <a16:rowId xmlns:a16="http://schemas.microsoft.com/office/drawing/2014/main" val="10002"/>
                  </a:ext>
                </a:extLst>
              </a:tr>
              <a:tr h="704850">
                <a:tc>
                  <a:txBody>
                    <a:bodyPr/>
                    <a:lstStyle/>
                    <a:p>
                      <a:r>
                        <a:rPr sz="2025" b="0">
                          <a:solidFill>
                            <a:srgbClr val="172D3B"/>
                          </a:solidFill>
                          <a:latin typeface="Arial"/>
                          <a:ea typeface="Arial"/>
                          <a:cs typeface="Arial"/>
                        </a:rPr>
                        <a:t>Compare the result</a:t>
                      </a:r>
                    </a:p>
                  </a:txBody>
                  <a:tcPr>
                    <a:solidFill>
                      <a:srgbClr val="FAFAF7"/>
                    </a:solidFill>
                  </a:tcPr>
                </a:tc>
                <a:tc>
                  <a:txBody>
                    <a:bodyPr/>
                    <a:lstStyle/>
                    <a:p>
                      <a:r>
                        <a:rPr sz="2025" b="0">
                          <a:solidFill>
                            <a:srgbClr val="172D3B"/>
                          </a:solidFill>
                          <a:latin typeface="Arial"/>
                          <a:ea typeface="Arial"/>
                          <a:cs typeface="Arial"/>
                        </a:rPr>
                        <a:t>Test the new and unsupported tones</a:t>
                      </a:r>
                    </a:p>
                  </a:txBody>
                  <a:tcPr>
                    <a:solidFill>
                      <a:srgbClr val="FAFAF7"/>
                    </a:solidFill>
                  </a:tcPr>
                </a:tc>
                <a:extLst>
                  <a:ext uri="{0D108BD9-81ED-4DB2-BD59-A6C34878D82A}">
                    <a16:rowId xmlns:a16="http://schemas.microsoft.com/office/drawing/2014/main" val="10003"/>
                  </a:ext>
                </a:extLst>
              </a:tr>
              <a:tr h="704850">
                <a:tc>
                  <a:txBody>
                    <a:bodyPr/>
                    <a:lstStyle/>
                    <a:p>
                      <a:r>
                        <a:rPr sz="2025" b="0">
                          <a:solidFill>
                            <a:srgbClr val="172D3B"/>
                          </a:solidFill>
                          <a:latin typeface="Arial"/>
                          <a:ea typeface="Arial"/>
                          <a:cs typeface="Arial"/>
                        </a:rPr>
                        <a:t>Explain a test and a limitation</a:t>
                      </a:r>
                    </a:p>
                  </a:txBody>
                  <a:tcPr>
                    <a:solidFill>
                      <a:srgbClr val="FAFAF7"/>
                    </a:solidFill>
                  </a:tcPr>
                </a:tc>
                <a:tc>
                  <a:txBody>
                    <a:bodyPr/>
                    <a:lstStyle/>
                    <a:p>
                      <a:r>
                        <a:rPr sz="2025" b="0">
                          <a:solidFill>
                            <a:srgbClr val="172D3B"/>
                          </a:solidFill>
                          <a:latin typeface="Arial"/>
                          <a:ea typeface="Arial"/>
                          <a:cs typeface="Arial"/>
                        </a:rPr>
                        <a:t>Explain a test and a limitation</a:t>
                      </a:r>
                    </a:p>
                  </a:txBody>
                  <a:tcPr>
                    <a:solidFill>
                      <a:srgbClr val="FAFAF7"/>
                    </a:solidFill>
                  </a:tcPr>
                </a:tc>
                <a:extLst>
                  <a:ext uri="{0D108BD9-81ED-4DB2-BD59-A6C34878D82A}">
                    <a16:rowId xmlns:a16="http://schemas.microsoft.com/office/drawing/2014/main" val="10004"/>
                  </a:ext>
                </a:extLst>
              </a:tr>
            </a:tbl>
          </a:graphicData>
        </a:graphic>
      </p:graphicFrame>
      <p:sp>
        <p:nvSpPr>
          <p:cNvPr id="3" name="bottom-note">
            <a:extLst>
              <a:ext uri="{FF2B5EF4-FFF2-40B4-BE49-F238E27FC236}">
                <a16:creationId xmlns:a16="http://schemas.microsoft.com/office/drawing/2014/main" id="{21EFCE3E-685A-4E44-98CE-8CA6A2B4CBDE}"/>
              </a:ext>
            </a:extLst>
          </p:cNvPr>
          <p:cNvSpPr>
            <a:spLocks noGrp="1"/>
          </p:cNvSpPr>
          <p:nvPr/>
        </p:nvSpPr>
        <p:spPr>
          <a:xfrm>
            <a:off x="685800" y="5572125"/>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a:solidFill>
                  <a:srgbClr val="006D77"/>
                </a:solidFill>
                <a:latin typeface="Arial"/>
                <a:ea typeface="Arial"/>
                <a:cs typeface="Arial"/>
              </a:rPr>
              <a:t>Choose your own route. One small change is enough.</a:t>
            </a:r>
          </a:p>
        </p:txBody>
      </p:sp>
      <p:sp>
        <p:nvSpPr>
          <p:cNvPr id="4" name="footer">
            <a:extLst>
              <a:ext uri="{FF2B5EF4-FFF2-40B4-BE49-F238E27FC236}">
                <a16:creationId xmlns:a16="http://schemas.microsoft.com/office/drawing/2014/main" id="{BAC364BB-E7C3-4AAD-AD98-B80EF5181314}"/>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25</a:t>
            </a:r>
          </a:p>
        </p:txBody>
      </p:sp>
      <p:sp>
        <p:nvSpPr>
          <p:cNvPr id="6" name="Rectangle 5">
            <a:extLst>
              <a:ext uri="{FF2B5EF4-FFF2-40B4-BE49-F238E27FC236}">
                <a16:creationId xmlns:a16="http://schemas.microsoft.com/office/drawing/2014/main" id="{08241205-2EA7-30F0-9259-DC334A0D9B70}"/>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9" name="Rectangle 8">
            <a:extLst>
              <a:ext uri="{FF2B5EF4-FFF2-40B4-BE49-F238E27FC236}">
                <a16:creationId xmlns:a16="http://schemas.microsoft.com/office/drawing/2014/main" id="{101DD919-AB7F-B426-5A64-7C3E8ACA0BB1}"/>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3611432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6310200F-879C-4CDE-8983-3A4BE5D9DAC9}"/>
              </a:ext>
            </a:extLst>
          </p:cNvPr>
          <p:cNvSpPr>
            <a:spLocks noGrp="1"/>
          </p:cNvSpPr>
          <p:nvPr/>
        </p:nvSpPr>
        <p:spPr>
          <a:xfrm>
            <a:off x="609600" y="221061"/>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Time to build and check</a:t>
            </a:r>
          </a:p>
        </p:txBody>
      </p:sp>
      <p:sp>
        <p:nvSpPr>
          <p:cNvPr id="2" name="line-0">
            <a:extLst>
              <a:ext uri="{FF2B5EF4-FFF2-40B4-BE49-F238E27FC236}">
                <a16:creationId xmlns:a16="http://schemas.microsoft.com/office/drawing/2014/main" id="{AF9BB60F-9D3F-405B-92E2-4CF4EF2E7241}"/>
              </a:ext>
            </a:extLst>
          </p:cNvPr>
          <p:cNvSpPr>
            <a:spLocks noGrp="1"/>
          </p:cNvSpPr>
          <p:nvPr/>
        </p:nvSpPr>
        <p:spPr>
          <a:xfrm>
            <a:off x="685800" y="1809750"/>
            <a:ext cx="10572750" cy="752475"/>
          </a:xfrm>
          <a:prstGeom prst="rect">
            <a:avLst/>
          </a:prstGeom>
          <a:noFill/>
          <a:ln w="0">
            <a:noFill/>
          </a:ln>
        </p:spPr>
        <p:txBody>
          <a:bodyPr>
            <a:noAutofit/>
          </a:bodyPr>
          <a:lstStyle/>
          <a:p>
            <a:pPr>
              <a:buNone/>
              <a:defRPr sz="2475" b="1">
                <a:solidFill>
                  <a:srgbClr val="172D3B"/>
                </a:solidFill>
                <a:latin typeface="Arial"/>
                <a:ea typeface="Arial"/>
                <a:cs typeface="Arial"/>
              </a:defRPr>
            </a:pPr>
            <a:r>
              <a:rPr sz="2475" b="1">
                <a:solidFill>
                  <a:srgbClr val="172D3B"/>
                </a:solidFill>
                <a:latin typeface="Arial"/>
                <a:ea typeface="Arial"/>
                <a:cs typeface="Arial"/>
              </a:rPr>
              <a:t>Make one change and predict its effect</a:t>
            </a:r>
          </a:p>
        </p:txBody>
      </p:sp>
      <p:sp>
        <p:nvSpPr>
          <p:cNvPr id="3" name="line-1">
            <a:extLst>
              <a:ext uri="{FF2B5EF4-FFF2-40B4-BE49-F238E27FC236}">
                <a16:creationId xmlns:a16="http://schemas.microsoft.com/office/drawing/2014/main" id="{C68967FF-9FC3-4D7A-944C-A9C934601381}"/>
              </a:ext>
            </a:extLst>
          </p:cNvPr>
          <p:cNvSpPr>
            <a:spLocks noGrp="1"/>
          </p:cNvSpPr>
          <p:nvPr/>
        </p:nvSpPr>
        <p:spPr>
          <a:xfrm>
            <a:off x="685800" y="262890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Compare a local result and, if available, a live draft</a:t>
            </a:r>
          </a:p>
        </p:txBody>
      </p:sp>
      <p:sp>
        <p:nvSpPr>
          <p:cNvPr id="4" name="line-2">
            <a:extLst>
              <a:ext uri="{FF2B5EF4-FFF2-40B4-BE49-F238E27FC236}">
                <a16:creationId xmlns:a16="http://schemas.microsoft.com/office/drawing/2014/main" id="{91ADFDD4-B88E-402A-9736-3E4B5F9626A6}"/>
              </a:ext>
            </a:extLst>
          </p:cNvPr>
          <p:cNvSpPr>
            <a:spLocks noGrp="1"/>
          </p:cNvSpPr>
          <p:nvPr/>
        </p:nvSpPr>
        <p:spPr>
          <a:xfrm>
            <a:off x="685800" y="344805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Write or explain one focused test</a:t>
            </a:r>
          </a:p>
        </p:txBody>
      </p:sp>
      <p:sp>
        <p:nvSpPr>
          <p:cNvPr id="5" name="line-3">
            <a:extLst>
              <a:ext uri="{FF2B5EF4-FFF2-40B4-BE49-F238E27FC236}">
                <a16:creationId xmlns:a16="http://schemas.microsoft.com/office/drawing/2014/main" id="{F3F38A00-C4B0-4062-99E4-2D50E8460452}"/>
              </a:ext>
            </a:extLst>
          </p:cNvPr>
          <p:cNvSpPr>
            <a:spLocks noGrp="1"/>
          </p:cNvSpPr>
          <p:nvPr/>
        </p:nvSpPr>
        <p:spPr>
          <a:xfrm>
            <a:off x="685800" y="426720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Prepare a 60-second demonstration</a:t>
            </a:r>
          </a:p>
        </p:txBody>
      </p:sp>
      <p:sp>
        <p:nvSpPr>
          <p:cNvPr id="6" name="bottom-note">
            <a:extLst>
              <a:ext uri="{FF2B5EF4-FFF2-40B4-BE49-F238E27FC236}">
                <a16:creationId xmlns:a16="http://schemas.microsoft.com/office/drawing/2014/main" id="{C1DA2E47-102A-4764-8C07-AFE31446CB57}"/>
              </a:ext>
            </a:extLst>
          </p:cNvPr>
          <p:cNvSpPr>
            <a:spLocks noGrp="1"/>
          </p:cNvSpPr>
          <p:nvPr/>
        </p:nvSpPr>
        <p:spPr>
          <a:xfrm>
            <a:off x="685800" y="5572125"/>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a:solidFill>
                  <a:srgbClr val="006D77"/>
                </a:solidFill>
                <a:latin typeface="Arial"/>
                <a:ea typeface="Arial"/>
                <a:cs typeface="Arial"/>
              </a:rPr>
              <a:t>At minute 103: stop adding features and check the result.</a:t>
            </a:r>
          </a:p>
        </p:txBody>
      </p:sp>
      <p:sp>
        <p:nvSpPr>
          <p:cNvPr id="7" name="footer">
            <a:extLst>
              <a:ext uri="{FF2B5EF4-FFF2-40B4-BE49-F238E27FC236}">
                <a16:creationId xmlns:a16="http://schemas.microsoft.com/office/drawing/2014/main" id="{34228B7D-57E9-4536-8C95-0914E4ADA700}"/>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26</a:t>
            </a:r>
          </a:p>
        </p:txBody>
      </p:sp>
      <p:sp>
        <p:nvSpPr>
          <p:cNvPr id="10" name="Rectangle 9">
            <a:extLst>
              <a:ext uri="{FF2B5EF4-FFF2-40B4-BE49-F238E27FC236}">
                <a16:creationId xmlns:a16="http://schemas.microsoft.com/office/drawing/2014/main" id="{726CCBF3-F093-DE29-2642-077A56C1D50C}"/>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12" name="Rectangle 11">
            <a:extLst>
              <a:ext uri="{FF2B5EF4-FFF2-40B4-BE49-F238E27FC236}">
                <a16:creationId xmlns:a16="http://schemas.microsoft.com/office/drawing/2014/main" id="{C2212743-BE85-6001-F83C-E3B74EFDD4B8}"/>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21187885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11AA7358-EEAC-4927-9A1C-1CCFD29DA27F}"/>
              </a:ext>
            </a:extLst>
          </p:cNvPr>
          <p:cNvSpPr>
            <a:spLocks noGrp="1"/>
          </p:cNvSpPr>
          <p:nvPr/>
        </p:nvSpPr>
        <p:spPr>
          <a:xfrm>
            <a:off x="609600" y="190500"/>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What changed in your coach?</a:t>
            </a:r>
          </a:p>
        </p:txBody>
      </p:sp>
      <p:sp>
        <p:nvSpPr>
          <p:cNvPr id="2" name="line-0">
            <a:extLst>
              <a:ext uri="{FF2B5EF4-FFF2-40B4-BE49-F238E27FC236}">
                <a16:creationId xmlns:a16="http://schemas.microsoft.com/office/drawing/2014/main" id="{E24C2F9E-AE78-412E-8659-7EA1FC66322F}"/>
              </a:ext>
            </a:extLst>
          </p:cNvPr>
          <p:cNvSpPr>
            <a:spLocks noGrp="1"/>
          </p:cNvSpPr>
          <p:nvPr/>
        </p:nvSpPr>
        <p:spPr>
          <a:xfrm>
            <a:off x="685800" y="1809750"/>
            <a:ext cx="10572750" cy="752475"/>
          </a:xfrm>
          <a:prstGeom prst="rect">
            <a:avLst/>
          </a:prstGeom>
          <a:noFill/>
          <a:ln w="0">
            <a:noFill/>
          </a:ln>
        </p:spPr>
        <p:txBody>
          <a:bodyPr>
            <a:noAutofit/>
          </a:bodyPr>
          <a:lstStyle/>
          <a:p>
            <a:pPr>
              <a:buNone/>
              <a:defRPr sz="2475" b="1">
                <a:solidFill>
                  <a:srgbClr val="172D3B"/>
                </a:solidFill>
                <a:latin typeface="Arial"/>
                <a:ea typeface="Arial"/>
                <a:cs typeface="Arial"/>
              </a:defRPr>
            </a:pPr>
            <a:r>
              <a:rPr sz="2475" b="1">
                <a:solidFill>
                  <a:srgbClr val="172D3B"/>
                </a:solidFill>
                <a:latin typeface="Arial"/>
                <a:ea typeface="Arial"/>
                <a:cs typeface="Arial"/>
              </a:rPr>
              <a:t>My change</a:t>
            </a:r>
          </a:p>
        </p:txBody>
      </p:sp>
      <p:sp>
        <p:nvSpPr>
          <p:cNvPr id="3" name="line-1">
            <a:extLst>
              <a:ext uri="{FF2B5EF4-FFF2-40B4-BE49-F238E27FC236}">
                <a16:creationId xmlns:a16="http://schemas.microsoft.com/office/drawing/2014/main" id="{557C3544-377B-4C94-9615-BB3ACCD48503}"/>
              </a:ext>
            </a:extLst>
          </p:cNvPr>
          <p:cNvSpPr>
            <a:spLocks noGrp="1"/>
          </p:cNvSpPr>
          <p:nvPr/>
        </p:nvSpPr>
        <p:spPr>
          <a:xfrm>
            <a:off x="685800" y="262890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The result I observed</a:t>
            </a:r>
          </a:p>
        </p:txBody>
      </p:sp>
      <p:sp>
        <p:nvSpPr>
          <p:cNvPr id="4" name="line-2">
            <a:extLst>
              <a:ext uri="{FF2B5EF4-FFF2-40B4-BE49-F238E27FC236}">
                <a16:creationId xmlns:a16="http://schemas.microsoft.com/office/drawing/2014/main" id="{32F253ED-27A7-4DD7-A92F-F780DA4CD143}"/>
              </a:ext>
            </a:extLst>
          </p:cNvPr>
          <p:cNvSpPr>
            <a:spLocks noGrp="1"/>
          </p:cNvSpPr>
          <p:nvPr/>
        </p:nvSpPr>
        <p:spPr>
          <a:xfrm>
            <a:off x="685800" y="344805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My test and one remaining limitation</a:t>
            </a:r>
          </a:p>
        </p:txBody>
      </p:sp>
      <p:sp>
        <p:nvSpPr>
          <p:cNvPr id="5" name="bottom-note">
            <a:extLst>
              <a:ext uri="{FF2B5EF4-FFF2-40B4-BE49-F238E27FC236}">
                <a16:creationId xmlns:a16="http://schemas.microsoft.com/office/drawing/2014/main" id="{F2D2A8D6-BD44-4CF0-A0F6-7928C89EB2C2}"/>
              </a:ext>
            </a:extLst>
          </p:cNvPr>
          <p:cNvSpPr>
            <a:spLocks noGrp="1"/>
          </p:cNvSpPr>
          <p:nvPr/>
        </p:nvSpPr>
        <p:spPr>
          <a:xfrm>
            <a:off x="583754" y="5740400"/>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dirty="0">
                <a:solidFill>
                  <a:srgbClr val="006D77"/>
                </a:solidFill>
                <a:latin typeface="Arial"/>
                <a:ea typeface="Arial"/>
                <a:cs typeface="Arial"/>
              </a:rPr>
              <a:t>Two volunteers, about one minute each</a:t>
            </a:r>
          </a:p>
        </p:txBody>
      </p:sp>
      <p:sp>
        <p:nvSpPr>
          <p:cNvPr id="6" name="footer">
            <a:extLst>
              <a:ext uri="{FF2B5EF4-FFF2-40B4-BE49-F238E27FC236}">
                <a16:creationId xmlns:a16="http://schemas.microsoft.com/office/drawing/2014/main" id="{FCA68E5B-3FD4-4CB7-854D-49C43BBD00FD}"/>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27</a:t>
            </a:r>
          </a:p>
        </p:txBody>
      </p:sp>
      <p:sp>
        <p:nvSpPr>
          <p:cNvPr id="9" name="Rectangle 8">
            <a:extLst>
              <a:ext uri="{FF2B5EF4-FFF2-40B4-BE49-F238E27FC236}">
                <a16:creationId xmlns:a16="http://schemas.microsoft.com/office/drawing/2014/main" id="{4F454C88-09C6-D8A8-C552-4E163CACDB42}"/>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11" name="Rectangle 10">
            <a:extLst>
              <a:ext uri="{FF2B5EF4-FFF2-40B4-BE49-F238E27FC236}">
                <a16:creationId xmlns:a16="http://schemas.microsoft.com/office/drawing/2014/main" id="{34341ACE-EC0B-10A7-EF93-381413822250}"/>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6216139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DF85E674-9889-44CA-8906-32C3C3D14FD5}"/>
              </a:ext>
            </a:extLst>
          </p:cNvPr>
          <p:cNvSpPr>
            <a:spLocks noGrp="1"/>
          </p:cNvSpPr>
          <p:nvPr/>
        </p:nvSpPr>
        <p:spPr>
          <a:xfrm>
            <a:off x="609600" y="190500"/>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Your individual exit ticket</a:t>
            </a:r>
          </a:p>
        </p:txBody>
      </p:sp>
      <p:sp>
        <p:nvSpPr>
          <p:cNvPr id="2" name="line-0">
            <a:extLst>
              <a:ext uri="{FF2B5EF4-FFF2-40B4-BE49-F238E27FC236}">
                <a16:creationId xmlns:a16="http://schemas.microsoft.com/office/drawing/2014/main" id="{61EA1E4E-5C5B-4052-BE37-0E9DCDC8BB26}"/>
              </a:ext>
            </a:extLst>
          </p:cNvPr>
          <p:cNvSpPr>
            <a:spLocks noGrp="1"/>
          </p:cNvSpPr>
          <p:nvPr/>
        </p:nvSpPr>
        <p:spPr>
          <a:xfrm>
            <a:off x="685800" y="1809750"/>
            <a:ext cx="10572750" cy="752475"/>
          </a:xfrm>
          <a:prstGeom prst="rect">
            <a:avLst/>
          </a:prstGeom>
          <a:noFill/>
          <a:ln w="0">
            <a:noFill/>
          </a:ln>
        </p:spPr>
        <p:txBody>
          <a:bodyPr>
            <a:noAutofit/>
          </a:bodyPr>
          <a:lstStyle/>
          <a:p>
            <a:pPr>
              <a:buNone/>
              <a:defRPr sz="2475" b="1">
                <a:solidFill>
                  <a:srgbClr val="172D3B"/>
                </a:solidFill>
                <a:latin typeface="Arial"/>
                <a:ea typeface="Arial"/>
                <a:cs typeface="Arial"/>
              </a:defRPr>
            </a:pPr>
            <a:r>
              <a:rPr sz="2475" b="1">
                <a:solidFill>
                  <a:srgbClr val="172D3B"/>
                </a:solidFill>
                <a:latin typeface="Arial"/>
                <a:ea typeface="Arial"/>
                <a:cs typeface="Arial"/>
              </a:rPr>
              <a:t>What did Gemini decide, and what did Python execute?</a:t>
            </a:r>
          </a:p>
        </p:txBody>
      </p:sp>
      <p:sp>
        <p:nvSpPr>
          <p:cNvPr id="3" name="line-1">
            <a:extLst>
              <a:ext uri="{FF2B5EF4-FFF2-40B4-BE49-F238E27FC236}">
                <a16:creationId xmlns:a16="http://schemas.microsoft.com/office/drawing/2014/main" id="{78591019-6F0F-49D7-AF70-5621F7D8A1AB}"/>
              </a:ext>
            </a:extLst>
          </p:cNvPr>
          <p:cNvSpPr>
            <a:spLocks noGrp="1"/>
          </p:cNvSpPr>
          <p:nvPr/>
        </p:nvSpPr>
        <p:spPr>
          <a:xfrm>
            <a:off x="685800" y="262890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What did I change and what happened?</a:t>
            </a:r>
          </a:p>
        </p:txBody>
      </p:sp>
      <p:sp>
        <p:nvSpPr>
          <p:cNvPr id="4" name="line-2">
            <a:extLst>
              <a:ext uri="{FF2B5EF4-FFF2-40B4-BE49-F238E27FC236}">
                <a16:creationId xmlns:a16="http://schemas.microsoft.com/office/drawing/2014/main" id="{7A89486F-4CE6-4DB5-8A70-D507407A1B81}"/>
              </a:ext>
            </a:extLst>
          </p:cNvPr>
          <p:cNvSpPr>
            <a:spLocks noGrp="1"/>
          </p:cNvSpPr>
          <p:nvPr/>
        </p:nvSpPr>
        <p:spPr>
          <a:xfrm>
            <a:off x="685800" y="344805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What must I check before using the answer?</a:t>
            </a:r>
          </a:p>
        </p:txBody>
      </p:sp>
      <p:sp>
        <p:nvSpPr>
          <p:cNvPr id="5" name="bottom-note">
            <a:extLst>
              <a:ext uri="{FF2B5EF4-FFF2-40B4-BE49-F238E27FC236}">
                <a16:creationId xmlns:a16="http://schemas.microsoft.com/office/drawing/2014/main" id="{25F79522-BED3-4D29-A3D9-DC84BACC398C}"/>
              </a:ext>
            </a:extLst>
          </p:cNvPr>
          <p:cNvSpPr>
            <a:spLocks noGrp="1"/>
          </p:cNvSpPr>
          <p:nvPr/>
        </p:nvSpPr>
        <p:spPr>
          <a:xfrm>
            <a:off x="590550" y="5732239"/>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dirty="0">
                <a:solidFill>
                  <a:srgbClr val="006D77"/>
                </a:solidFill>
                <a:latin typeface="Arial"/>
                <a:ea typeface="Arial"/>
                <a:cs typeface="Arial"/>
              </a:rPr>
              <a:t>Write your own answers and keep them with your notebook.</a:t>
            </a:r>
          </a:p>
        </p:txBody>
      </p:sp>
      <p:sp>
        <p:nvSpPr>
          <p:cNvPr id="6" name="footer">
            <a:extLst>
              <a:ext uri="{FF2B5EF4-FFF2-40B4-BE49-F238E27FC236}">
                <a16:creationId xmlns:a16="http://schemas.microsoft.com/office/drawing/2014/main" id="{9D2FEDD2-697D-434F-B92B-45629150DAC7}"/>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28</a:t>
            </a:r>
          </a:p>
        </p:txBody>
      </p:sp>
      <p:sp>
        <p:nvSpPr>
          <p:cNvPr id="9" name="Rectangle 8">
            <a:extLst>
              <a:ext uri="{FF2B5EF4-FFF2-40B4-BE49-F238E27FC236}">
                <a16:creationId xmlns:a16="http://schemas.microsoft.com/office/drawing/2014/main" id="{83C60A2D-A012-B122-713C-03D733E14D3A}"/>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11" name="Rectangle 10">
            <a:extLst>
              <a:ext uri="{FF2B5EF4-FFF2-40B4-BE49-F238E27FC236}">
                <a16:creationId xmlns:a16="http://schemas.microsoft.com/office/drawing/2014/main" id="{324E6F62-D6F5-F34E-654A-C7524834FD3D}"/>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4527765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61A3015B-3D3E-4A92-B511-BE5C61CC562B}"/>
              </a:ext>
            </a:extLst>
          </p:cNvPr>
          <p:cNvSpPr>
            <a:spLocks noGrp="1"/>
          </p:cNvSpPr>
          <p:nvPr/>
        </p:nvSpPr>
        <p:spPr>
          <a:xfrm>
            <a:off x="609600" y="247650"/>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Your saved practice kit</a:t>
            </a:r>
          </a:p>
        </p:txBody>
      </p:sp>
      <p:sp>
        <p:nvSpPr>
          <p:cNvPr id="2" name="line-0">
            <a:extLst>
              <a:ext uri="{FF2B5EF4-FFF2-40B4-BE49-F238E27FC236}">
                <a16:creationId xmlns:a16="http://schemas.microsoft.com/office/drawing/2014/main" id="{05AEA88A-33FE-4C59-892B-46B921634573}"/>
              </a:ext>
            </a:extLst>
          </p:cNvPr>
          <p:cNvSpPr>
            <a:spLocks noGrp="1"/>
          </p:cNvSpPr>
          <p:nvPr/>
        </p:nvSpPr>
        <p:spPr>
          <a:xfrm>
            <a:off x="685800" y="1809750"/>
            <a:ext cx="10572750" cy="752475"/>
          </a:xfrm>
          <a:prstGeom prst="rect">
            <a:avLst/>
          </a:prstGeom>
          <a:noFill/>
          <a:ln w="0">
            <a:noFill/>
          </a:ln>
        </p:spPr>
        <p:txBody>
          <a:bodyPr>
            <a:noAutofit/>
          </a:bodyPr>
          <a:lstStyle/>
          <a:p>
            <a:pPr>
              <a:buNone/>
              <a:defRPr sz="2475" b="1">
                <a:solidFill>
                  <a:srgbClr val="172D3B"/>
                </a:solidFill>
                <a:latin typeface="Arial"/>
                <a:ea typeface="Arial"/>
                <a:cs typeface="Arial"/>
              </a:defRPr>
            </a:pPr>
            <a:r>
              <a:rPr sz="2475" b="1">
                <a:solidFill>
                  <a:srgbClr val="172D3B"/>
                </a:solidFill>
                <a:latin typeface="Arial"/>
                <a:ea typeface="Arial"/>
                <a:cs typeface="Arial"/>
              </a:rPr>
              <a:t>Save your changed notebook</a:t>
            </a:r>
          </a:p>
        </p:txBody>
      </p:sp>
      <p:sp>
        <p:nvSpPr>
          <p:cNvPr id="3" name="line-1">
            <a:extLst>
              <a:ext uri="{FF2B5EF4-FFF2-40B4-BE49-F238E27FC236}">
                <a16:creationId xmlns:a16="http://schemas.microsoft.com/office/drawing/2014/main" id="{5067A77E-5BCB-42FB-902F-C8AE98261E4D}"/>
              </a:ext>
            </a:extLst>
          </p:cNvPr>
          <p:cNvSpPr>
            <a:spLocks noGrp="1"/>
          </p:cNvSpPr>
          <p:nvPr/>
        </p:nvSpPr>
        <p:spPr>
          <a:xfrm>
            <a:off x="685800" y="262890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Restore live switches in the source to False</a:t>
            </a:r>
          </a:p>
        </p:txBody>
      </p:sp>
      <p:sp>
        <p:nvSpPr>
          <p:cNvPr id="4" name="line-2">
            <a:extLst>
              <a:ext uri="{FF2B5EF4-FFF2-40B4-BE49-F238E27FC236}">
                <a16:creationId xmlns:a16="http://schemas.microsoft.com/office/drawing/2014/main" id="{406241EC-8944-42BF-95AF-17E7EA48348C}"/>
              </a:ext>
            </a:extLst>
          </p:cNvPr>
          <p:cNvSpPr>
            <a:spLocks noGrp="1"/>
          </p:cNvSpPr>
          <p:nvPr/>
        </p:nvSpPr>
        <p:spPr>
          <a:xfrm>
            <a:off x="685800" y="344805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Close the client and clear outputs before sharing</a:t>
            </a:r>
          </a:p>
        </p:txBody>
      </p:sp>
      <p:sp>
        <p:nvSpPr>
          <p:cNvPr id="5" name="line-3">
            <a:extLst>
              <a:ext uri="{FF2B5EF4-FFF2-40B4-BE49-F238E27FC236}">
                <a16:creationId xmlns:a16="http://schemas.microsoft.com/office/drawing/2014/main" id="{35233E54-C3DC-4B6B-99FF-F2F5AF63A81C}"/>
              </a:ext>
            </a:extLst>
          </p:cNvPr>
          <p:cNvSpPr>
            <a:spLocks noGrp="1"/>
          </p:cNvSpPr>
          <p:nvPr/>
        </p:nvSpPr>
        <p:spPr>
          <a:xfrm>
            <a:off x="685800" y="426720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Keep the setup guide and sources</a:t>
            </a:r>
          </a:p>
        </p:txBody>
      </p:sp>
      <p:sp>
        <p:nvSpPr>
          <p:cNvPr id="6" name="bottom-note">
            <a:extLst>
              <a:ext uri="{FF2B5EF4-FFF2-40B4-BE49-F238E27FC236}">
                <a16:creationId xmlns:a16="http://schemas.microsoft.com/office/drawing/2014/main" id="{66713003-0B1B-4452-8FCB-9D1A2C31C08A}"/>
              </a:ext>
            </a:extLst>
          </p:cNvPr>
          <p:cNvSpPr>
            <a:spLocks noGrp="1"/>
          </p:cNvSpPr>
          <p:nvPr/>
        </p:nvSpPr>
        <p:spPr>
          <a:xfrm>
            <a:off x="562794" y="5724525"/>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dirty="0">
                <a:solidFill>
                  <a:srgbClr val="006D77"/>
                </a:solidFill>
                <a:latin typeface="Arial"/>
                <a:ea typeface="Arial"/>
                <a:cs typeface="Arial"/>
              </a:rPr>
              <a:t>Optional note export creates a new local file without overwriting.</a:t>
            </a:r>
          </a:p>
        </p:txBody>
      </p:sp>
      <p:sp>
        <p:nvSpPr>
          <p:cNvPr id="7" name="footer">
            <a:extLst>
              <a:ext uri="{FF2B5EF4-FFF2-40B4-BE49-F238E27FC236}">
                <a16:creationId xmlns:a16="http://schemas.microsoft.com/office/drawing/2014/main" id="{92587593-B945-418F-9B21-9EAD55925EA4}"/>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29</a:t>
            </a:r>
          </a:p>
        </p:txBody>
      </p:sp>
      <p:sp>
        <p:nvSpPr>
          <p:cNvPr id="10" name="Rectangle 9">
            <a:extLst>
              <a:ext uri="{FF2B5EF4-FFF2-40B4-BE49-F238E27FC236}">
                <a16:creationId xmlns:a16="http://schemas.microsoft.com/office/drawing/2014/main" id="{3B4086BA-5A48-D5EA-8688-7C0364F84638}"/>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12" name="Rectangle 11">
            <a:extLst>
              <a:ext uri="{FF2B5EF4-FFF2-40B4-BE49-F238E27FC236}">
                <a16:creationId xmlns:a16="http://schemas.microsoft.com/office/drawing/2014/main" id="{71614D89-17A1-1F9E-DD31-B6163453D87C}"/>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19158173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9966E26-5398-432F-BCF8-97576ED4AC14}"/>
              </a:ext>
            </a:extLst>
          </p:cNvPr>
          <p:cNvSpPr>
            <a:spLocks noGrp="1"/>
          </p:cNvSpPr>
          <p:nvPr/>
        </p:nvSpPr>
        <p:spPr>
          <a:xfrm>
            <a:off x="651570" y="247650"/>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Sources for the core ideas</a:t>
            </a:r>
          </a:p>
        </p:txBody>
      </p:sp>
      <p:sp>
        <p:nvSpPr>
          <p:cNvPr id="2" name="line-0">
            <a:extLst>
              <a:ext uri="{FF2B5EF4-FFF2-40B4-BE49-F238E27FC236}">
                <a16:creationId xmlns:a16="http://schemas.microsoft.com/office/drawing/2014/main" id="{7A39C6C1-BFDC-466D-A251-9D15B12653EE}"/>
              </a:ext>
            </a:extLst>
          </p:cNvPr>
          <p:cNvSpPr>
            <a:spLocks noGrp="1"/>
          </p:cNvSpPr>
          <p:nvPr/>
        </p:nvSpPr>
        <p:spPr>
          <a:xfrm>
            <a:off x="685800" y="1809750"/>
            <a:ext cx="10572750" cy="752475"/>
          </a:xfrm>
          <a:prstGeom prst="rect">
            <a:avLst/>
          </a:prstGeom>
          <a:noFill/>
          <a:ln w="0">
            <a:noFill/>
          </a:ln>
        </p:spPr>
        <p:txBody>
          <a:bodyPr>
            <a:noAutofit/>
          </a:bodyPr>
          <a:lstStyle/>
          <a:p>
            <a:pPr>
              <a:buNone/>
              <a:defRPr sz="2475" b="1">
                <a:solidFill>
                  <a:srgbClr val="172D3B"/>
                </a:solidFill>
                <a:latin typeface="Arial"/>
                <a:ea typeface="Arial"/>
                <a:cs typeface="Arial"/>
              </a:defRPr>
            </a:pPr>
            <a:r>
              <a:rPr sz="2475" b="1">
                <a:solidFill>
                  <a:srgbClr val="172D3B"/>
                </a:solidFill>
                <a:latin typeface="Arial"/>
                <a:ea typeface="Arial"/>
                <a:cs typeface="Arial"/>
              </a:rPr>
              <a:t>Original papers: Transformer, RAG and ReAct</a:t>
            </a:r>
          </a:p>
        </p:txBody>
      </p:sp>
      <p:sp>
        <p:nvSpPr>
          <p:cNvPr id="3" name="line-1">
            <a:extLst>
              <a:ext uri="{FF2B5EF4-FFF2-40B4-BE49-F238E27FC236}">
                <a16:creationId xmlns:a16="http://schemas.microsoft.com/office/drawing/2014/main" id="{876281CC-BD59-4FF3-B4D6-54358CBE9C36}"/>
              </a:ext>
            </a:extLst>
          </p:cNvPr>
          <p:cNvSpPr>
            <a:spLocks noGrp="1"/>
          </p:cNvSpPr>
          <p:nvPr/>
        </p:nvSpPr>
        <p:spPr>
          <a:xfrm>
            <a:off x="685800" y="262890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Google: model concepts and Gemini API documentation</a:t>
            </a:r>
          </a:p>
        </p:txBody>
      </p:sp>
      <p:sp>
        <p:nvSpPr>
          <p:cNvPr id="4" name="line-2">
            <a:extLst>
              <a:ext uri="{FF2B5EF4-FFF2-40B4-BE49-F238E27FC236}">
                <a16:creationId xmlns:a16="http://schemas.microsoft.com/office/drawing/2014/main" id="{444D0D60-16CB-4B9D-B3AE-FF7082B1FE35}"/>
              </a:ext>
            </a:extLst>
          </p:cNvPr>
          <p:cNvSpPr>
            <a:spLocks noGrp="1"/>
          </p:cNvSpPr>
          <p:nvPr/>
        </p:nvSpPr>
        <p:spPr>
          <a:xfrm>
            <a:off x="685800" y="344805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NIST and OWASP: factual, privacy and security risks</a:t>
            </a:r>
          </a:p>
        </p:txBody>
      </p:sp>
      <p:sp>
        <p:nvSpPr>
          <p:cNvPr id="5" name="line-3">
            <a:extLst>
              <a:ext uri="{FF2B5EF4-FFF2-40B4-BE49-F238E27FC236}">
                <a16:creationId xmlns:a16="http://schemas.microsoft.com/office/drawing/2014/main" id="{C836C2C0-D7DD-4C47-8A29-D04A040188BE}"/>
              </a:ext>
            </a:extLst>
          </p:cNvPr>
          <p:cNvSpPr>
            <a:spLocks noGrp="1"/>
          </p:cNvSpPr>
          <p:nvPr/>
        </p:nvSpPr>
        <p:spPr>
          <a:xfrm>
            <a:off x="685800" y="426720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Sources include dates, scope and teaching limitations</a:t>
            </a:r>
          </a:p>
        </p:txBody>
      </p:sp>
      <p:sp>
        <p:nvSpPr>
          <p:cNvPr id="6" name="bottom-note">
            <a:extLst>
              <a:ext uri="{FF2B5EF4-FFF2-40B4-BE49-F238E27FC236}">
                <a16:creationId xmlns:a16="http://schemas.microsoft.com/office/drawing/2014/main" id="{106614B8-9497-43DC-BE33-F18B80C7621B}"/>
              </a:ext>
            </a:extLst>
          </p:cNvPr>
          <p:cNvSpPr>
            <a:spLocks noGrp="1"/>
          </p:cNvSpPr>
          <p:nvPr/>
        </p:nvSpPr>
        <p:spPr>
          <a:xfrm>
            <a:off x="609600" y="5733256"/>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dirty="0">
                <a:solidFill>
                  <a:srgbClr val="006D77"/>
                </a:solidFill>
                <a:latin typeface="Arial"/>
                <a:ea typeface="Arial"/>
                <a:cs typeface="Arial"/>
              </a:rPr>
              <a:t>Reading packs: THEORY_READING_EN.md and SOURCES_AND_FURTHER_READING_EN.md</a:t>
            </a:r>
          </a:p>
        </p:txBody>
      </p:sp>
      <p:sp>
        <p:nvSpPr>
          <p:cNvPr id="7" name="footer">
            <a:extLst>
              <a:ext uri="{FF2B5EF4-FFF2-40B4-BE49-F238E27FC236}">
                <a16:creationId xmlns:a16="http://schemas.microsoft.com/office/drawing/2014/main" id="{A943B85E-93E2-4B22-98EC-11396F0FAABC}"/>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30</a:t>
            </a:r>
          </a:p>
        </p:txBody>
      </p:sp>
      <p:sp>
        <p:nvSpPr>
          <p:cNvPr id="10" name="Rectangle 9">
            <a:extLst>
              <a:ext uri="{FF2B5EF4-FFF2-40B4-BE49-F238E27FC236}">
                <a16:creationId xmlns:a16="http://schemas.microsoft.com/office/drawing/2014/main" id="{1B70033E-6D84-3559-8ACE-8CA6BAA68BD7}"/>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12" name="Rectangle 11">
            <a:extLst>
              <a:ext uri="{FF2B5EF4-FFF2-40B4-BE49-F238E27FC236}">
                <a16:creationId xmlns:a16="http://schemas.microsoft.com/office/drawing/2014/main" id="{9E28DF0F-9A75-C6AE-6BFE-9E48E191A593}"/>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18652631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88495D36-5FD1-45B8-907A-7DB5E7C07AF4}"/>
              </a:ext>
            </a:extLst>
          </p:cNvPr>
          <p:cNvSpPr>
            <a:spLocks noGrp="1"/>
          </p:cNvSpPr>
          <p:nvPr/>
        </p:nvSpPr>
        <p:spPr>
          <a:xfrm>
            <a:off x="561975" y="247650"/>
            <a:ext cx="10820400" cy="933450"/>
          </a:xfrm>
          <a:prstGeom prst="rect">
            <a:avLst/>
          </a:prstGeom>
          <a:noFill/>
          <a:ln w="0">
            <a:noFill/>
          </a:ln>
        </p:spPr>
        <p:txBody>
          <a:bodyPr>
            <a:noAutofit/>
          </a:bodyPr>
          <a:lstStyle/>
          <a:p>
            <a:pPr>
              <a:buNone/>
              <a:defRPr sz="3600" b="1">
                <a:solidFill>
                  <a:srgbClr val="172D3B"/>
                </a:solidFill>
                <a:latin typeface="Arial"/>
                <a:ea typeface="Arial"/>
                <a:cs typeface="Arial"/>
              </a:defRPr>
            </a:pPr>
            <a:r>
              <a:rPr sz="3600" b="1" dirty="0">
                <a:solidFill>
                  <a:srgbClr val="172D3B"/>
                </a:solidFill>
                <a:latin typeface="Arial"/>
                <a:ea typeface="Arial"/>
                <a:cs typeface="Arial"/>
              </a:rPr>
              <a:t>Further development</a:t>
            </a:r>
          </a:p>
        </p:txBody>
      </p:sp>
      <p:sp>
        <p:nvSpPr>
          <p:cNvPr id="2" name="line-0">
            <a:extLst>
              <a:ext uri="{FF2B5EF4-FFF2-40B4-BE49-F238E27FC236}">
                <a16:creationId xmlns:a16="http://schemas.microsoft.com/office/drawing/2014/main" id="{CBBCBFE5-DB63-4BE2-B8B5-49640E09060F}"/>
              </a:ext>
            </a:extLst>
          </p:cNvPr>
          <p:cNvSpPr>
            <a:spLocks noGrp="1"/>
          </p:cNvSpPr>
          <p:nvPr/>
        </p:nvSpPr>
        <p:spPr>
          <a:xfrm>
            <a:off x="685800" y="1809750"/>
            <a:ext cx="10572750" cy="752475"/>
          </a:xfrm>
          <a:prstGeom prst="rect">
            <a:avLst/>
          </a:prstGeom>
          <a:noFill/>
          <a:ln w="0">
            <a:noFill/>
          </a:ln>
        </p:spPr>
        <p:txBody>
          <a:bodyPr>
            <a:noAutofit/>
          </a:bodyPr>
          <a:lstStyle/>
          <a:p>
            <a:pPr>
              <a:buNone/>
              <a:defRPr sz="2475" b="1">
                <a:solidFill>
                  <a:srgbClr val="172D3B"/>
                </a:solidFill>
                <a:latin typeface="Arial"/>
                <a:ea typeface="Arial"/>
                <a:cs typeface="Arial"/>
              </a:defRPr>
            </a:pPr>
            <a:r>
              <a:rPr sz="2475" b="1">
                <a:solidFill>
                  <a:srgbClr val="172D3B"/>
                </a:solidFill>
                <a:latin typeface="Arial"/>
                <a:ea typeface="Arial"/>
                <a:cs typeface="Arial"/>
              </a:rPr>
              <a:t>A new fictional role and matching tests</a:t>
            </a:r>
          </a:p>
        </p:txBody>
      </p:sp>
      <p:sp>
        <p:nvSpPr>
          <p:cNvPr id="3" name="line-1">
            <a:extLst>
              <a:ext uri="{FF2B5EF4-FFF2-40B4-BE49-F238E27FC236}">
                <a16:creationId xmlns:a16="http://schemas.microsoft.com/office/drawing/2014/main" id="{A0712CBB-5F77-4176-99C4-3B4ECB979E18}"/>
              </a:ext>
            </a:extLst>
          </p:cNvPr>
          <p:cNvSpPr>
            <a:spLocks noGrp="1"/>
          </p:cNvSpPr>
          <p:nvPr/>
        </p:nvSpPr>
        <p:spPr>
          <a:xfrm>
            <a:off x="685800" y="262890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A separate skill recipe with clear success criteria</a:t>
            </a:r>
          </a:p>
        </p:txBody>
      </p:sp>
      <p:sp>
        <p:nvSpPr>
          <p:cNvPr id="4" name="line-2">
            <a:extLst>
              <a:ext uri="{FF2B5EF4-FFF2-40B4-BE49-F238E27FC236}">
                <a16:creationId xmlns:a16="http://schemas.microsoft.com/office/drawing/2014/main" id="{784FF068-E721-4789-90B8-3013197EA481}"/>
              </a:ext>
            </a:extLst>
          </p:cNvPr>
          <p:cNvSpPr>
            <a:spLocks noGrp="1"/>
          </p:cNvSpPr>
          <p:nvPr/>
        </p:nvSpPr>
        <p:spPr>
          <a:xfrm>
            <a:off x="685800" y="344805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A reviewed data source with limited permissions</a:t>
            </a:r>
          </a:p>
        </p:txBody>
      </p:sp>
      <p:sp>
        <p:nvSpPr>
          <p:cNvPr id="5" name="line-3">
            <a:extLst>
              <a:ext uri="{FF2B5EF4-FFF2-40B4-BE49-F238E27FC236}">
                <a16:creationId xmlns:a16="http://schemas.microsoft.com/office/drawing/2014/main" id="{291FD5DB-278C-4A11-8B2D-715407E0E987}"/>
              </a:ext>
            </a:extLst>
          </p:cNvPr>
          <p:cNvSpPr>
            <a:spLocks noGrp="1"/>
          </p:cNvSpPr>
          <p:nvPr/>
        </p:nvSpPr>
        <p:spPr>
          <a:xfrm>
            <a:off x="685800" y="4267200"/>
            <a:ext cx="10572750" cy="752475"/>
          </a:xfrm>
          <a:prstGeom prst="rect">
            <a:avLst/>
          </a:prstGeom>
          <a:noFill/>
          <a:ln w="0">
            <a:noFill/>
          </a:ln>
        </p:spPr>
        <p:txBody>
          <a:bodyPr>
            <a:noAutofit/>
          </a:bodyPr>
          <a:lstStyle/>
          <a:p>
            <a:pPr>
              <a:buNone/>
              <a:defRPr sz="2475" b="0">
                <a:solidFill>
                  <a:srgbClr val="172D3B"/>
                </a:solidFill>
                <a:latin typeface="Arial"/>
                <a:ea typeface="Arial"/>
                <a:cs typeface="Arial"/>
              </a:defRPr>
            </a:pPr>
            <a:r>
              <a:rPr sz="2475" b="0">
                <a:solidFill>
                  <a:srgbClr val="172D3B"/>
                </a:solidFill>
                <a:latin typeface="Arial"/>
                <a:ea typeface="Arial"/>
                <a:cs typeface="Arial"/>
              </a:rPr>
              <a:t>Deployment only after access, privacy and terms checks</a:t>
            </a:r>
          </a:p>
        </p:txBody>
      </p:sp>
      <p:sp>
        <p:nvSpPr>
          <p:cNvPr id="6" name="bottom-note">
            <a:extLst>
              <a:ext uri="{FF2B5EF4-FFF2-40B4-BE49-F238E27FC236}">
                <a16:creationId xmlns:a16="http://schemas.microsoft.com/office/drawing/2014/main" id="{B2C08477-2457-474C-957E-373A761B1760}"/>
              </a:ext>
            </a:extLst>
          </p:cNvPr>
          <p:cNvSpPr>
            <a:spLocks noGrp="1"/>
          </p:cNvSpPr>
          <p:nvPr/>
        </p:nvSpPr>
        <p:spPr>
          <a:xfrm>
            <a:off x="609600" y="5733256"/>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sz="1875" b="0" dirty="0">
                <a:solidFill>
                  <a:srgbClr val="006D77"/>
                </a:solidFill>
                <a:latin typeface="Arial"/>
                <a:ea typeface="Arial"/>
                <a:cs typeface="Arial"/>
              </a:rPr>
              <a:t>Free development access does not automatically authorize a shared service.</a:t>
            </a:r>
          </a:p>
        </p:txBody>
      </p:sp>
      <p:sp>
        <p:nvSpPr>
          <p:cNvPr id="7" name="footer">
            <a:extLst>
              <a:ext uri="{FF2B5EF4-FFF2-40B4-BE49-F238E27FC236}">
                <a16:creationId xmlns:a16="http://schemas.microsoft.com/office/drawing/2014/main" id="{848A8780-9186-436F-8647-132402C1D585}"/>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31</a:t>
            </a:r>
          </a:p>
        </p:txBody>
      </p:sp>
      <p:sp>
        <p:nvSpPr>
          <p:cNvPr id="10" name="Rectangle 9">
            <a:extLst>
              <a:ext uri="{FF2B5EF4-FFF2-40B4-BE49-F238E27FC236}">
                <a16:creationId xmlns:a16="http://schemas.microsoft.com/office/drawing/2014/main" id="{24F0E97A-08F2-C118-DCF4-45FF789473C9}"/>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12" name="Rectangle 11">
            <a:extLst>
              <a:ext uri="{FF2B5EF4-FFF2-40B4-BE49-F238E27FC236}">
                <a16:creationId xmlns:a16="http://schemas.microsoft.com/office/drawing/2014/main" id="{64DF4DF9-F1B6-6038-866A-BE7EFAA30575}"/>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Tree>
    <p:extLst>
      <p:ext uri="{BB962C8B-B14F-4D97-AF65-F5344CB8AC3E}">
        <p14:creationId xmlns:p14="http://schemas.microsoft.com/office/powerpoint/2010/main" val="7677579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5310D-B0AE-9241-317B-058B24F35F28}"/>
            </a:ext>
          </a:extLst>
        </p:cNvPr>
        <p:cNvGrpSpPr/>
        <p:nvPr/>
      </p:nvGrpSpPr>
      <p:grpSpPr>
        <a:xfrm>
          <a:off x="0" y="0"/>
          <a:ext cx="0" cy="0"/>
          <a:chOff x="0" y="0"/>
          <a:chExt cx="0" cy="0"/>
        </a:xfrm>
      </p:grpSpPr>
      <p:sp>
        <p:nvSpPr>
          <p:cNvPr id="7" name="footer">
            <a:extLst>
              <a:ext uri="{FF2B5EF4-FFF2-40B4-BE49-F238E27FC236}">
                <a16:creationId xmlns:a16="http://schemas.microsoft.com/office/drawing/2014/main" id="{1A4B4B48-1096-F8C3-E35A-F1F7B17716A4}"/>
              </a:ext>
            </a:extLst>
          </p:cNvPr>
          <p:cNvSpPr>
            <a:spLocks noGrp="1"/>
          </p:cNvSpPr>
          <p:nvPr/>
        </p:nvSpPr>
        <p:spPr>
          <a:xfrm>
            <a:off x="11049000" y="6381750"/>
            <a:ext cx="457200" cy="304800"/>
          </a:xfrm>
          <a:prstGeom prst="rect">
            <a:avLst/>
          </a:prstGeom>
          <a:noFill/>
          <a:ln w="0">
            <a:noFill/>
          </a:ln>
        </p:spPr>
        <p:txBody>
          <a:bodyPr>
            <a:noAutofit/>
          </a:bodyPr>
          <a:lstStyle/>
          <a:p>
            <a:pPr>
              <a:buNone/>
              <a:defRPr sz="1575" b="0">
                <a:solidFill>
                  <a:srgbClr val="4B626B"/>
                </a:solidFill>
                <a:latin typeface="Arial"/>
                <a:ea typeface="Arial"/>
                <a:cs typeface="Arial"/>
              </a:defRPr>
            </a:pPr>
            <a:r>
              <a:rPr sz="1575" b="0">
                <a:solidFill>
                  <a:srgbClr val="4B626B"/>
                </a:solidFill>
                <a:latin typeface="Arial"/>
                <a:ea typeface="Arial"/>
                <a:cs typeface="Arial"/>
              </a:rPr>
              <a:t>31</a:t>
            </a:r>
          </a:p>
        </p:txBody>
      </p:sp>
      <p:sp>
        <p:nvSpPr>
          <p:cNvPr id="9" name="Text 2">
            <a:extLst>
              <a:ext uri="{FF2B5EF4-FFF2-40B4-BE49-F238E27FC236}">
                <a16:creationId xmlns:a16="http://schemas.microsoft.com/office/drawing/2014/main" id="{2478D884-3A73-AE2E-4795-80AE2AC92439}"/>
              </a:ext>
            </a:extLst>
          </p:cNvPr>
          <p:cNvSpPr>
            <a:spLocks noGrp="1"/>
          </p:cNvSpPr>
          <p:nvPr/>
        </p:nvSpPr>
        <p:spPr>
          <a:xfrm>
            <a:off x="581674" y="344136"/>
            <a:ext cx="9618782" cy="411480"/>
          </a:xfrm>
          <a:prstGeom prst="rect">
            <a:avLst/>
          </a:prstGeom>
          <a:noFill/>
          <a:ln>
            <a:noFill/>
            <a:prstDash/>
          </a:ln>
          <a:effectLst/>
        </p:spPr>
        <p:txBody>
          <a:bodyPr rot="0" spcFirstLastPara="0" vert="horz" wrap="square" lIns="0" tIns="0" rIns="0" bIns="0" numCol="1" spcCol="0" rtlCol="0" fromWordArt="0" anchor="ctr" anchorCtr="0" forceAA="0" compatLnSpc="1">
            <a:prstTxWarp prst="textNoShape">
              <a:avLst/>
            </a:prstTxWarp>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3600" b="1" i="0" u="none" strike="noStrike" kern="1200" cap="none" spc="0" normalizeH="0" baseline="0" noProof="0" dirty="0">
                <a:ln>
                  <a:noFill/>
                </a:ln>
                <a:solidFill>
                  <a:srgbClr val="1F242B"/>
                </a:solidFill>
                <a:effectLst/>
                <a:uLnTx/>
                <a:uFillTx/>
                <a:latin typeface="Arial" panose="020B0604020202020204" pitchFamily="34" charset="0"/>
                <a:ea typeface="+mn-ea"/>
                <a:cs typeface="Arial" panose="020B0604020202020204" pitchFamily="34" charset="0"/>
              </a:rPr>
              <a:t>Thank you for your attention</a:t>
            </a:r>
            <a:r>
              <a:rPr lang="pl-PL" sz="3600" b="1" dirty="0">
                <a:solidFill>
                  <a:srgbClr val="1F242B"/>
                </a:solidFill>
                <a:latin typeface="Arial" panose="020B0604020202020204" pitchFamily="34" charset="0"/>
                <a:ea typeface="+mn-ea"/>
                <a:cs typeface="Arial" panose="020B0604020202020204" pitchFamily="34" charset="0"/>
              </a:rPr>
              <a:t>!</a:t>
            </a:r>
            <a:endParaRPr lang="en-US" sz="3600" b="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endParaRPr>
          </a:p>
        </p:txBody>
      </p:sp>
      <p:grpSp>
        <p:nvGrpSpPr>
          <p:cNvPr id="15" name="Group 14">
            <a:extLst>
              <a:ext uri="{FF2B5EF4-FFF2-40B4-BE49-F238E27FC236}">
                <a16:creationId xmlns:a16="http://schemas.microsoft.com/office/drawing/2014/main" id="{217A69F0-3D41-054C-499C-761FAF6A1D06}"/>
              </a:ext>
            </a:extLst>
          </p:cNvPr>
          <p:cNvGrpSpPr/>
          <p:nvPr/>
        </p:nvGrpSpPr>
        <p:grpSpPr>
          <a:xfrm>
            <a:off x="3935760" y="2260971"/>
            <a:ext cx="3785617" cy="2176141"/>
            <a:chOff x="6446253" y="1626111"/>
            <a:chExt cx="4753592" cy="2788439"/>
          </a:xfrm>
        </p:grpSpPr>
        <p:sp>
          <p:nvSpPr>
            <p:cNvPr id="24" name="Text 8">
              <a:extLst>
                <a:ext uri="{FF2B5EF4-FFF2-40B4-BE49-F238E27FC236}">
                  <a16:creationId xmlns:a16="http://schemas.microsoft.com/office/drawing/2014/main" id="{29E675F7-1FE6-773D-F5E9-D50A4811CD2C}"/>
                </a:ext>
              </a:extLst>
            </p:cNvPr>
            <p:cNvSpPr/>
            <p:nvPr/>
          </p:nvSpPr>
          <p:spPr>
            <a:xfrm>
              <a:off x="8548085" y="2189070"/>
              <a:ext cx="2651760" cy="43891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l-PL" sz="1250" dirty="0">
                  <a:solidFill>
                    <a:srgbClr val="5B6573"/>
                  </a:solidFill>
                  <a:latin typeface="Univers Next for HSBC Light" panose="020B0403030202020203" pitchFamily="34" charset="0"/>
                </a:rPr>
                <a:t>Java Software Developer</a:t>
              </a:r>
              <a:endParaRPr lang="en-US" sz="1250" dirty="0">
                <a:solidFill>
                  <a:srgbClr val="5B6573"/>
                </a:solidFill>
                <a:latin typeface="Univers Next for HSBC Light" panose="020B0403030202020203" pitchFamily="34" charset="0"/>
              </a:endParaRPr>
            </a:p>
            <a:p>
              <a:pPr marL="0" indent="0">
                <a:buNone/>
              </a:pPr>
              <a:r>
                <a:rPr lang="en-US" sz="1250" dirty="0">
                  <a:solidFill>
                    <a:srgbClr val="5B6573"/>
                  </a:solidFill>
                  <a:latin typeface="Univers Next for HSBC Light" panose="020B0403030202020203" pitchFamily="34" charset="0"/>
                </a:rPr>
                <a:t>HSBC Graduate </a:t>
              </a:r>
              <a:r>
                <a:rPr lang="en-US" sz="1250" dirty="0" err="1">
                  <a:solidFill>
                    <a:srgbClr val="5B6573"/>
                  </a:solidFill>
                  <a:latin typeface="Univers Next for HSBC Light" panose="020B0403030202020203" pitchFamily="34" charset="0"/>
                </a:rPr>
                <a:t>Programme</a:t>
              </a:r>
              <a:endParaRPr lang="en-US" sz="1250" dirty="0">
                <a:latin typeface="Univers Next for HSBC Light" panose="020B0403030202020203" pitchFamily="34" charset="0"/>
              </a:endParaRPr>
            </a:p>
          </p:txBody>
        </p:sp>
        <p:grpSp>
          <p:nvGrpSpPr>
            <p:cNvPr id="25" name="Group 24">
              <a:extLst>
                <a:ext uri="{FF2B5EF4-FFF2-40B4-BE49-F238E27FC236}">
                  <a16:creationId xmlns:a16="http://schemas.microsoft.com/office/drawing/2014/main" id="{BB84EF1E-73EB-5CB2-AE02-1A8E32A6AB87}"/>
                </a:ext>
              </a:extLst>
            </p:cNvPr>
            <p:cNvGrpSpPr/>
            <p:nvPr/>
          </p:nvGrpSpPr>
          <p:grpSpPr>
            <a:xfrm>
              <a:off x="6446253" y="1626111"/>
              <a:ext cx="4662152" cy="2788439"/>
              <a:chOff x="6446253" y="1626111"/>
              <a:chExt cx="4662152" cy="2788439"/>
            </a:xfrm>
          </p:grpSpPr>
          <p:sp>
            <p:nvSpPr>
              <p:cNvPr id="26" name="Text 7">
                <a:extLst>
                  <a:ext uri="{FF2B5EF4-FFF2-40B4-BE49-F238E27FC236}">
                    <a16:creationId xmlns:a16="http://schemas.microsoft.com/office/drawing/2014/main" id="{A2CDEF77-F484-3F52-2C57-AFB8FFA0ADAE}"/>
                  </a:ext>
                </a:extLst>
              </p:cNvPr>
              <p:cNvSpPr/>
              <p:nvPr/>
            </p:nvSpPr>
            <p:spPr>
              <a:xfrm>
                <a:off x="8548085" y="1782162"/>
                <a:ext cx="2560320" cy="21945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800" b="1" dirty="0">
                    <a:solidFill>
                      <a:srgbClr val="1F242B"/>
                    </a:solidFill>
                    <a:latin typeface="Univers Next for HSBC Light" panose="020B0403030202020203" pitchFamily="34" charset="0"/>
                  </a:rPr>
                  <a:t>Justyna </a:t>
                </a:r>
                <a:r>
                  <a:rPr lang="en-US" sz="1800" b="1" dirty="0" err="1">
                    <a:solidFill>
                      <a:srgbClr val="1F242B"/>
                    </a:solidFill>
                    <a:latin typeface="Univers Next for HSBC Light" panose="020B0403030202020203" pitchFamily="34" charset="0"/>
                  </a:rPr>
                  <a:t>Gajdek</a:t>
                </a:r>
                <a:endParaRPr lang="en-US" sz="1800" dirty="0">
                  <a:latin typeface="Univers Next for HSBC Light" panose="020B0403030202020203" pitchFamily="34" charset="0"/>
                </a:endParaRPr>
              </a:p>
            </p:txBody>
          </p:sp>
          <p:pic>
            <p:nvPicPr>
              <p:cNvPr id="27" name="Picture 26" descr="A qr code with a white background&#10;&#10;AI-generated content may be incorrect.">
                <a:extLst>
                  <a:ext uri="{FF2B5EF4-FFF2-40B4-BE49-F238E27FC236}">
                    <a16:creationId xmlns:a16="http://schemas.microsoft.com/office/drawing/2014/main" id="{61B71EC1-F24C-658D-A2B5-94770E6BD933}"/>
                  </a:ext>
                </a:extLst>
              </p:cNvPr>
              <p:cNvPicPr>
                <a:picLocks noChangeAspect="1"/>
              </p:cNvPicPr>
              <p:nvPr/>
            </p:nvPicPr>
            <p:blipFill>
              <a:blip r:embed="rId3"/>
              <a:stretch>
                <a:fillRect/>
              </a:stretch>
            </p:blipFill>
            <p:spPr>
              <a:xfrm>
                <a:off x="8395989" y="2627982"/>
                <a:ext cx="1786568" cy="1786568"/>
              </a:xfrm>
              <a:prstGeom prst="rect">
                <a:avLst/>
              </a:prstGeom>
            </p:spPr>
          </p:pic>
          <p:pic>
            <p:nvPicPr>
              <p:cNvPr id="28" name="Picture 27" descr="A person with brown hair and a green shirt&#10;&#10;AI-generated content may be incorrect.">
                <a:extLst>
                  <a:ext uri="{FF2B5EF4-FFF2-40B4-BE49-F238E27FC236}">
                    <a16:creationId xmlns:a16="http://schemas.microsoft.com/office/drawing/2014/main" id="{50049AA6-185D-D167-F5D6-37445AB632DE}"/>
                  </a:ext>
                </a:extLst>
              </p:cNvPr>
              <p:cNvPicPr>
                <a:picLocks noChangeAspect="1"/>
              </p:cNvPicPr>
              <p:nvPr/>
            </p:nvPicPr>
            <p:blipFill>
              <a:blip r:embed="rId4"/>
              <a:srcRect l="10250" t="2571" r="19939" b="19860"/>
              <a:stretch>
                <a:fillRect/>
              </a:stretch>
            </p:blipFill>
            <p:spPr>
              <a:xfrm>
                <a:off x="6446253" y="1626111"/>
                <a:ext cx="1949738" cy="2601205"/>
              </a:xfrm>
              <a:prstGeom prst="rect">
                <a:avLst/>
              </a:prstGeom>
            </p:spPr>
          </p:pic>
        </p:grpSp>
      </p:grpSp>
      <p:grpSp>
        <p:nvGrpSpPr>
          <p:cNvPr id="16" name="Group 15">
            <a:extLst>
              <a:ext uri="{FF2B5EF4-FFF2-40B4-BE49-F238E27FC236}">
                <a16:creationId xmlns:a16="http://schemas.microsoft.com/office/drawing/2014/main" id="{CCF3B045-9691-51B0-69D9-1664A33B1EE2}"/>
              </a:ext>
            </a:extLst>
          </p:cNvPr>
          <p:cNvGrpSpPr/>
          <p:nvPr/>
        </p:nvGrpSpPr>
        <p:grpSpPr>
          <a:xfrm>
            <a:off x="335360" y="2295153"/>
            <a:ext cx="3931920" cy="2141959"/>
            <a:chOff x="957381" y="1626111"/>
            <a:chExt cx="4847503" cy="2601205"/>
          </a:xfrm>
        </p:grpSpPr>
        <p:sp>
          <p:nvSpPr>
            <p:cNvPr id="20" name="Text 15">
              <a:extLst>
                <a:ext uri="{FF2B5EF4-FFF2-40B4-BE49-F238E27FC236}">
                  <a16:creationId xmlns:a16="http://schemas.microsoft.com/office/drawing/2014/main" id="{1FF1E93D-7247-1126-8F0D-E14325279F13}"/>
                </a:ext>
              </a:extLst>
            </p:cNvPr>
            <p:cNvSpPr/>
            <p:nvPr/>
          </p:nvSpPr>
          <p:spPr>
            <a:xfrm>
              <a:off x="2970244" y="1802938"/>
              <a:ext cx="2834640" cy="21945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800" b="1">
                  <a:solidFill>
                    <a:srgbClr val="1F242B"/>
                  </a:solidFill>
                  <a:latin typeface="Univers Next for HSBC Light" panose="020B0403030202020203" pitchFamily="34" charset="0"/>
                </a:rPr>
                <a:t>Paulina Gajda-Walach</a:t>
              </a:r>
              <a:endParaRPr lang="en-US" sz="1800">
                <a:latin typeface="Univers Next for HSBC Light" panose="020B0403030202020203" pitchFamily="34" charset="0"/>
              </a:endParaRPr>
            </a:p>
          </p:txBody>
        </p:sp>
        <p:sp>
          <p:nvSpPr>
            <p:cNvPr id="21" name="Text 16">
              <a:extLst>
                <a:ext uri="{FF2B5EF4-FFF2-40B4-BE49-F238E27FC236}">
                  <a16:creationId xmlns:a16="http://schemas.microsoft.com/office/drawing/2014/main" id="{4C2A3A85-18BE-96CE-9CCD-DBB9861FA647}"/>
                </a:ext>
              </a:extLst>
            </p:cNvPr>
            <p:cNvSpPr/>
            <p:nvPr/>
          </p:nvSpPr>
          <p:spPr>
            <a:xfrm>
              <a:off x="2970244" y="2179491"/>
              <a:ext cx="2377440" cy="43891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a:solidFill>
                    <a:srgbClr val="5B6573"/>
                  </a:solidFill>
                  <a:latin typeface="Univers Next for HSBC Light" panose="020B0403030202020203" pitchFamily="34" charset="0"/>
                </a:rPr>
                <a:t>Java Tech Lead</a:t>
              </a:r>
              <a:endParaRPr lang="en-US" sz="1250">
                <a:latin typeface="Univers Next for HSBC Light" panose="020B0403030202020203" pitchFamily="34" charset="0"/>
              </a:endParaRPr>
            </a:p>
            <a:p>
              <a:pPr marL="0" indent="0">
                <a:buNone/>
              </a:pPr>
              <a:r>
                <a:rPr lang="en-US" sz="1250">
                  <a:solidFill>
                    <a:srgbClr val="5B6573"/>
                  </a:solidFill>
                  <a:latin typeface="Univers Next for HSBC Light" panose="020B0403030202020203" pitchFamily="34" charset="0"/>
                </a:rPr>
                <a:t>HSBC Technology</a:t>
              </a:r>
              <a:endParaRPr lang="en-US" sz="1250">
                <a:latin typeface="Univers Next for HSBC Light" panose="020B0403030202020203" pitchFamily="34" charset="0"/>
              </a:endParaRPr>
            </a:p>
          </p:txBody>
        </p:sp>
        <p:pic>
          <p:nvPicPr>
            <p:cNvPr id="22" name="Picture 21" descr="A qr code with a white background&#10;&#10;AI-generated content may be incorrect.">
              <a:extLst>
                <a:ext uri="{FF2B5EF4-FFF2-40B4-BE49-F238E27FC236}">
                  <a16:creationId xmlns:a16="http://schemas.microsoft.com/office/drawing/2014/main" id="{C68FDE3E-D2D6-F746-E3C6-1CFAFB4B7729}"/>
                </a:ext>
              </a:extLst>
            </p:cNvPr>
            <p:cNvPicPr>
              <a:picLocks noChangeAspect="1"/>
            </p:cNvPicPr>
            <p:nvPr/>
          </p:nvPicPr>
          <p:blipFill>
            <a:blip r:embed="rId5"/>
            <a:stretch>
              <a:fillRect/>
            </a:stretch>
          </p:blipFill>
          <p:spPr>
            <a:xfrm>
              <a:off x="2854111" y="2607195"/>
              <a:ext cx="1649187" cy="1620121"/>
            </a:xfrm>
            <a:prstGeom prst="rect">
              <a:avLst/>
            </a:prstGeom>
          </p:spPr>
        </p:pic>
        <p:pic>
          <p:nvPicPr>
            <p:cNvPr id="23" name="Picture 22" descr="A person with her arms crossed&#10;&#10;AI-generated content may be incorrect.">
              <a:extLst>
                <a:ext uri="{FF2B5EF4-FFF2-40B4-BE49-F238E27FC236}">
                  <a16:creationId xmlns:a16="http://schemas.microsoft.com/office/drawing/2014/main" id="{817B7AEC-A733-2A07-418E-4F54867F3BC6}"/>
                </a:ext>
              </a:extLst>
            </p:cNvPr>
            <p:cNvPicPr>
              <a:picLocks noChangeAspect="1"/>
            </p:cNvPicPr>
            <p:nvPr/>
          </p:nvPicPr>
          <p:blipFill>
            <a:blip r:embed="rId6"/>
            <a:srcRect l="26229" t="5444" r="18587" b="40655"/>
            <a:stretch>
              <a:fillRect/>
            </a:stretch>
          </p:blipFill>
          <p:spPr>
            <a:xfrm>
              <a:off x="957381" y="1626111"/>
              <a:ext cx="1892535" cy="2554095"/>
            </a:xfrm>
            <a:prstGeom prst="rect">
              <a:avLst/>
            </a:prstGeom>
          </p:spPr>
        </p:pic>
      </p:grpSp>
      <p:sp>
        <p:nvSpPr>
          <p:cNvPr id="30" name="Rectangle 29">
            <a:extLst>
              <a:ext uri="{FF2B5EF4-FFF2-40B4-BE49-F238E27FC236}">
                <a16:creationId xmlns:a16="http://schemas.microsoft.com/office/drawing/2014/main" id="{27525ADA-FFF3-D69A-B287-D9F991608A7E}"/>
              </a:ext>
            </a:extLst>
          </p:cNvPr>
          <p:cNvSpPr/>
          <p:nvPr/>
        </p:nvSpPr>
        <p:spPr>
          <a:xfrm>
            <a:off x="335360" y="151211"/>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sp>
        <p:nvSpPr>
          <p:cNvPr id="32" name="Rectangle 31">
            <a:extLst>
              <a:ext uri="{FF2B5EF4-FFF2-40B4-BE49-F238E27FC236}">
                <a16:creationId xmlns:a16="http://schemas.microsoft.com/office/drawing/2014/main" id="{9360DA77-B86F-990E-BBAE-A36434B432C0}"/>
              </a:ext>
            </a:extLst>
          </p:cNvPr>
          <p:cNvSpPr/>
          <p:nvPr/>
        </p:nvSpPr>
        <p:spPr>
          <a:xfrm>
            <a:off x="335360" y="5572125"/>
            <a:ext cx="109728" cy="768096"/>
          </a:xfrm>
          <a:prstGeom prst="rect">
            <a:avLst/>
          </a:prstGeom>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Univers Next for HSBC Light" panose="020B0403030202020203" pitchFamily="34" charset="0"/>
            </a:endParaRPr>
          </a:p>
        </p:txBody>
      </p:sp>
      <p:pic>
        <p:nvPicPr>
          <p:cNvPr id="33" name="Picture 32" descr="Zdjęcie profilowe">
            <a:extLst>
              <a:ext uri="{FF2B5EF4-FFF2-40B4-BE49-F238E27FC236}">
                <a16:creationId xmlns:a16="http://schemas.microsoft.com/office/drawing/2014/main" id="{624B5E1D-1BAF-ABE8-F3EA-FE0E51127389}"/>
              </a:ext>
            </a:extLst>
          </p:cNvPr>
          <p:cNvPicPr>
            <a:picLocks noChangeAspect="1"/>
          </p:cNvPicPr>
          <p:nvPr/>
        </p:nvPicPr>
        <p:blipFill>
          <a:blip r:embed="rId7"/>
          <a:srcRect l="5568" r="17537"/>
          <a:stretch>
            <a:fillRect/>
          </a:stretch>
        </p:blipFill>
        <p:spPr>
          <a:xfrm>
            <a:off x="7721377" y="2257116"/>
            <a:ext cx="1552710" cy="2033876"/>
          </a:xfrm>
          <a:prstGeom prst="rect">
            <a:avLst/>
          </a:prstGeom>
        </p:spPr>
      </p:pic>
      <p:sp>
        <p:nvSpPr>
          <p:cNvPr id="35" name="Text 8">
            <a:extLst>
              <a:ext uri="{FF2B5EF4-FFF2-40B4-BE49-F238E27FC236}">
                <a16:creationId xmlns:a16="http://schemas.microsoft.com/office/drawing/2014/main" id="{6A491E80-02B8-0FAD-555D-A5E414645F37}"/>
              </a:ext>
            </a:extLst>
          </p:cNvPr>
          <p:cNvSpPr/>
          <p:nvPr/>
        </p:nvSpPr>
        <p:spPr>
          <a:xfrm>
            <a:off x="9346907" y="2621472"/>
            <a:ext cx="2111782" cy="34253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l-PL" sz="1250" dirty="0">
                <a:solidFill>
                  <a:srgbClr val="5B6573"/>
                </a:solidFill>
                <a:latin typeface="Univers Next for HSBC Light" panose="020B0403030202020203" pitchFamily="34" charset="0"/>
              </a:rPr>
              <a:t>Java Software Developer</a:t>
            </a:r>
            <a:endParaRPr lang="en-US" sz="1250" dirty="0">
              <a:solidFill>
                <a:srgbClr val="5B6573"/>
              </a:solidFill>
              <a:latin typeface="Univers Next for HSBC Light" panose="020B0403030202020203" pitchFamily="34" charset="0"/>
            </a:endParaRPr>
          </a:p>
          <a:p>
            <a:pPr marL="0" indent="0">
              <a:buNone/>
            </a:pPr>
            <a:r>
              <a:rPr lang="en-US" sz="1250" dirty="0">
                <a:solidFill>
                  <a:srgbClr val="5B6573"/>
                </a:solidFill>
                <a:latin typeface="Univers Next for HSBC Light" panose="020B0403030202020203" pitchFamily="34" charset="0"/>
              </a:rPr>
              <a:t>HSBC Graduate </a:t>
            </a:r>
            <a:r>
              <a:rPr lang="en-US" sz="1250" dirty="0" err="1">
                <a:solidFill>
                  <a:srgbClr val="5B6573"/>
                </a:solidFill>
                <a:latin typeface="Univers Next for HSBC Light" panose="020B0403030202020203" pitchFamily="34" charset="0"/>
              </a:rPr>
              <a:t>Programme</a:t>
            </a:r>
            <a:endParaRPr lang="en-US" sz="1250" dirty="0">
              <a:latin typeface="Univers Next for HSBC Light" panose="020B0403030202020203" pitchFamily="34" charset="0"/>
            </a:endParaRPr>
          </a:p>
        </p:txBody>
      </p:sp>
      <p:sp>
        <p:nvSpPr>
          <p:cNvPr id="37" name="Text 7">
            <a:extLst>
              <a:ext uri="{FF2B5EF4-FFF2-40B4-BE49-F238E27FC236}">
                <a16:creationId xmlns:a16="http://schemas.microsoft.com/office/drawing/2014/main" id="{3DA19964-4DAA-5DEA-C9E3-D242D1520B82}"/>
              </a:ext>
            </a:extLst>
          </p:cNvPr>
          <p:cNvSpPr/>
          <p:nvPr/>
        </p:nvSpPr>
        <p:spPr>
          <a:xfrm>
            <a:off x="9334157" y="2355127"/>
            <a:ext cx="2038961" cy="171267"/>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pl-PL" sz="1800" b="1" dirty="0">
                <a:solidFill>
                  <a:srgbClr val="1F242B"/>
                </a:solidFill>
                <a:latin typeface="Univers Next for HSBC Light" panose="020B0403030202020203" pitchFamily="34" charset="0"/>
              </a:rPr>
              <a:t>Anna Grygierczyk</a:t>
            </a:r>
            <a:endParaRPr lang="en-US" sz="1800" dirty="0">
              <a:latin typeface="Univers Next for HSBC Light" panose="020B0403030202020203" pitchFamily="34" charset="0"/>
            </a:endParaRPr>
          </a:p>
        </p:txBody>
      </p:sp>
      <p:pic>
        <p:nvPicPr>
          <p:cNvPr id="38" name="Picture 37">
            <a:extLst>
              <a:ext uri="{FF2B5EF4-FFF2-40B4-BE49-F238E27FC236}">
                <a16:creationId xmlns:a16="http://schemas.microsoft.com/office/drawing/2014/main" id="{D58FE5C0-5F7A-1C12-654D-1C5365664000}"/>
              </a:ext>
            </a:extLst>
          </p:cNvPr>
          <p:cNvPicPr>
            <a:picLocks noChangeAspect="1"/>
          </p:cNvPicPr>
          <p:nvPr/>
        </p:nvPicPr>
        <p:blipFill>
          <a:blip r:embed="rId8"/>
          <a:stretch>
            <a:fillRect/>
          </a:stretch>
        </p:blipFill>
        <p:spPr>
          <a:xfrm>
            <a:off x="9374291" y="3140999"/>
            <a:ext cx="1147711" cy="1147711"/>
          </a:xfrm>
          <a:prstGeom prst="rect">
            <a:avLst/>
          </a:prstGeom>
        </p:spPr>
      </p:pic>
      <p:sp>
        <p:nvSpPr>
          <p:cNvPr id="40" name="bottom-note">
            <a:extLst>
              <a:ext uri="{FF2B5EF4-FFF2-40B4-BE49-F238E27FC236}">
                <a16:creationId xmlns:a16="http://schemas.microsoft.com/office/drawing/2014/main" id="{18FCB9A3-CA2D-C91D-9292-84882B1D02C5}"/>
              </a:ext>
            </a:extLst>
          </p:cNvPr>
          <p:cNvSpPr>
            <a:spLocks noGrp="1"/>
          </p:cNvSpPr>
          <p:nvPr/>
        </p:nvSpPr>
        <p:spPr>
          <a:xfrm>
            <a:off x="581674" y="5762070"/>
            <a:ext cx="10668000" cy="657225"/>
          </a:xfrm>
          <a:prstGeom prst="rect">
            <a:avLst/>
          </a:prstGeom>
          <a:noFill/>
          <a:ln w="0">
            <a:noFill/>
          </a:ln>
        </p:spPr>
        <p:txBody>
          <a:bodyPr>
            <a:noAutofit/>
          </a:bodyPr>
          <a:lstStyle/>
          <a:p>
            <a:pPr>
              <a:buNone/>
              <a:defRPr sz="1875" b="0">
                <a:solidFill>
                  <a:srgbClr val="006D77"/>
                </a:solidFill>
                <a:latin typeface="Arial"/>
                <a:ea typeface="Arial"/>
                <a:cs typeface="Arial"/>
              </a:defRPr>
            </a:pPr>
            <a:r>
              <a:rPr lang="pl-PL" sz="1875" dirty="0">
                <a:solidFill>
                  <a:srgbClr val="006D77"/>
                </a:solidFill>
                <a:latin typeface="Arial"/>
                <a:ea typeface="Arial"/>
                <a:cs typeface="Arial"/>
              </a:rPr>
              <a:t>Feel free to contact us</a:t>
            </a:r>
            <a:r>
              <a:rPr sz="1875" b="0" dirty="0">
                <a:solidFill>
                  <a:srgbClr val="006D77"/>
                </a:solidFill>
                <a:latin typeface="Arial"/>
                <a:ea typeface="Arial"/>
                <a:cs typeface="Arial"/>
              </a:rPr>
              <a:t>.</a:t>
            </a:r>
          </a:p>
        </p:txBody>
      </p:sp>
    </p:spTree>
    <p:extLst>
      <p:ext uri="{BB962C8B-B14F-4D97-AF65-F5344CB8AC3E}">
        <p14:creationId xmlns:p14="http://schemas.microsoft.com/office/powerpoint/2010/main" val="125470056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315</TotalTime>
  <Words>8604</Words>
  <Application>Microsoft Office PowerPoint</Application>
  <DocSecurity>0</DocSecurity>
  <PresentationFormat>Widescreen</PresentationFormat>
  <Paragraphs>1014</Paragraphs>
  <Slides>32</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Aptos</vt:lpstr>
      <vt:lpstr>Arial</vt:lpstr>
      <vt:lpstr>Calibri</vt:lpstr>
      <vt:lpstr>Consolas</vt:lpstr>
      <vt:lpstr>Univers Next for HSBC Light</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Paulina GAJDA</cp:lastModifiedBy>
  <cp:revision>5</cp:revision>
  <dcterms:created xsi:type="dcterms:W3CDTF">2026-09-17T16:17:10Z</dcterms:created>
  <dcterms:modified xsi:type="dcterms:W3CDTF">2026-09-24T19:46:47Z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486a02c-2dfb-4efe-823f-aa2d1f0e6ab7_Enabled">
    <vt:lpwstr>true</vt:lpwstr>
  </property>
  <property fmtid="{D5CDD505-2E9C-101B-9397-08002B2CF9AE}" pid="3" name="MSIP_Label_3486a02c-2dfb-4efe-823f-aa2d1f0e6ab7_SetDate">
    <vt:lpwstr>2026-09-24T19:46:39Z</vt:lpwstr>
  </property>
  <property fmtid="{D5CDD505-2E9C-101B-9397-08002B2CF9AE}" pid="4" name="MSIP_Label_3486a02c-2dfb-4efe-823f-aa2d1f0e6ab7_Method">
    <vt:lpwstr>Privileged</vt:lpwstr>
  </property>
  <property fmtid="{D5CDD505-2E9C-101B-9397-08002B2CF9AE}" pid="5" name="MSIP_Label_3486a02c-2dfb-4efe-823f-aa2d1f0e6ab7_Name">
    <vt:lpwstr>CLAPUBLIC</vt:lpwstr>
  </property>
  <property fmtid="{D5CDD505-2E9C-101B-9397-08002B2CF9AE}" pid="6" name="MSIP_Label_3486a02c-2dfb-4efe-823f-aa2d1f0e6ab7_SiteId">
    <vt:lpwstr>e0fd434d-ba64-497b-90d2-859c472e1a92</vt:lpwstr>
  </property>
  <property fmtid="{D5CDD505-2E9C-101B-9397-08002B2CF9AE}" pid="7" name="MSIP_Label_3486a02c-2dfb-4efe-823f-aa2d1f0e6ab7_ActionId">
    <vt:lpwstr>64c84357-440a-4a80-a663-7033938cca9b</vt:lpwstr>
  </property>
  <property fmtid="{D5CDD505-2E9C-101B-9397-08002B2CF9AE}" pid="8" name="MSIP_Label_3486a02c-2dfb-4efe-823f-aa2d1f0e6ab7_ContentBits">
    <vt:lpwstr>2</vt:lpwstr>
  </property>
  <property fmtid="{D5CDD505-2E9C-101B-9397-08002B2CF9AE}" pid="9" name="MSIP_Label_3486a02c-2dfb-4efe-823f-aa2d1f0e6ab7_Tag">
    <vt:lpwstr>10, 0, 1, 1</vt:lpwstr>
  </property>
  <property fmtid="{D5CDD505-2E9C-101B-9397-08002B2CF9AE}" pid="10" name="ClassificationContentMarkingFooterLocations">
    <vt:lpwstr>ChatGPT:3</vt:lpwstr>
  </property>
  <property fmtid="{D5CDD505-2E9C-101B-9397-08002B2CF9AE}" pid="11" name="ClassificationContentMarkingFooterText">
    <vt:lpwstr>PUBLIC</vt:lpwstr>
  </property>
</Properties>
</file>